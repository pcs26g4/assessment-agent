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anva Sans" panose="020B0604020202020204" charset="0"/>
      <p:regular r:id="rId19"/>
    </p:embeddedFont>
    <p:embeddedFont>
      <p:font typeface="Canva Sans Bold" panose="020B0604020202020204" charset="0"/>
      <p:regular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Poppins Bold" panose="00000800000000000000" pitchFamily="2" charset="0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CD4418-6513-0706-ACFF-672F78416EFF}" v="1" dt="2025-12-27T11:44:01.810"/>
    <p1510:client id="{B6989FD7-ECBB-FE0F-F632-2F6F1AFD68DD}" v="3" dt="2025-12-27T11:02:55.8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ath Veggalam" userId="S::bharathcs38-g4@coastalseven.com::fc5a4eed-5906-48e6-8a33-d66764a563a7" providerId="AD" clId="Web-{67E52294-0F89-0D12-E0B8-037EBD4DAE13}"/>
    <pc:docChg chg="modSld">
      <pc:chgData name="Bharath Veggalam" userId="S::bharathcs38-g4@coastalseven.com::fc5a4eed-5906-48e6-8a33-d66764a563a7" providerId="AD" clId="Web-{67E52294-0F89-0D12-E0B8-037EBD4DAE13}" dt="2025-12-23T16:21:50.915" v="0" actId="1076"/>
      <pc:docMkLst>
        <pc:docMk/>
      </pc:docMkLst>
      <pc:sldChg chg="modSp">
        <pc:chgData name="Bharath Veggalam" userId="S::bharathcs38-g4@coastalseven.com::fc5a4eed-5906-48e6-8a33-d66764a563a7" providerId="AD" clId="Web-{67E52294-0F89-0D12-E0B8-037EBD4DAE13}" dt="2025-12-23T16:21:50.915" v="0" actId="1076"/>
        <pc:sldMkLst>
          <pc:docMk/>
          <pc:sldMk cId="0" sldId="265"/>
        </pc:sldMkLst>
        <pc:spChg chg="mod">
          <ac:chgData name="Bharath Veggalam" userId="S::bharathcs38-g4@coastalseven.com::fc5a4eed-5906-48e6-8a33-d66764a563a7" providerId="AD" clId="Web-{67E52294-0F89-0D12-E0B8-037EBD4DAE13}" dt="2025-12-23T16:21:50.915" v="0" actId="1076"/>
          <ac:spMkLst>
            <pc:docMk/>
            <pc:sldMk cId="0" sldId="265"/>
            <ac:spMk id="3" creationId="{00000000-0000-0000-0000-000000000000}"/>
          </ac:spMkLst>
        </pc:spChg>
      </pc:sldChg>
    </pc:docChg>
  </pc:docChgLst>
  <pc:docChgLst>
    <pc:chgData name="Guest User" userId="S::urn:spo:tenantanon#63d9f253-125e-41bd-b481-8be69061e846::" providerId="AD" clId="Web-{B6989FD7-ECBB-FE0F-F632-2F6F1AFD68DD}"/>
    <pc:docChg chg="modSld">
      <pc:chgData name="Guest User" userId="S::urn:spo:tenantanon#63d9f253-125e-41bd-b481-8be69061e846::" providerId="AD" clId="Web-{B6989FD7-ECBB-FE0F-F632-2F6F1AFD68DD}" dt="2025-12-27T11:02:55.894" v="2" actId="1076"/>
      <pc:docMkLst>
        <pc:docMk/>
      </pc:docMkLst>
      <pc:sldChg chg="modSp">
        <pc:chgData name="Guest User" userId="S::urn:spo:tenantanon#63d9f253-125e-41bd-b481-8be69061e846::" providerId="AD" clId="Web-{B6989FD7-ECBB-FE0F-F632-2F6F1AFD68DD}" dt="2025-12-27T11:02:55.894" v="2" actId="1076"/>
        <pc:sldMkLst>
          <pc:docMk/>
          <pc:sldMk cId="0" sldId="265"/>
        </pc:sldMkLst>
        <pc:spChg chg="mod">
          <ac:chgData name="Guest User" userId="S::urn:spo:tenantanon#63d9f253-125e-41bd-b481-8be69061e846::" providerId="AD" clId="Web-{B6989FD7-ECBB-FE0F-F632-2F6F1AFD68DD}" dt="2025-12-27T11:02:55.894" v="2" actId="1076"/>
          <ac:spMkLst>
            <pc:docMk/>
            <pc:sldMk cId="0" sldId="265"/>
            <ac:spMk id="6" creationId="{00000000-0000-0000-0000-000000000000}"/>
          </ac:spMkLst>
        </pc:spChg>
      </pc:sldChg>
    </pc:docChg>
  </pc:docChgLst>
  <pc:docChgLst>
    <pc:chgData name="Guest User" userId="S::urn:spo:tenantanon#63d9f253-125e-41bd-b481-8be69061e846::" providerId="AD" clId="Web-{DF2E456F-88A8-DEB7-3307-48063A3859D9}"/>
    <pc:docChg chg="sldOrd">
      <pc:chgData name="Guest User" userId="S::urn:spo:tenantanon#63d9f253-125e-41bd-b481-8be69061e846::" providerId="AD" clId="Web-{DF2E456F-88A8-DEB7-3307-48063A3859D9}" dt="2025-12-22T09:44:39.493" v="0"/>
      <pc:docMkLst>
        <pc:docMk/>
      </pc:docMkLst>
      <pc:sldChg chg="ord">
        <pc:chgData name="Guest User" userId="S::urn:spo:tenantanon#63d9f253-125e-41bd-b481-8be69061e846::" providerId="AD" clId="Web-{DF2E456F-88A8-DEB7-3307-48063A3859D9}" dt="2025-12-22T09:44:39.493" v="0"/>
        <pc:sldMkLst>
          <pc:docMk/>
          <pc:sldMk cId="0" sldId="257"/>
        </pc:sldMkLst>
      </pc:sldChg>
    </pc:docChg>
  </pc:docChgLst>
  <pc:docChgLst>
    <pc:chgData name="Guest User" userId="S::urn:spo:tenantanon#63d9f253-125e-41bd-b481-8be69061e846::" providerId="AD" clId="Web-{BD1D3E1B-7AAD-F985-24EB-1E4216A44691}"/>
    <pc:docChg chg="modSld">
      <pc:chgData name="Guest User" userId="S::urn:spo:tenantanon#63d9f253-125e-41bd-b481-8be69061e846::" providerId="AD" clId="Web-{BD1D3E1B-7AAD-F985-24EB-1E4216A44691}" dt="2025-12-22T08:41:47.188" v="6" actId="1076"/>
      <pc:docMkLst>
        <pc:docMk/>
      </pc:docMkLst>
      <pc:sldChg chg="modSp">
        <pc:chgData name="Guest User" userId="S::urn:spo:tenantanon#63d9f253-125e-41bd-b481-8be69061e846::" providerId="AD" clId="Web-{BD1D3E1B-7AAD-F985-24EB-1E4216A44691}" dt="2025-12-22T08:41:47.188" v="6" actId="1076"/>
        <pc:sldMkLst>
          <pc:docMk/>
          <pc:sldMk cId="0" sldId="267"/>
        </pc:sldMkLst>
        <pc:spChg chg="mod">
          <ac:chgData name="Guest User" userId="S::urn:spo:tenantanon#63d9f253-125e-41bd-b481-8be69061e846::" providerId="AD" clId="Web-{BD1D3E1B-7AAD-F985-24EB-1E4216A44691}" dt="2025-12-22T08:41:47.188" v="6" actId="1076"/>
          <ac:spMkLst>
            <pc:docMk/>
            <pc:sldMk cId="0" sldId="267"/>
            <ac:spMk id="5" creationId="{00000000-0000-0000-0000-000000000000}"/>
          </ac:spMkLst>
        </pc:spChg>
      </pc:sldChg>
    </pc:docChg>
  </pc:docChgLst>
  <pc:docChgLst>
    <pc:chgData name="Manoj E" userId="S::manojcs35-g4@coastalseven.com::6a6e651c-d455-4ff6-b623-8896a5b4ad7a" providerId="AD" clId="Web-{9DCD4418-6513-0706-ACFF-672F78416EFF}"/>
    <pc:docChg chg="sldOrd">
      <pc:chgData name="Manoj E" userId="S::manojcs35-g4@coastalseven.com::6a6e651c-d455-4ff6-b623-8896a5b4ad7a" providerId="AD" clId="Web-{9DCD4418-6513-0706-ACFF-672F78416EFF}" dt="2025-12-27T11:44:01.810" v="0"/>
      <pc:docMkLst>
        <pc:docMk/>
      </pc:docMkLst>
      <pc:sldChg chg="ord">
        <pc:chgData name="Manoj E" userId="S::manojcs35-g4@coastalseven.com::6a6e651c-d455-4ff6-b623-8896a5b4ad7a" providerId="AD" clId="Web-{9DCD4418-6513-0706-ACFF-672F78416EFF}" dt="2025-12-27T11:44:01.810" v="0"/>
        <pc:sldMkLst>
          <pc:docMk/>
          <pc:sldMk cId="0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3.svg"/><Relationship Id="rId4" Type="http://schemas.openxmlformats.org/officeDocument/2006/relationships/image" Target="../media/image15.sv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emplatelab.com/status-report/" TargetMode="Externa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youtu.be/7vYQNK7_RZA?si=Y11RxRKFncMvam3c" TargetMode="External"/><Relationship Id="rId4" Type="http://schemas.openxmlformats.org/officeDocument/2006/relationships/image" Target="../media/image2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youtu.be/370auNqefhY?si=6HNKSqJd6OzcQXfz" TargetMode="External"/><Relationship Id="rId4" Type="http://schemas.openxmlformats.org/officeDocument/2006/relationships/hyperlink" Target="https://youtube.com/shorts/VqpjeAXPayM?si=PdMING-Ct9MdA4Nf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08763" y="1666891"/>
            <a:ext cx="11870475" cy="3476609"/>
          </a:xfrm>
          <a:custGeom>
            <a:avLst/>
            <a:gdLst/>
            <a:ahLst/>
            <a:cxnLst/>
            <a:rect l="l" t="t" r="r" b="b"/>
            <a:pathLst>
              <a:path w="11870475" h="3476609">
                <a:moveTo>
                  <a:pt x="0" y="0"/>
                </a:moveTo>
                <a:lnTo>
                  <a:pt x="11870474" y="0"/>
                </a:lnTo>
                <a:lnTo>
                  <a:pt x="11870474" y="3476609"/>
                </a:lnTo>
                <a:lnTo>
                  <a:pt x="0" y="3476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756464" y="6047437"/>
            <a:ext cx="8775072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Day 8 - Daily Status Updates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509533" y="3554856"/>
            <a:ext cx="3734677" cy="3551338"/>
          </a:xfrm>
          <a:custGeom>
            <a:avLst/>
            <a:gdLst/>
            <a:ahLst/>
            <a:cxnLst/>
            <a:rect l="l" t="t" r="r" b="b"/>
            <a:pathLst>
              <a:path w="3734677" h="3551338">
                <a:moveTo>
                  <a:pt x="0" y="0"/>
                </a:moveTo>
                <a:lnTo>
                  <a:pt x="3734677" y="0"/>
                </a:lnTo>
                <a:lnTo>
                  <a:pt x="3734677" y="3551339"/>
                </a:lnTo>
                <a:lnTo>
                  <a:pt x="0" y="35513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16842" y="2879993"/>
            <a:ext cx="8083892" cy="405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1"/>
              </a:lnSpc>
            </a:pPr>
            <a:r>
              <a:rPr lang="en-US" sz="35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Let’s try to practice the following:</a:t>
            </a:r>
          </a:p>
          <a:p>
            <a:pPr marL="767948" lvl="1" indent="-383974" algn="l">
              <a:lnSpc>
                <a:spcPts val="5371"/>
              </a:lnSpc>
              <a:buFont typeface="Arial"/>
              <a:buChar char="•"/>
            </a:pPr>
            <a:r>
              <a:rPr lang="en-US" sz="35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Yesterday's accomplishments</a:t>
            </a:r>
          </a:p>
          <a:p>
            <a:pPr marL="767948" lvl="1" indent="-383974" algn="l">
              <a:lnSpc>
                <a:spcPts val="5371"/>
              </a:lnSpc>
              <a:buFont typeface="Arial"/>
              <a:buChar char="•"/>
            </a:pPr>
            <a:r>
              <a:rPr lang="en-US" sz="35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Today's priorities</a:t>
            </a:r>
          </a:p>
          <a:p>
            <a:pPr marL="767948" lvl="1" indent="-383974" algn="l">
              <a:lnSpc>
                <a:spcPts val="5371"/>
              </a:lnSpc>
              <a:buFont typeface="Arial"/>
              <a:buChar char="•"/>
            </a:pPr>
            <a:r>
              <a:rPr lang="en-US" sz="35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Current blockers</a:t>
            </a:r>
          </a:p>
          <a:p>
            <a:pPr marL="767948" lvl="1" indent="-383974" algn="l">
              <a:lnSpc>
                <a:spcPts val="5371"/>
              </a:lnSpc>
              <a:buFont typeface="Arial"/>
              <a:buChar char="•"/>
            </a:pPr>
            <a:r>
              <a:rPr lang="en-US" sz="35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Risk mitigation</a:t>
            </a:r>
          </a:p>
          <a:p>
            <a:pPr marL="767948" lvl="1" indent="-383974" algn="l">
              <a:lnSpc>
                <a:spcPts val="5371"/>
              </a:lnSpc>
              <a:buFont typeface="Arial"/>
              <a:buChar char="•"/>
            </a:pPr>
            <a:r>
              <a:rPr lang="en-US" sz="35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Progress tracking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16842" y="1575848"/>
            <a:ext cx="7713790" cy="72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377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Status Vocabulary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876661" y="2669876"/>
            <a:ext cx="7253971" cy="342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7" lvl="1" indent="-388618" algn="l">
              <a:lnSpc>
                <a:spcPts val="5435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 many status updates do you give daily?</a:t>
            </a:r>
          </a:p>
          <a:p>
            <a:pPr marL="777237" lvl="1" indent="-388618" algn="l">
              <a:lnSpc>
                <a:spcPts val="5435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Rate your update clarity?</a:t>
            </a:r>
          </a:p>
          <a:p>
            <a:pPr marL="777237" lvl="1" indent="-388618" algn="l">
              <a:lnSpc>
                <a:spcPts val="5435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frustrates you about status updates?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45482" y="6795179"/>
            <a:ext cx="15170298" cy="1251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2"/>
              </a:lnSpc>
            </a:pPr>
            <a:r>
              <a:rPr lang="en-US" sz="3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Think of the clearest status update you've received. What made it effective?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16842" y="1575848"/>
            <a:ext cx="7713790" cy="72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377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Quick Self-Reflection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11377559" y="4262003"/>
            <a:ext cx="3223951" cy="564191"/>
          </a:xfrm>
          <a:custGeom>
            <a:avLst/>
            <a:gdLst/>
            <a:ahLst/>
            <a:cxnLst/>
            <a:rect l="l" t="t" r="r" b="b"/>
            <a:pathLst>
              <a:path w="3223951" h="564191">
                <a:moveTo>
                  <a:pt x="0" y="0"/>
                </a:moveTo>
                <a:lnTo>
                  <a:pt x="3223951" y="0"/>
                </a:lnTo>
                <a:lnTo>
                  <a:pt x="3223951" y="564191"/>
                </a:lnTo>
                <a:lnTo>
                  <a:pt x="0" y="5641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579145" y="2940717"/>
            <a:ext cx="4820779" cy="686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sz="35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__________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79145" y="5000625"/>
            <a:ext cx="4820779" cy="686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sz="35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Object 3"/>
          <p:cNvGraphicFramePr/>
          <p:nvPr>
            <p:extLst>
              <p:ext uri="{D42A27DB-BD31-4B8C-83A1-F6EECF244321}">
                <p14:modId xmlns:p14="http://schemas.microsoft.com/office/powerpoint/2010/main" val="905723769"/>
              </p:ext>
            </p:extLst>
          </p:nvPr>
        </p:nvGraphicFramePr>
        <p:xfrm>
          <a:off x="457200" y="1816410"/>
          <a:ext cx="18123158" cy="7121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9469100" imgH="9118600" progId="Excel.Sheet.12">
                  <p:embed/>
                </p:oleObj>
              </mc:Choice>
              <mc:Fallback>
                <p:oleObj name="Worksheet" r:id="rId3" imgW="19469100" imgH="9118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1816410"/>
                        <a:ext cx="18123158" cy="7121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435358" y="1444963"/>
            <a:ext cx="10006688" cy="67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32"/>
              </a:lnSpc>
              <a:spcBef>
                <a:spcPct val="0"/>
              </a:spcBef>
            </a:pPr>
            <a:r>
              <a:rPr lang="en-US" sz="3951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 Elements of Effective Status Updates: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Object 3"/>
          <p:cNvGraphicFramePr/>
          <p:nvPr>
            <p:extLst>
              <p:ext uri="{D42A27DB-BD31-4B8C-83A1-F6EECF244321}">
                <p14:modId xmlns:p14="http://schemas.microsoft.com/office/powerpoint/2010/main" val="802014640"/>
              </p:ext>
            </p:extLst>
          </p:nvPr>
        </p:nvGraphicFramePr>
        <p:xfrm>
          <a:off x="304800" y="1943100"/>
          <a:ext cx="18451882" cy="7173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9469100" imgH="9118600" progId="Excel.Sheet.12">
                  <p:embed/>
                </p:oleObj>
              </mc:Choice>
              <mc:Fallback>
                <p:oleObj name="Worksheet" r:id="rId3" imgW="19469100" imgH="9118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800" y="1943100"/>
                        <a:ext cx="18451882" cy="7173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459282" y="1444963"/>
            <a:ext cx="9193298" cy="67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32"/>
              </a:lnSpc>
              <a:spcBef>
                <a:spcPct val="0"/>
              </a:spcBef>
            </a:pPr>
            <a:r>
              <a:rPr lang="en-US" sz="3951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Advanced English for Status Updates: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Object 3"/>
          <p:cNvGraphicFramePr/>
          <p:nvPr>
            <p:extLst>
              <p:ext uri="{D42A27DB-BD31-4B8C-83A1-F6EECF244321}">
                <p14:modId xmlns:p14="http://schemas.microsoft.com/office/powerpoint/2010/main" val="1714445684"/>
              </p:ext>
            </p:extLst>
          </p:nvPr>
        </p:nvGraphicFramePr>
        <p:xfrm>
          <a:off x="527659" y="2212680"/>
          <a:ext cx="17232682" cy="6792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9469100" imgH="9118600" progId="Excel.Sheet.12">
                  <p:embed/>
                </p:oleObj>
              </mc:Choice>
              <mc:Fallback>
                <p:oleObj name="Worksheet" r:id="rId3" imgW="19469100" imgH="9118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7659" y="2212680"/>
                        <a:ext cx="17232682" cy="6792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reeform 4"/>
          <p:cNvSpPr/>
          <p:nvPr/>
        </p:nvSpPr>
        <p:spPr>
          <a:xfrm>
            <a:off x="5208875" y="1281350"/>
            <a:ext cx="1694111" cy="1446347"/>
          </a:xfrm>
          <a:custGeom>
            <a:avLst/>
            <a:gdLst/>
            <a:ahLst/>
            <a:cxnLst/>
            <a:rect l="l" t="t" r="r" b="b"/>
            <a:pathLst>
              <a:path w="1694111" h="1446347">
                <a:moveTo>
                  <a:pt x="0" y="0"/>
                </a:moveTo>
                <a:lnTo>
                  <a:pt x="1694111" y="0"/>
                </a:lnTo>
                <a:lnTo>
                  <a:pt x="1694111" y="1446347"/>
                </a:lnTo>
                <a:lnTo>
                  <a:pt x="0" y="14463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59282" y="1629359"/>
            <a:ext cx="9193298" cy="67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32"/>
              </a:lnSpc>
              <a:spcBef>
                <a:spcPct val="0"/>
              </a:spcBef>
            </a:pPr>
            <a:r>
              <a:rPr lang="en-US" sz="3951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Here we go...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121602"/>
            <a:ext cx="10309189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Analyze These Status Updates</a:t>
            </a:r>
          </a:p>
        </p:txBody>
      </p:sp>
      <p:sp>
        <p:nvSpPr>
          <p:cNvPr id="4" name="Freeform 4"/>
          <p:cNvSpPr/>
          <p:nvPr/>
        </p:nvSpPr>
        <p:spPr>
          <a:xfrm>
            <a:off x="1724539" y="2470951"/>
            <a:ext cx="984444" cy="902109"/>
          </a:xfrm>
          <a:custGeom>
            <a:avLst/>
            <a:gdLst/>
            <a:ahLst/>
            <a:cxnLst/>
            <a:rect l="l" t="t" r="r" b="b"/>
            <a:pathLst>
              <a:path w="984444" h="902109">
                <a:moveTo>
                  <a:pt x="0" y="0"/>
                </a:moveTo>
                <a:lnTo>
                  <a:pt x="984444" y="0"/>
                </a:lnTo>
                <a:lnTo>
                  <a:pt x="984444" y="902109"/>
                </a:lnTo>
                <a:lnTo>
                  <a:pt x="0" y="90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216761" y="2569969"/>
            <a:ext cx="7608220" cy="63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4"/>
              </a:lnSpc>
            </a:pPr>
            <a:r>
              <a:rPr lang="en-US" sz="3313" b="1">
                <a:solidFill>
                  <a:srgbClr val="2F748E"/>
                </a:solidFill>
                <a:latin typeface="Poppins Bold"/>
                <a:ea typeface="Poppins Bold"/>
                <a:cs typeface="Poppins Bold"/>
                <a:sym typeface="Poppins Bold"/>
              </a:rPr>
              <a:t>Update C - Business Version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57591" y="3677860"/>
            <a:ext cx="13273093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Progress Summary:</a:t>
            </a:r>
          </a:p>
          <a:p>
            <a:pPr marL="539749" lvl="1" indent="-269875" algn="l">
              <a:lnSpc>
                <a:spcPts val="37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Successfully enhanced our platform security and performance yesterday. </a:t>
            </a:r>
          </a:p>
          <a:p>
            <a:pPr marL="539749" lvl="1" indent="-269875" algn="l">
              <a:lnSpc>
                <a:spcPts val="37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Today, we're focusing on real-time capabilities and system optimization.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7591" y="5274885"/>
            <a:ext cx="14445332" cy="190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Achievements:</a:t>
            </a:r>
          </a:p>
          <a:p>
            <a:pPr marL="539749" lvl="1" indent="-269875" algn="l">
              <a:lnSpc>
                <a:spcPts val="37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Implemented secure user login system </a:t>
            </a:r>
          </a:p>
          <a:p>
            <a:pPr marL="539749" lvl="1" indent="-269875" algn="l">
              <a:lnSpc>
                <a:spcPts val="37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Improved system speed by fixing performance bottlenecks </a:t>
            </a:r>
          </a:p>
          <a:p>
            <a:pPr marL="539749" lvl="1" indent="-269875" algn="l">
              <a:lnSpc>
                <a:spcPts val="37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Added automated testing for payment processing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02858" y="7252910"/>
            <a:ext cx="14445332" cy="190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Next Steps:</a:t>
            </a:r>
          </a:p>
          <a:p>
            <a:pPr marL="539749" lvl="1" indent="-269875" algn="l">
              <a:lnSpc>
                <a:spcPts val="37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Continue real-time feature development </a:t>
            </a:r>
          </a:p>
          <a:p>
            <a:pPr marL="539749" lvl="1" indent="-269875" algn="l">
              <a:lnSpc>
                <a:spcPts val="37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Begin performance validation for new security features </a:t>
            </a:r>
          </a:p>
          <a:p>
            <a:pPr marL="539749" lvl="1" indent="-269875" algn="l">
              <a:lnSpc>
                <a:spcPts val="37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Expected completion of current phase by Friday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13547275" y="5370135"/>
            <a:ext cx="3712025" cy="3020661"/>
          </a:xfrm>
          <a:custGeom>
            <a:avLst/>
            <a:gdLst/>
            <a:ahLst/>
            <a:cxnLst/>
            <a:rect l="l" t="t" r="r" b="b"/>
            <a:pathLst>
              <a:path w="3712025" h="3020661">
                <a:moveTo>
                  <a:pt x="0" y="0"/>
                </a:moveTo>
                <a:lnTo>
                  <a:pt x="3712025" y="0"/>
                </a:lnTo>
                <a:lnTo>
                  <a:pt x="3712025" y="3020660"/>
                </a:lnTo>
                <a:lnTo>
                  <a:pt x="0" y="30206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4588141" y="5643802"/>
            <a:ext cx="2131846" cy="237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4"/>
              </a:lnSpc>
            </a:pPr>
            <a:r>
              <a:rPr lang="en-US" sz="2499" b="1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List the differences between Update B and 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04370" y="2762128"/>
            <a:ext cx="32177" cy="6435332"/>
          </a:xfrm>
          <a:custGeom>
            <a:avLst/>
            <a:gdLst/>
            <a:ahLst/>
            <a:cxnLst/>
            <a:rect l="l" t="t" r="r" b="b"/>
            <a:pathLst>
              <a:path w="32177" h="6435332">
                <a:moveTo>
                  <a:pt x="0" y="0"/>
                </a:moveTo>
                <a:lnTo>
                  <a:pt x="32176" y="0"/>
                </a:lnTo>
                <a:lnTo>
                  <a:pt x="32176" y="6435332"/>
                </a:lnTo>
                <a:lnTo>
                  <a:pt x="0" y="6435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121602"/>
            <a:ext cx="10309189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Analyze These Status Updates</a:t>
            </a:r>
          </a:p>
        </p:txBody>
      </p:sp>
      <p:sp>
        <p:nvSpPr>
          <p:cNvPr id="5" name="Freeform 5"/>
          <p:cNvSpPr/>
          <p:nvPr/>
        </p:nvSpPr>
        <p:spPr>
          <a:xfrm>
            <a:off x="8258366" y="2390048"/>
            <a:ext cx="984444" cy="902109"/>
          </a:xfrm>
          <a:custGeom>
            <a:avLst/>
            <a:gdLst/>
            <a:ahLst/>
            <a:cxnLst/>
            <a:rect l="l" t="t" r="r" b="b"/>
            <a:pathLst>
              <a:path w="984444" h="902109">
                <a:moveTo>
                  <a:pt x="0" y="0"/>
                </a:moveTo>
                <a:lnTo>
                  <a:pt x="984444" y="0"/>
                </a:lnTo>
                <a:lnTo>
                  <a:pt x="984444" y="902109"/>
                </a:lnTo>
                <a:lnTo>
                  <a:pt x="0" y="90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890378" y="2598342"/>
            <a:ext cx="7608220" cy="63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4"/>
              </a:lnSpc>
            </a:pPr>
            <a:r>
              <a:rPr lang="en-US" sz="3313" b="1">
                <a:solidFill>
                  <a:srgbClr val="2F748E"/>
                </a:solidFill>
                <a:latin typeface="Poppins Bold"/>
                <a:ea typeface="Poppins Bold"/>
                <a:cs typeface="Poppins Bold"/>
                <a:sym typeface="Poppins Bold"/>
              </a:rPr>
              <a:t>Update B - Technical Version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17260" y="3601719"/>
            <a:ext cx="10354456" cy="190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Yesterday:</a:t>
            </a:r>
          </a:p>
          <a:p>
            <a:pPr marL="539749" lvl="1" indent="-269875" algn="l">
              <a:lnSpc>
                <a:spcPts val="37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Completed JWT implementation for user authentication </a:t>
            </a:r>
          </a:p>
          <a:p>
            <a:pPr marL="539749" lvl="1" indent="-269875" algn="l">
              <a:lnSpc>
                <a:spcPts val="37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Fixed memory leak in the caching layer </a:t>
            </a:r>
          </a:p>
          <a:p>
            <a:pPr marL="539749" lvl="1" indent="-269875" algn="l">
              <a:lnSpc>
                <a:spcPts val="37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Wrote unit tests for payment processing module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2509110"/>
            <a:ext cx="5607846" cy="943409"/>
            <a:chOff x="0" y="0"/>
            <a:chExt cx="7477129" cy="12578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68255" cy="1257878"/>
            </a:xfrm>
            <a:custGeom>
              <a:avLst/>
              <a:gdLst/>
              <a:ahLst/>
              <a:cxnLst/>
              <a:rect l="l" t="t" r="r" b="b"/>
              <a:pathLst>
                <a:path w="1168255" h="1257878">
                  <a:moveTo>
                    <a:pt x="0" y="0"/>
                  </a:moveTo>
                  <a:lnTo>
                    <a:pt x="1168255" y="0"/>
                  </a:lnTo>
                  <a:lnTo>
                    <a:pt x="1168255" y="1257878"/>
                  </a:lnTo>
                  <a:lnTo>
                    <a:pt x="0" y="1257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60968" y="161695"/>
              <a:ext cx="5916161" cy="8011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004"/>
                </a:lnSpc>
              </a:pPr>
              <a:r>
                <a:rPr lang="en-US" sz="3313" b="1">
                  <a:solidFill>
                    <a:srgbClr val="2F748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Update A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37413" y="3881144"/>
            <a:ext cx="5545881" cy="94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"Worked on stuff. Fixed some things. Having problems.”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17260" y="5617844"/>
            <a:ext cx="9995607" cy="237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Today:</a:t>
            </a:r>
          </a:p>
          <a:p>
            <a:pPr marL="539749" lvl="1" indent="-269875" algn="l">
              <a:lnSpc>
                <a:spcPts val="37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Implementing WebSocket connections for real-time updates </a:t>
            </a:r>
          </a:p>
          <a:p>
            <a:pPr marL="539749" lvl="1" indent="-269875" algn="l">
              <a:lnSpc>
                <a:spcPts val="37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Optimizing database queries for the reporting dashboard </a:t>
            </a:r>
          </a:p>
          <a:p>
            <a:pPr marL="539749" lvl="1" indent="-269875" algn="l">
              <a:lnSpc>
                <a:spcPts val="37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Reviewing PR #245 for the notification service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17260" y="8110220"/>
            <a:ext cx="9995607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Blockers:</a:t>
            </a:r>
          </a:p>
          <a:p>
            <a:pPr marL="539749" lvl="1" indent="-269875" algn="l">
              <a:lnSpc>
                <a:spcPts val="37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Waiting on API documentation from third-party vendor</a:t>
            </a:r>
          </a:p>
          <a:p>
            <a:pPr marL="539749" lvl="1" indent="-269875" algn="l">
              <a:lnSpc>
                <a:spcPts val="377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Need clarification on UI design requirements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554340" y="5617844"/>
            <a:ext cx="3712025" cy="3020661"/>
            <a:chOff x="0" y="0"/>
            <a:chExt cx="4949367" cy="402754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949367" cy="4027547"/>
            </a:xfrm>
            <a:custGeom>
              <a:avLst/>
              <a:gdLst/>
              <a:ahLst/>
              <a:cxnLst/>
              <a:rect l="l" t="t" r="r" b="b"/>
              <a:pathLst>
                <a:path w="4949367" h="4027547">
                  <a:moveTo>
                    <a:pt x="0" y="0"/>
                  </a:moveTo>
                  <a:lnTo>
                    <a:pt x="4949367" y="0"/>
                  </a:lnTo>
                  <a:lnTo>
                    <a:pt x="4949367" y="4027547"/>
                  </a:lnTo>
                  <a:lnTo>
                    <a:pt x="0" y="40275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4209" y="396640"/>
              <a:ext cx="2842461" cy="3139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4"/>
                </a:lnSpc>
              </a:pPr>
              <a:r>
                <a:rPr lang="en-US" sz="2499" b="1">
                  <a:solidFill>
                    <a:srgbClr val="02020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List the differences between Update A and B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121602"/>
            <a:ext cx="10309189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Analyze These Status Updates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51796" y="3834001"/>
            <a:ext cx="4923560" cy="4006547"/>
            <a:chOff x="0" y="0"/>
            <a:chExt cx="6564746" cy="53420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564746" cy="5342063"/>
            </a:xfrm>
            <a:custGeom>
              <a:avLst/>
              <a:gdLst/>
              <a:ahLst/>
              <a:cxnLst/>
              <a:rect l="l" t="t" r="r" b="b"/>
              <a:pathLst>
                <a:path w="6564746" h="5342063">
                  <a:moveTo>
                    <a:pt x="0" y="0"/>
                  </a:moveTo>
                  <a:lnTo>
                    <a:pt x="6564746" y="0"/>
                  </a:lnTo>
                  <a:lnTo>
                    <a:pt x="6564746" y="5342063"/>
                  </a:lnTo>
                  <a:lnTo>
                    <a:pt x="0" y="5342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9952" y="519084"/>
              <a:ext cx="3770186" cy="4170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07"/>
                </a:lnSpc>
              </a:pPr>
              <a:r>
                <a:rPr lang="en-US" sz="3315" b="1">
                  <a:solidFill>
                    <a:srgbClr val="02020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List the differences between Update A, B and C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52286" y="2848012"/>
            <a:ext cx="9371206" cy="6185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353" lvl="1" indent="-292176" algn="l">
              <a:lnSpc>
                <a:spcPts val="4086"/>
              </a:lnSpc>
              <a:buAutoNum type="arabicPeriod"/>
            </a:pPr>
            <a:r>
              <a:rPr lang="en-US" sz="270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Structure: </a:t>
            </a:r>
            <a:r>
              <a:rPr lang="en-US" sz="27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= unstructured, B/C = organized sections</a:t>
            </a:r>
            <a:r>
              <a:rPr lang="en-US" sz="270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marL="584353" lvl="1" indent="-292176" algn="l">
              <a:lnSpc>
                <a:spcPts val="4086"/>
              </a:lnSpc>
              <a:buAutoNum type="arabicPeriod"/>
            </a:pPr>
            <a:r>
              <a:rPr lang="en-US" sz="270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Specificity:</a:t>
            </a:r>
            <a:r>
              <a:rPr lang="en-US" sz="27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 = vague, B/C = specific tasks and achievements </a:t>
            </a:r>
          </a:p>
          <a:p>
            <a:pPr marL="584353" lvl="1" indent="-292176" algn="l">
              <a:lnSpc>
                <a:spcPts val="4086"/>
              </a:lnSpc>
              <a:buAutoNum type="arabicPeriod"/>
            </a:pPr>
            <a:r>
              <a:rPr lang="en-US" sz="270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Professionalism: </a:t>
            </a:r>
            <a:r>
              <a:rPr lang="en-US" sz="27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= casual, B/C = professional tone</a:t>
            </a:r>
            <a:r>
              <a:rPr lang="en-US" sz="270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marL="584353" lvl="1" indent="-292176" algn="l">
              <a:lnSpc>
                <a:spcPts val="4086"/>
              </a:lnSpc>
              <a:buAutoNum type="arabicPeriod"/>
            </a:pPr>
            <a:r>
              <a:rPr lang="en-US" sz="270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Actionability: </a:t>
            </a:r>
            <a:r>
              <a:rPr lang="en-US" sz="27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= no clear actions, B/C = clear next steps</a:t>
            </a:r>
            <a:r>
              <a:rPr lang="en-US" sz="270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marL="584353" lvl="1" indent="-292176" algn="l">
              <a:lnSpc>
                <a:spcPts val="4086"/>
              </a:lnSpc>
              <a:buAutoNum type="arabicPeriod"/>
            </a:pPr>
            <a:r>
              <a:rPr lang="en-US" sz="270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Transparency: </a:t>
            </a:r>
            <a:r>
              <a:rPr lang="en-US" sz="27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= hides issues, B/C = openly addresses blockers</a:t>
            </a:r>
            <a:r>
              <a:rPr lang="en-US" sz="270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marL="584353" lvl="1" indent="-292176" algn="l">
              <a:lnSpc>
                <a:spcPts val="4086"/>
              </a:lnSpc>
              <a:buAutoNum type="arabicPeriod"/>
            </a:pPr>
            <a:r>
              <a:rPr lang="en-US" sz="270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Value focus: </a:t>
            </a:r>
            <a:r>
              <a:rPr lang="en-US" sz="27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= task-focused, C = business value focused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531456" y="2772842"/>
            <a:ext cx="11060519" cy="7412012"/>
          </a:xfrm>
          <a:custGeom>
            <a:avLst/>
            <a:gdLst/>
            <a:ahLst/>
            <a:cxnLst/>
            <a:rect l="l" t="t" r="r" b="b"/>
            <a:pathLst>
              <a:path w="11747594" h="8195022">
                <a:moveTo>
                  <a:pt x="0" y="0"/>
                </a:moveTo>
                <a:lnTo>
                  <a:pt x="11747594" y="0"/>
                </a:lnTo>
                <a:lnTo>
                  <a:pt x="11747594" y="8195022"/>
                </a:lnTo>
                <a:lnTo>
                  <a:pt x="0" y="81950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049" b="-36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834763" y="5877587"/>
            <a:ext cx="1216949" cy="1208099"/>
          </a:xfrm>
          <a:custGeom>
            <a:avLst/>
            <a:gdLst/>
            <a:ahLst/>
            <a:cxnLst/>
            <a:rect l="l" t="t" r="r" b="b"/>
            <a:pathLst>
              <a:path w="1216949" h="1208099">
                <a:moveTo>
                  <a:pt x="0" y="0"/>
                </a:moveTo>
                <a:lnTo>
                  <a:pt x="1216949" y="0"/>
                </a:lnTo>
                <a:lnTo>
                  <a:pt x="1216949" y="1208099"/>
                </a:lnTo>
                <a:lnTo>
                  <a:pt x="0" y="12080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372333" y="1036959"/>
            <a:ext cx="9288031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Daily Status Update Template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66091" y="4357392"/>
            <a:ext cx="4501501" cy="1580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77"/>
              </a:lnSpc>
            </a:pPr>
            <a:r>
              <a:rPr lang="en-US" sz="276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Refer the Template:</a:t>
            </a:r>
          </a:p>
          <a:p>
            <a:pPr algn="l">
              <a:lnSpc>
                <a:spcPts val="4177"/>
              </a:lnSpc>
            </a:pPr>
            <a:r>
              <a:rPr lang="en-US" sz="2766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6" tooltip="https://templatelab.com/status-report/"/>
              </a:rPr>
              <a:t>https://templatelab.com/status-report/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76281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06592" y="6203516"/>
            <a:ext cx="1216949" cy="1208099"/>
          </a:xfrm>
          <a:custGeom>
            <a:avLst/>
            <a:gdLst/>
            <a:ahLst/>
            <a:cxnLst/>
            <a:rect l="l" t="t" r="r" b="b"/>
            <a:pathLst>
              <a:path w="1216949" h="1208099">
                <a:moveTo>
                  <a:pt x="0" y="0"/>
                </a:moveTo>
                <a:lnTo>
                  <a:pt x="1216949" y="0"/>
                </a:lnTo>
                <a:lnTo>
                  <a:pt x="1216949" y="1208099"/>
                </a:lnTo>
                <a:lnTo>
                  <a:pt x="0" y="12080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93708" y="1092571"/>
            <a:ext cx="10046033" cy="77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Let’s create our own Template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588141" y="4120247"/>
            <a:ext cx="3236901" cy="2386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4"/>
              </a:lnSpc>
            </a:pPr>
            <a:r>
              <a:rPr lang="en-US" sz="252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Template Making - </a:t>
            </a:r>
          </a:p>
          <a:p>
            <a:pPr algn="l">
              <a:lnSpc>
                <a:spcPts val="3814"/>
              </a:lnSpc>
            </a:pPr>
            <a:r>
              <a:rPr lang="en-US" sz="2526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5" tooltip="https://youtu.be/7vYQNK7_RZA?si=Y11RxRKFncMvam3c"/>
              </a:rPr>
              <a:t>https://youtu.be/7vYQNK7_RZA?si=Y11RxRKFncMvam3</a:t>
            </a:r>
            <a:r>
              <a:rPr lang="en-US" sz="2526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F0BEEB-4825-0A6B-8216-B02C7FE13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987058"/>
              </p:ext>
            </p:extLst>
          </p:nvPr>
        </p:nvGraphicFramePr>
        <p:xfrm>
          <a:off x="1231808" y="2524870"/>
          <a:ext cx="12636592" cy="7134436"/>
        </p:xfrm>
        <a:graphic>
          <a:graphicData uri="http://schemas.openxmlformats.org/drawingml/2006/table">
            <a:tbl>
              <a:tblPr/>
              <a:tblGrid>
                <a:gridCol w="4377786">
                  <a:extLst>
                    <a:ext uri="{9D8B030D-6E8A-4147-A177-3AD203B41FA5}">
                      <a16:colId xmlns:a16="http://schemas.microsoft.com/office/drawing/2014/main" val="385340656"/>
                    </a:ext>
                  </a:extLst>
                </a:gridCol>
                <a:gridCol w="8258806">
                  <a:extLst>
                    <a:ext uri="{9D8B030D-6E8A-4147-A177-3AD203B41FA5}">
                      <a16:colId xmlns:a16="http://schemas.microsoft.com/office/drawing/2014/main" val="1635285275"/>
                    </a:ext>
                  </a:extLst>
                </a:gridCol>
              </a:tblGrid>
              <a:tr h="375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Category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Details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72065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Date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[MM/DD/YYYY]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906209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Team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[Team Name]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267817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Sprint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[Sprint #]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47793"/>
                  </a:ext>
                </a:extLst>
              </a:tr>
              <a:tr h="702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Yesterday’s Accomplishments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✅ Task 1 – Brief outcome/result ✅ Task 2 – Brief outcome/result 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170956"/>
                  </a:ext>
                </a:extLst>
              </a:tr>
              <a:tr h="3800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Metrics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Commits: XPRs: </a:t>
                      </a:r>
                      <a:r>
                        <a:rPr lang="en-US" sz="2400" b="1" err="1">
                          <a:effectLst/>
                        </a:rPr>
                        <a:t>YTests</a:t>
                      </a:r>
                      <a:r>
                        <a:rPr lang="en-US" sz="2400" b="1">
                          <a:effectLst/>
                        </a:rPr>
                        <a:t>: Z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939512"/>
                  </a:ext>
                </a:extLst>
              </a:tr>
              <a:tr h="9190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Today’s Focus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• Primary Task – Expected outcome • Secondary Task – Expected outcome • Code Review – PR #s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675581"/>
                  </a:ext>
                </a:extLst>
              </a:tr>
              <a:tr h="9190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Blockers &amp; Challenges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• Blocker 1 – Action needed from whom • Dependency – Waiting on team/person • Technical Issue – Brief description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562295"/>
                  </a:ext>
                </a:extLst>
              </a:tr>
              <a:tr h="702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Next Actions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• Immediate next task• Follow-up required• Collaboration needed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188338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Time Allocation – Development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[X] hours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796452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Time Allocation – Testing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[Y] hours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55008"/>
                  </a:ext>
                </a:extLst>
              </a:tr>
              <a:tr h="702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Time Allocation – Meetings/Admin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[Z] hours</a:t>
                      </a:r>
                    </a:p>
                  </a:txBody>
                  <a:tcPr marL="54144" marR="54144" marT="27072" marB="27072" anchor="ctr">
                    <a:lnL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814214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1C171C04-9C4F-960D-A839-9935F36FC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085" y="3009250"/>
            <a:ext cx="3303079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91104">
            <a:off x="14560984" y="7533182"/>
            <a:ext cx="1925503" cy="2021525"/>
          </a:xfrm>
          <a:custGeom>
            <a:avLst/>
            <a:gdLst/>
            <a:ahLst/>
            <a:cxnLst/>
            <a:rect l="l" t="t" r="r" b="b"/>
            <a:pathLst>
              <a:path w="1925503" h="2021525">
                <a:moveTo>
                  <a:pt x="0" y="0"/>
                </a:moveTo>
                <a:lnTo>
                  <a:pt x="1925503" y="0"/>
                </a:lnTo>
                <a:lnTo>
                  <a:pt x="1925503" y="2021526"/>
                </a:lnTo>
                <a:lnTo>
                  <a:pt x="0" y="20215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213777"/>
            <a:ext cx="10046033" cy="77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to give a Work Status Update?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3757" y="3388588"/>
            <a:ext cx="7771520" cy="1188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3150" u="sng">
                <a:solidFill>
                  <a:srgbClr val="020202"/>
                </a:solidFill>
                <a:latin typeface="Poppins"/>
                <a:cs typeface="Poppins"/>
                <a:hlinkClick r:id="rId4"/>
              </a:rPr>
              <a:t>https://youtube.com/shorts/VqpjeAXPayM?si=PdMING-Ct9MdA4Nf</a:t>
            </a:r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5831698"/>
            <a:ext cx="7771520" cy="121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3185" u="sng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  <a:hlinkClick r:id="rId5" tooltip="https://youtu.be/370auNqefhY?si=6HNKSqJd6OzcQXfz"/>
              </a:rPr>
              <a:t>https://youtu.be/370auNqefhY?si=6HNKSqJd6OzcQXfz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16480" y="6135140"/>
            <a:ext cx="7771520" cy="605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3185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10 Minutes Video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6480" y="3972389"/>
            <a:ext cx="7771520" cy="605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3185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1 Minute Video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071170" y="3334532"/>
            <a:ext cx="4193427" cy="4114800"/>
          </a:xfrm>
          <a:custGeom>
            <a:avLst/>
            <a:gdLst/>
            <a:ahLst/>
            <a:cxnLst/>
            <a:rect l="l" t="t" r="r" b="b"/>
            <a:pathLst>
              <a:path w="4193427" h="4114800">
                <a:moveTo>
                  <a:pt x="0" y="0"/>
                </a:moveTo>
                <a:lnTo>
                  <a:pt x="4193427" y="0"/>
                </a:lnTo>
                <a:lnTo>
                  <a:pt x="41934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952194" y="2536736"/>
            <a:ext cx="8709832" cy="598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Milestone: 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MILE-stone </a:t>
            </a:r>
          </a:p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Blocker: 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BLOK-er </a:t>
            </a:r>
          </a:p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Dependency: 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de-PEN-den-see</a:t>
            </a:r>
          </a:p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Accomplishment: 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a-KOM-plish-ment </a:t>
            </a:r>
          </a:p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Priority: 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pry-OR-i-tee </a:t>
            </a:r>
          </a:p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Timeline: 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TIME-line </a:t>
            </a:r>
          </a:p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Metric: 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MET-rik </a:t>
            </a:r>
          </a:p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Validation: 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val-i-DAY-shun</a:t>
            </a:r>
          </a:p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Transparency: 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trans-PAR-en-see</a:t>
            </a:r>
          </a:p>
          <a:p>
            <a:pPr marL="730664" lvl="1" indent="-365332" algn="l">
              <a:lnSpc>
                <a:spcPts val="4737"/>
              </a:lnSpc>
              <a:buFont typeface="Arial"/>
              <a:buChar char="•"/>
            </a:pPr>
            <a:r>
              <a:rPr lang="en-US" sz="338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Accountability: </a:t>
            </a:r>
            <a:r>
              <a:rPr lang="en-US" sz="3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a-kount-a-BIL-i-tee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105656"/>
            <a:ext cx="6833171" cy="74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4"/>
              </a:lnSpc>
              <a:spcBef>
                <a:spcPct val="0"/>
              </a:spcBef>
            </a:pPr>
            <a:r>
              <a:rPr lang="en-US" sz="4345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Pronunciation Tip: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34022" y="837014"/>
            <a:ext cx="2995998" cy="1730189"/>
          </a:xfrm>
          <a:custGeom>
            <a:avLst/>
            <a:gdLst/>
            <a:ahLst/>
            <a:cxnLst/>
            <a:rect l="l" t="t" r="r" b="b"/>
            <a:pathLst>
              <a:path w="2995998" h="1730189">
                <a:moveTo>
                  <a:pt x="0" y="0"/>
                </a:moveTo>
                <a:lnTo>
                  <a:pt x="2995999" y="0"/>
                </a:lnTo>
                <a:lnTo>
                  <a:pt x="2995999" y="1730189"/>
                </a:lnTo>
                <a:lnTo>
                  <a:pt x="0" y="17301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34022" y="2651009"/>
            <a:ext cx="13949226" cy="7068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265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📌 Task: </a:t>
            </a:r>
            <a:r>
              <a:rPr lang="en-US" sz="2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Create Your Own Status Update Templates</a:t>
            </a:r>
          </a:p>
          <a:p>
            <a:pPr algn="l">
              <a:lnSpc>
                <a:spcPts val="4011"/>
              </a:lnSpc>
            </a:pPr>
            <a:r>
              <a:rPr lang="en-US" sz="265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Customize your templates based on:</a:t>
            </a:r>
          </a:p>
          <a:p>
            <a:pPr marL="573517" lvl="1" indent="-286759" algn="l">
              <a:lnSpc>
                <a:spcPts val="4011"/>
              </a:lnSpc>
              <a:buAutoNum type="arabicPeriod"/>
            </a:pPr>
            <a:r>
              <a:rPr lang="en-US" sz="2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Your current project</a:t>
            </a:r>
          </a:p>
          <a:p>
            <a:pPr marL="573517" lvl="1" indent="-286759" algn="l">
              <a:lnSpc>
                <a:spcPts val="4011"/>
              </a:lnSpc>
              <a:buAutoNum type="arabicPeriod"/>
            </a:pPr>
            <a:r>
              <a:rPr lang="en-US" sz="2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Your specific role</a:t>
            </a:r>
          </a:p>
          <a:p>
            <a:pPr marL="573517" lvl="1" indent="-286759" algn="l">
              <a:lnSpc>
                <a:spcPts val="4011"/>
              </a:lnSpc>
              <a:buAutoNum type="arabicPeriod"/>
            </a:pPr>
            <a:r>
              <a:rPr lang="en-US" sz="2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Different communication channels - (Email, Chat, Meeting, Stand-up, Client Update, etc.)</a:t>
            </a:r>
          </a:p>
          <a:p>
            <a:pPr algn="l">
              <a:lnSpc>
                <a:spcPts val="4011"/>
              </a:lnSpc>
            </a:pPr>
            <a:r>
              <a:rPr lang="en-US" sz="265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📝 Requirements</a:t>
            </a:r>
          </a:p>
          <a:p>
            <a:pPr marL="573517" lvl="1" indent="-286759" algn="l">
              <a:lnSpc>
                <a:spcPts val="4011"/>
              </a:lnSpc>
              <a:buFont typeface="Arial"/>
              <a:buChar char="•"/>
            </a:pPr>
            <a:r>
              <a:rPr lang="en-US" sz="2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Create 1 templates, Use real content (not sample or placeholder text) and Choose any format you are comfortable with - Excel, Word or PPT</a:t>
            </a:r>
          </a:p>
          <a:p>
            <a:pPr algn="l">
              <a:lnSpc>
                <a:spcPts val="4011"/>
              </a:lnSpc>
            </a:pPr>
            <a:r>
              <a:rPr lang="en-US" sz="265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🧠 Reflection (Mandatory) - </a:t>
            </a:r>
            <a:r>
              <a:rPr lang="en-US" sz="2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the template, add a brief description (3–4 lines) explaining:</a:t>
            </a:r>
          </a:p>
          <a:p>
            <a:pPr marL="573517" lvl="1" indent="-286759" algn="l">
              <a:lnSpc>
                <a:spcPts val="4011"/>
              </a:lnSpc>
              <a:buFont typeface="Arial"/>
              <a:buChar char="•"/>
            </a:pPr>
            <a:r>
              <a:rPr lang="en-US" sz="2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Why this template is effective</a:t>
            </a:r>
          </a:p>
          <a:p>
            <a:pPr marL="573517" lvl="1" indent="-286759" algn="l">
              <a:lnSpc>
                <a:spcPts val="4011"/>
              </a:lnSpc>
              <a:buFont typeface="Arial"/>
              <a:buChar char="•"/>
            </a:pPr>
            <a:r>
              <a:rPr lang="en-US" sz="2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 it helps in daily communication</a:t>
            </a:r>
          </a:p>
          <a:p>
            <a:pPr marL="573517" lvl="1" indent="-286759" algn="l">
              <a:lnSpc>
                <a:spcPts val="4011"/>
              </a:lnSpc>
              <a:buFont typeface="Arial"/>
              <a:buChar char="•"/>
            </a:pPr>
            <a:r>
              <a:rPr lang="en-US" sz="2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problem it solves compared to informal updates</a:t>
            </a:r>
          </a:p>
        </p:txBody>
      </p:sp>
      <p:sp>
        <p:nvSpPr>
          <p:cNvPr id="5" name="Freeform 5"/>
          <p:cNvSpPr/>
          <p:nvPr/>
        </p:nvSpPr>
        <p:spPr>
          <a:xfrm>
            <a:off x="14264199" y="3952601"/>
            <a:ext cx="2995101" cy="2995101"/>
          </a:xfrm>
          <a:custGeom>
            <a:avLst/>
            <a:gdLst/>
            <a:ahLst/>
            <a:cxnLst/>
            <a:rect l="l" t="t" r="r" b="b"/>
            <a:pathLst>
              <a:path w="2995101" h="2995101">
                <a:moveTo>
                  <a:pt x="0" y="0"/>
                </a:moveTo>
                <a:lnTo>
                  <a:pt x="2995101" y="0"/>
                </a:lnTo>
                <a:lnTo>
                  <a:pt x="2995101" y="2995102"/>
                </a:lnTo>
                <a:lnTo>
                  <a:pt x="0" y="29951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331690" y="876300"/>
            <a:ext cx="8585293" cy="1499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3"/>
              </a:lnSpc>
            </a:pPr>
            <a:r>
              <a:rPr lang="en-US" sz="3916" b="1">
                <a:solidFill>
                  <a:srgbClr val="0C3645"/>
                </a:solidFill>
                <a:latin typeface="Poppins Bold"/>
                <a:ea typeface="Poppins Bold"/>
                <a:cs typeface="Poppins Bold"/>
                <a:sym typeface="Poppins Bold"/>
              </a:rPr>
              <a:t>Assessment 1: Template Customization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34022" y="837014"/>
            <a:ext cx="2995998" cy="1730189"/>
          </a:xfrm>
          <a:custGeom>
            <a:avLst/>
            <a:gdLst/>
            <a:ahLst/>
            <a:cxnLst/>
            <a:rect l="l" t="t" r="r" b="b"/>
            <a:pathLst>
              <a:path w="2995998" h="1730189">
                <a:moveTo>
                  <a:pt x="0" y="0"/>
                </a:moveTo>
                <a:lnTo>
                  <a:pt x="2995999" y="0"/>
                </a:lnTo>
                <a:lnTo>
                  <a:pt x="2995999" y="1730189"/>
                </a:lnTo>
                <a:lnTo>
                  <a:pt x="0" y="17301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34022" y="3199810"/>
            <a:ext cx="13949226" cy="605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2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today, you are required to prepare status updates for </a:t>
            </a:r>
            <a:r>
              <a:rPr lang="en-US" sz="265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 different audiences:</a:t>
            </a:r>
          </a:p>
          <a:p>
            <a:pPr marL="573517" lvl="1" indent="-286759" algn="l">
              <a:lnSpc>
                <a:spcPts val="4011"/>
              </a:lnSpc>
              <a:buAutoNum type="arabicPeriod"/>
            </a:pPr>
            <a:r>
              <a:rPr lang="en-US" sz="2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Technical / Team</a:t>
            </a:r>
          </a:p>
          <a:p>
            <a:pPr marL="573517" lvl="1" indent="-286759" algn="l">
              <a:lnSpc>
                <a:spcPts val="4011"/>
              </a:lnSpc>
              <a:buAutoNum type="arabicPeriod"/>
            </a:pPr>
            <a:r>
              <a:rPr lang="en-US" sz="2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Manager / Business</a:t>
            </a:r>
          </a:p>
          <a:p>
            <a:pPr marL="573517" lvl="1" indent="-286759" algn="l">
              <a:lnSpc>
                <a:spcPts val="4011"/>
              </a:lnSpc>
              <a:buAutoNum type="arabicPeriod"/>
            </a:pPr>
            <a:r>
              <a:rPr lang="en-US" sz="2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 / Non-technical</a:t>
            </a:r>
          </a:p>
          <a:p>
            <a:pPr algn="l">
              <a:lnSpc>
                <a:spcPts val="4011"/>
              </a:lnSpc>
            </a:pPr>
            <a:r>
              <a:rPr lang="en-US" sz="265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📝 Written Updates -</a:t>
            </a:r>
            <a:r>
              <a:rPr lang="en-US" sz="2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Prepare one status update per audience and Ensure clarity, structure, and appropriate tone. </a:t>
            </a:r>
          </a:p>
          <a:p>
            <a:pPr algn="l">
              <a:lnSpc>
                <a:spcPts val="4011"/>
              </a:lnSpc>
            </a:pPr>
            <a:r>
              <a:rPr lang="en-US" sz="265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🎙 Voice Recording (Mandatory)</a:t>
            </a:r>
          </a:p>
          <a:p>
            <a:pPr algn="l">
              <a:lnSpc>
                <a:spcPts val="4011"/>
              </a:lnSpc>
            </a:pPr>
            <a:r>
              <a:rPr lang="en-US" sz="2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Please record voice updates covering:</a:t>
            </a:r>
          </a:p>
          <a:p>
            <a:pPr marL="573517" lvl="1" indent="-286759" algn="l">
              <a:lnSpc>
                <a:spcPts val="4011"/>
              </a:lnSpc>
              <a:buFont typeface="Arial"/>
              <a:buChar char="•"/>
            </a:pPr>
            <a:r>
              <a:rPr lang="en-US" sz="2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Yesterday’s, Today’s status update and Tomorrow’s planned update</a:t>
            </a:r>
          </a:p>
          <a:p>
            <a:pPr marL="573517" lvl="1" indent="-286759" algn="l">
              <a:lnSpc>
                <a:spcPts val="4011"/>
              </a:lnSpc>
              <a:buFont typeface="Arial"/>
              <a:buChar char="•"/>
            </a:pPr>
            <a:r>
              <a:rPr lang="en-US" sz="26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voice update should be clear, detailed, and professional (around 1 minute each), focusing on: What was done, What is being worked on, Blockers or risks and the Next steps</a:t>
            </a:r>
          </a:p>
        </p:txBody>
      </p:sp>
      <p:sp>
        <p:nvSpPr>
          <p:cNvPr id="5" name="Freeform 5"/>
          <p:cNvSpPr/>
          <p:nvPr/>
        </p:nvSpPr>
        <p:spPr>
          <a:xfrm>
            <a:off x="14683249" y="4232392"/>
            <a:ext cx="2593126" cy="2379193"/>
          </a:xfrm>
          <a:custGeom>
            <a:avLst/>
            <a:gdLst/>
            <a:ahLst/>
            <a:cxnLst/>
            <a:rect l="l" t="t" r="r" b="b"/>
            <a:pathLst>
              <a:path w="2593126" h="2379193">
                <a:moveTo>
                  <a:pt x="0" y="0"/>
                </a:moveTo>
                <a:lnTo>
                  <a:pt x="2593125" y="0"/>
                </a:lnTo>
                <a:lnTo>
                  <a:pt x="2593125" y="2379193"/>
                </a:lnTo>
                <a:lnTo>
                  <a:pt x="0" y="2379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990306" y="1180831"/>
            <a:ext cx="7926677" cy="1386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615" b="1">
                <a:solidFill>
                  <a:srgbClr val="0C3645"/>
                </a:solidFill>
                <a:latin typeface="Poppins Bold"/>
                <a:ea typeface="Poppins Bold"/>
                <a:cs typeface="Poppins Bold"/>
                <a:sym typeface="Poppins Bold"/>
              </a:rPr>
              <a:t>Assessment 2: Status Updates - Voice Practice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432631" y="3481982"/>
            <a:ext cx="4311021" cy="3788309"/>
          </a:xfrm>
          <a:custGeom>
            <a:avLst/>
            <a:gdLst/>
            <a:ahLst/>
            <a:cxnLst/>
            <a:rect l="l" t="t" r="r" b="b"/>
            <a:pathLst>
              <a:path w="4311021" h="3788309">
                <a:moveTo>
                  <a:pt x="0" y="0"/>
                </a:moveTo>
                <a:lnTo>
                  <a:pt x="4311020" y="0"/>
                </a:lnTo>
                <a:lnTo>
                  <a:pt x="4311020" y="3788310"/>
                </a:lnTo>
                <a:lnTo>
                  <a:pt x="0" y="3788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63789" y="2554503"/>
            <a:ext cx="10242191" cy="5509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72"/>
              </a:lnSpc>
            </a:pPr>
            <a:r>
              <a:rPr lang="en-US" sz="362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Let’s Hear from Everyone - 1 min (per head)</a:t>
            </a:r>
          </a:p>
          <a:p>
            <a:pPr algn="l">
              <a:lnSpc>
                <a:spcPts val="5472"/>
              </a:lnSpc>
            </a:pPr>
            <a:r>
              <a:rPr lang="en-US" sz="36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participant will briefly share:</a:t>
            </a:r>
          </a:p>
          <a:p>
            <a:pPr marL="782391" lvl="1" indent="-391196" algn="l">
              <a:lnSpc>
                <a:spcPts val="5472"/>
              </a:lnSpc>
              <a:buFont typeface="Arial"/>
              <a:buChar char="•"/>
            </a:pPr>
            <a:r>
              <a:rPr lang="en-US" sz="362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 key learning</a:t>
            </a:r>
            <a:r>
              <a:rPr lang="en-US" sz="36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from today’s session</a:t>
            </a:r>
          </a:p>
          <a:p>
            <a:pPr marL="782391" lvl="1" indent="-391196" algn="l">
              <a:lnSpc>
                <a:spcPts val="5472"/>
              </a:lnSpc>
              <a:buFont typeface="Arial"/>
              <a:buChar char="•"/>
            </a:pPr>
            <a:r>
              <a:rPr lang="en-US" sz="362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 key learning</a:t>
            </a:r>
            <a:r>
              <a:rPr lang="en-US" sz="36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from yesterday’s assignment</a:t>
            </a:r>
          </a:p>
          <a:p>
            <a:pPr marL="782391" lvl="1" indent="-391196" algn="l">
              <a:lnSpc>
                <a:spcPts val="5472"/>
              </a:lnSpc>
              <a:buFont typeface="Arial"/>
              <a:buChar char="•"/>
            </a:pPr>
            <a:r>
              <a:rPr lang="en-US" sz="362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 challenge </a:t>
            </a:r>
            <a:r>
              <a:rPr lang="en-US" sz="36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faced</a:t>
            </a:r>
          </a:p>
          <a:p>
            <a:pPr marL="782391" lvl="1" indent="-391196" algn="l">
              <a:lnSpc>
                <a:spcPts val="5472"/>
              </a:lnSpc>
              <a:buFont typeface="Arial"/>
              <a:buChar char="•"/>
            </a:pPr>
            <a:r>
              <a:rPr lang="en-US" sz="362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 improvement </a:t>
            </a:r>
            <a:r>
              <a:rPr lang="en-US" sz="36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 action you will apply next time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535613" y="1155897"/>
            <a:ext cx="9014040" cy="7851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5"/>
              </a:lnSpc>
            </a:pPr>
            <a:r>
              <a:rPr lang="en-US" sz="318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🙏 Thank You</a:t>
            </a:r>
          </a:p>
          <a:p>
            <a:pPr algn="l">
              <a:lnSpc>
                <a:spcPts val="4815"/>
              </a:lnSpc>
            </a:pPr>
            <a:r>
              <a:rPr lang="en-US" sz="31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Great discussion today!</a:t>
            </a:r>
          </a:p>
          <a:p>
            <a:pPr algn="l">
              <a:lnSpc>
                <a:spcPts val="4815"/>
              </a:lnSpc>
            </a:pPr>
            <a:endParaRPr lang="en-US" sz="318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815"/>
              </a:lnSpc>
            </a:pPr>
            <a:r>
              <a:rPr lang="en-US" sz="31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Your participation and reflections added real value to the session.</a:t>
            </a:r>
          </a:p>
          <a:p>
            <a:pPr algn="l">
              <a:lnSpc>
                <a:spcPts val="4815"/>
              </a:lnSpc>
            </a:pPr>
            <a:endParaRPr lang="en-US" sz="318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815"/>
              </a:lnSpc>
            </a:pPr>
            <a:r>
              <a:rPr lang="en-US" sz="31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🔁 Keep applying today’s learnings in your daily communication and documentation.</a:t>
            </a:r>
          </a:p>
          <a:p>
            <a:pPr algn="l">
              <a:lnSpc>
                <a:spcPts val="4815"/>
              </a:lnSpc>
            </a:pPr>
            <a:endParaRPr lang="en-US" sz="318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815"/>
              </a:lnSpc>
            </a:pPr>
            <a:r>
              <a:rPr lang="en-US" sz="318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📅 Tomorrow’s Focus:</a:t>
            </a:r>
          </a:p>
          <a:p>
            <a:pPr algn="l">
              <a:lnSpc>
                <a:spcPts val="4815"/>
              </a:lnSpc>
            </a:pPr>
            <a:r>
              <a:rPr lang="en-US" sz="31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Weekly Status Reports</a:t>
            </a:r>
          </a:p>
          <a:p>
            <a:pPr algn="l">
              <a:lnSpc>
                <a:spcPts val="4815"/>
              </a:lnSpc>
            </a:pPr>
            <a:endParaRPr lang="en-US" sz="318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815"/>
              </a:lnSpc>
            </a:pPr>
            <a:r>
              <a:rPr lang="en-US" sz="31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See you tomorrow. Keep growing! 🚀</a:t>
            </a:r>
          </a:p>
        </p:txBody>
      </p:sp>
      <p:sp>
        <p:nvSpPr>
          <p:cNvPr id="4" name="Freeform 4"/>
          <p:cNvSpPr/>
          <p:nvPr/>
        </p:nvSpPr>
        <p:spPr>
          <a:xfrm>
            <a:off x="13273977" y="3241827"/>
            <a:ext cx="2628328" cy="4114800"/>
          </a:xfrm>
          <a:custGeom>
            <a:avLst/>
            <a:gdLst/>
            <a:ahLst/>
            <a:cxnLst/>
            <a:rect l="l" t="t" r="r" b="b"/>
            <a:pathLst>
              <a:path w="2628328" h="4114800">
                <a:moveTo>
                  <a:pt x="0" y="0"/>
                </a:moveTo>
                <a:lnTo>
                  <a:pt x="2628328" y="0"/>
                </a:lnTo>
                <a:lnTo>
                  <a:pt x="26283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8 - Daily Status Updates</dc:title>
  <cp:revision>6</cp:revision>
  <dcterms:created xsi:type="dcterms:W3CDTF">2006-08-16T00:00:00Z</dcterms:created>
  <dcterms:modified xsi:type="dcterms:W3CDTF">2025-12-27T11:44:03Z</dcterms:modified>
  <dc:identifier>DAG8NRss7gk</dc:identifier>
</cp:coreProperties>
</file>