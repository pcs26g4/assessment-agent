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1345948" y="1516459"/>
            <a:ext cx="6452104" cy="548580"/>
          </a:xfrm>
          <a:prstGeom prst="rect">
            <a:avLst/>
          </a:prstGeom>
          <a:noFill/>
          <a:ln/>
        </p:spPr>
        <p:txBody>
          <a:bodyPr wrap="square" lIns="0" tIns="0" rIns="0" bIns="0" rtlCol="0" anchor="t"/>
          <a:lstStyle/>
          <a:p>
            <a:pPr algn="ctr" indent="0" marL="0">
              <a:lnSpc>
                <a:spcPts val="4320"/>
              </a:lnSpc>
              <a:buNone/>
            </a:pPr>
            <a:r>
              <a:rPr lang="en-US" sz="3600" b="1" dirty="0">
                <a:solidFill>
                  <a:srgbClr val="38BDF8"/>
                </a:solidFill>
                <a:latin typeface="Arial" pitchFamily="34" charset="0"/>
                <a:ea typeface="Arial" pitchFamily="34" charset="-122"/>
                <a:cs typeface="Arial" pitchFamily="34" charset="-120"/>
              </a:rPr>
              <a:t>Professional Communication</a:t>
            </a:r>
            <a:endParaRPr lang="en-US" sz="3600" dirty="0"/>
          </a:p>
        </p:txBody>
      </p:sp>
      <p:sp>
        <p:nvSpPr>
          <p:cNvPr id="4" name="Text 1"/>
          <p:cNvSpPr/>
          <p:nvPr/>
        </p:nvSpPr>
        <p:spPr>
          <a:xfrm>
            <a:off x="3241483" y="2217440"/>
            <a:ext cx="2661035" cy="319980"/>
          </a:xfrm>
          <a:prstGeom prst="rect">
            <a:avLst/>
          </a:prstGeom>
          <a:noFill/>
          <a:ln/>
        </p:spPr>
        <p:txBody>
          <a:bodyPr wrap="square" lIns="0" tIns="0" rIns="0" bIns="0" rtlCol="0" anchor="t"/>
          <a:lstStyle/>
          <a:p>
            <a:pPr algn="ctr" indent="0" marL="0">
              <a:lnSpc>
                <a:spcPts val="2520"/>
              </a:lnSpc>
              <a:buNone/>
            </a:pPr>
            <a:r>
              <a:rPr lang="en-US" sz="1800" dirty="0">
                <a:solidFill>
                  <a:srgbClr val="CBD5E1"/>
                </a:solidFill>
                <a:latin typeface="Arial" pitchFamily="34" charset="0"/>
                <a:ea typeface="Arial" pitchFamily="34" charset="-122"/>
                <a:cs typeface="Arial" pitchFamily="34" charset="-120"/>
              </a:rPr>
              <a:t>IT &amp; Non-IT Professionals</a:t>
            </a:r>
            <a:endParaRPr lang="en-US" sz="1800" dirty="0"/>
          </a:p>
        </p:txBody>
      </p:sp>
      <p:sp>
        <p:nvSpPr>
          <p:cNvPr id="5" name="Text 2"/>
          <p:cNvSpPr/>
          <p:nvPr/>
        </p:nvSpPr>
        <p:spPr>
          <a:xfrm>
            <a:off x="2504927" y="2842220"/>
            <a:ext cx="4134148" cy="240010"/>
          </a:xfrm>
          <a:prstGeom prst="rect">
            <a:avLst/>
          </a:prstGeom>
          <a:noFill/>
          <a:ln/>
        </p:spPr>
        <p:txBody>
          <a:bodyPr wrap="square" lIns="0" tIns="0" rIns="0" bIns="0" rtlCol="0" anchor="t"/>
          <a:lstStyle/>
          <a:p>
            <a:pPr algn="ctr" indent="0" marL="0">
              <a:lnSpc>
                <a:spcPts val="1890"/>
              </a:lnSpc>
              <a:buNone/>
            </a:pPr>
            <a:r>
              <a:rPr lang="en-US" sz="1350" dirty="0">
                <a:solidFill>
                  <a:srgbClr val="94A3B8"/>
                </a:solidFill>
                <a:latin typeface="Arial" pitchFamily="34" charset="0"/>
                <a:ea typeface="Arial" pitchFamily="34" charset="-122"/>
                <a:cs typeface="Arial" pitchFamily="34" charset="-120"/>
              </a:rPr>
              <a:t>Master the Art of Effective Workplace Communication</a:t>
            </a:r>
            <a:endParaRPr lang="en-US" sz="1350" dirty="0"/>
          </a:p>
        </p:txBody>
      </p:sp>
      <p:sp>
        <p:nvSpPr>
          <p:cNvPr id="6" name="Text 3"/>
          <p:cNvSpPr/>
          <p:nvPr/>
        </p:nvSpPr>
        <p:spPr>
          <a:xfrm>
            <a:off x="2279952" y="3387030"/>
            <a:ext cx="4584097" cy="240010"/>
          </a:xfrm>
          <a:prstGeom prst="rect">
            <a:avLst/>
          </a:prstGeom>
          <a:noFill/>
          <a:ln/>
        </p:spPr>
        <p:txBody>
          <a:bodyPr wrap="square" lIns="0" tIns="0" rIns="0" bIns="0" rtlCol="0" anchor="t"/>
          <a:lstStyle/>
          <a:p>
            <a:pPr algn="ctr" indent="0" marL="0">
              <a:lnSpc>
                <a:spcPts val="1890"/>
              </a:lnSpc>
              <a:buNone/>
            </a:pPr>
            <a:r>
              <a:rPr lang="en-US" sz="1350" dirty="0">
                <a:solidFill>
                  <a:srgbClr val="94A3B8"/>
                </a:solidFill>
                <a:latin typeface="Arial" pitchFamily="34" charset="0"/>
                <a:ea typeface="Arial" pitchFamily="34" charset="-122"/>
                <a:cs typeface="Arial" pitchFamily="34" charset="-120"/>
              </a:rPr>
              <a:t>Building Presence • Email Etiquette • Clear Communication</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609600" y="609600"/>
            <a:ext cx="8083296" cy="411460"/>
          </a:xfrm>
          <a:prstGeom prst="rect">
            <a:avLst/>
          </a:prstGeom>
          <a:noFill/>
          <a:ln/>
        </p:spPr>
        <p:txBody>
          <a:bodyPr wrap="square" lIns="0" tIns="0" rIns="0" bIns="0" rtlCol="0" anchor="t"/>
          <a:lstStyle/>
          <a:p>
            <a:pPr indent="0" marL="0">
              <a:lnSpc>
                <a:spcPts val="3240"/>
              </a:lnSpc>
              <a:buNone/>
            </a:pPr>
            <a:r>
              <a:rPr lang="en-US" sz="2700" b="1" dirty="0">
                <a:solidFill>
                  <a:srgbClr val="38BDF8"/>
                </a:solidFill>
                <a:latin typeface="Arial" pitchFamily="34" charset="0"/>
                <a:ea typeface="Arial" pitchFamily="34" charset="-122"/>
                <a:cs typeface="Arial" pitchFamily="34" charset="-120"/>
              </a:rPr>
              <a:t>Professional Presence in Meetings &amp; Office</a:t>
            </a:r>
            <a:endParaRPr lang="en-US" sz="2700" dirty="0"/>
          </a:p>
        </p:txBody>
      </p:sp>
      <p:sp>
        <p:nvSpPr>
          <p:cNvPr id="4" name="Text 1"/>
          <p:cNvSpPr/>
          <p:nvPr/>
        </p:nvSpPr>
        <p:spPr>
          <a:xfrm>
            <a:off x="914400" y="1249660"/>
            <a:ext cx="7620000" cy="4045744"/>
          </a:xfrm>
          <a:prstGeom prst="rect">
            <a:avLst/>
          </a:prstGeom>
          <a:noFill/>
          <a:ln/>
        </p:spPr>
        <p:txBody>
          <a:bodyPr wrap="square" lIns="0" tIns="0" rIns="0" bIns="0" rtlCol="0" anchor="t"/>
          <a:lstStyle/>
          <a:p>
            <a:pPr marL="342900" indent="-342900">
              <a:lnSpc>
                <a:spcPts val="2430"/>
              </a:lnSpc>
              <a:buSzPct val="100000"/>
              <a:buChar char="•"/>
            </a:pPr>
            <a:r>
              <a:rPr lang="en-US" sz="1350" b="1" dirty="0">
                <a:solidFill>
                  <a:srgbClr val="38BDF8"/>
                </a:solidFill>
                <a:latin typeface="Arial" pitchFamily="34" charset="0"/>
                <a:ea typeface="Arial" pitchFamily="34" charset="-122"/>
                <a:cs typeface="Arial" pitchFamily="34" charset="-120"/>
              </a:rPr>
              <a:t>Punctuality &amp; Preparedness:</a:t>
            </a:r>
            <a:pPr indent="0" marL="0">
              <a:lnSpc>
                <a:spcPts val="2430"/>
              </a:lnSpc>
              <a:buNone/>
            </a:pPr>
            <a:r>
              <a:rPr lang="en-US" sz="1350" dirty="0">
                <a:solidFill>
                  <a:srgbClr val="CBD5E1"/>
                </a:solidFill>
                <a:latin typeface="Arial" pitchFamily="34" charset="0"/>
                <a:ea typeface="Arial" pitchFamily="34" charset="-122"/>
                <a:cs typeface="Arial" pitchFamily="34" charset="-120"/>
              </a:rPr>
              <a:t> Arrive 5 minutes early to meetings, have all necessary materials ready, and review agendas beforehand to demonstrate respect for others' time and show that you take your role seriously in the organization</a:t>
            </a:r>
            <a:endParaRPr lang="en-US" sz="1350" dirty="0"/>
          </a:p>
          <a:p>
            <a:pPr marL="342900" indent="-342900">
              <a:lnSpc>
                <a:spcPts val="2430"/>
              </a:lnSpc>
              <a:buSzPct val="100000"/>
              <a:buChar char="•"/>
            </a:pPr>
            <a:r>
              <a:rPr lang="en-US" sz="1350" b="1" dirty="0">
                <a:solidFill>
                  <a:srgbClr val="38BDF8"/>
                </a:solidFill>
                <a:latin typeface="Arial" pitchFamily="34" charset="0"/>
                <a:ea typeface="Arial" pitchFamily="34" charset="-122"/>
                <a:cs typeface="Arial" pitchFamily="34" charset="-120"/>
              </a:rPr>
              <a:t>Body Language &amp; Engagement:</a:t>
            </a:r>
            <a:pPr indent="0" marL="0">
              <a:lnSpc>
                <a:spcPts val="2430"/>
              </a:lnSpc>
              <a:buNone/>
            </a:pPr>
            <a:r>
              <a:rPr lang="en-US" sz="1350" dirty="0">
                <a:solidFill>
                  <a:srgbClr val="CBD5E1"/>
                </a:solidFill>
                <a:latin typeface="Arial" pitchFamily="34" charset="0"/>
                <a:ea typeface="Arial" pitchFamily="34" charset="-122"/>
                <a:cs typeface="Arial" pitchFamily="34" charset="-120"/>
              </a:rPr>
              <a:t> Maintain steady eye contact, sit upright with open body language, avoid fidgeting or multitasking, and actively participate in discussions to convey confidence and genuine interest in team outcomes</a:t>
            </a:r>
            <a:endParaRPr lang="en-US" sz="1350" dirty="0"/>
          </a:p>
          <a:p>
            <a:pPr marL="342900" indent="-342900">
              <a:lnSpc>
                <a:spcPts val="2430"/>
              </a:lnSpc>
              <a:buSzPct val="100000"/>
              <a:buChar char="•"/>
            </a:pPr>
            <a:r>
              <a:rPr lang="en-US" sz="1350" b="1" dirty="0">
                <a:solidFill>
                  <a:srgbClr val="38BDF8"/>
                </a:solidFill>
                <a:latin typeface="Arial" pitchFamily="34" charset="0"/>
                <a:ea typeface="Arial" pitchFamily="34" charset="-122"/>
                <a:cs typeface="Arial" pitchFamily="34" charset="-120"/>
              </a:rPr>
              <a:t>Virtual Meeting Etiquette:</a:t>
            </a:r>
            <a:pPr indent="0" marL="0">
              <a:lnSpc>
                <a:spcPts val="2430"/>
              </a:lnSpc>
              <a:buNone/>
            </a:pPr>
            <a:r>
              <a:rPr lang="en-US" sz="1350" dirty="0">
                <a:solidFill>
                  <a:srgbClr val="CBD5E1"/>
                </a:solidFill>
                <a:latin typeface="Arial" pitchFamily="34" charset="0"/>
                <a:ea typeface="Arial" pitchFamily="34" charset="-122"/>
                <a:cs typeface="Arial" pitchFamily="34" charset="-120"/>
              </a:rPr>
              <a:t> Keep camera on and background professional, mute microphone when not speaking, avoid eating during calls, and ensure good lighting and minimal distractions to maintain professionalism in hybrid work environments</a:t>
            </a:r>
            <a:endParaRPr lang="en-US" sz="1350" dirty="0"/>
          </a:p>
          <a:p>
            <a:pPr marL="342900" indent="-342900">
              <a:lnSpc>
                <a:spcPts val="2430"/>
              </a:lnSpc>
              <a:buSzPct val="100000"/>
              <a:buChar char="•"/>
            </a:pPr>
            <a:r>
              <a:rPr lang="en-US" sz="1350" b="1" dirty="0">
                <a:solidFill>
                  <a:srgbClr val="38BDF8"/>
                </a:solidFill>
                <a:latin typeface="Arial" pitchFamily="34" charset="0"/>
                <a:ea typeface="Arial" pitchFamily="34" charset="-122"/>
                <a:cs typeface="Arial" pitchFamily="34" charset="-120"/>
              </a:rPr>
              <a:t>Respectful Communication:</a:t>
            </a:r>
            <a:pPr indent="0" marL="0">
              <a:lnSpc>
                <a:spcPts val="2430"/>
              </a:lnSpc>
              <a:buNone/>
            </a:pPr>
            <a:r>
              <a:rPr lang="en-US" sz="1350" dirty="0">
                <a:solidFill>
                  <a:srgbClr val="CBD5E1"/>
                </a:solidFill>
                <a:latin typeface="Arial" pitchFamily="34" charset="0"/>
                <a:ea typeface="Arial" pitchFamily="34" charset="-122"/>
                <a:cs typeface="Arial" pitchFamily="34" charset="-120"/>
              </a:rPr>
              <a:t> Listen attentively without interrupting, acknowledge others' points, ask clarifying questions, and follow up on action items promptly to demonstrate accountability and build trust within your team</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609600" y="1249661"/>
            <a:ext cx="7924800" cy="2369641"/>
          </a:xfrm>
          <a:prstGeom prst="rect">
            <a:avLst/>
          </a:prstGeom>
          <a:solidFill>
            <a:srgbClr val="1E293B"/>
          </a:solidFill>
          <a:ln/>
          <a:effectLst>
            <a:outerShdw sx="100000" sy="100000" kx="0" ky="0" algn="bl" rotWithShape="0" blurRad="152400" dist="76200" dir="5400000">
              <a:srgbClr val="000000">
                <a:alpha val="20000"/>
              </a:srgbClr>
            </a:outerShdw>
          </a:effectLst>
        </p:spPr>
        <p:txBody>
          <a:bodyPr wrap="none" lIns="0" tIns="0" rIns="0" bIns="0" rtlCol="0" anchor="ctr">
            <a:normAutofit/>
          </a:bodyPr>
          <a:lstStyle/>
          <a:p>
            <a:pPr indent="0" marL="0">
              <a:buNone/>
            </a:pPr>
            <a:endParaRPr lang="en-US" dirty="0"/>
          </a:p>
        </p:txBody>
      </p:sp>
      <p:sp>
        <p:nvSpPr>
          <p:cNvPr id="4" name="Text 1"/>
          <p:cNvSpPr/>
          <p:nvPr/>
        </p:nvSpPr>
        <p:spPr>
          <a:xfrm>
            <a:off x="609600" y="3619302"/>
            <a:ext cx="7924800" cy="2369641"/>
          </a:xfrm>
          <a:prstGeom prst="rect">
            <a:avLst/>
          </a:prstGeom>
          <a:solidFill>
            <a:srgbClr val="1E293B"/>
          </a:solidFill>
          <a:ln/>
          <a:effectLst>
            <a:outerShdw sx="100000" sy="100000" kx="0" ky="0" algn="bl" rotWithShape="0" blurRad="152400" dist="76200" dir="5400000">
              <a:srgbClr val="000000">
                <a:alpha val="20000"/>
              </a:srgbClr>
            </a:outerShdw>
          </a:effectLst>
        </p:spPr>
        <p:txBody>
          <a:bodyPr wrap="none" lIns="0" tIns="0" rIns="0" bIns="0" rtlCol="0" anchor="ctr">
            <a:normAutofit/>
          </a:bodyPr>
          <a:lstStyle/>
          <a:p>
            <a:pPr indent="0" marL="0">
              <a:buNone/>
            </a:pPr>
            <a:endParaRPr lang="en-US" dirty="0"/>
          </a:p>
        </p:txBody>
      </p:sp>
      <p:sp>
        <p:nvSpPr>
          <p:cNvPr id="5" name="Text 2"/>
          <p:cNvSpPr/>
          <p:nvPr/>
        </p:nvSpPr>
        <p:spPr>
          <a:xfrm>
            <a:off x="609600" y="6217544"/>
            <a:ext cx="7924800" cy="2369641"/>
          </a:xfrm>
          <a:prstGeom prst="rect">
            <a:avLst/>
          </a:prstGeom>
          <a:solidFill>
            <a:srgbClr val="1E293B"/>
          </a:solidFill>
          <a:ln/>
          <a:effectLst>
            <a:outerShdw sx="100000" sy="100000" kx="0" ky="0" algn="bl" rotWithShape="0" blurRad="152400" dist="76200" dir="5400000">
              <a:srgbClr val="000000">
                <a:alpha val="20000"/>
              </a:srgbClr>
            </a:outerShdw>
          </a:effectLst>
        </p:spPr>
        <p:txBody>
          <a:bodyPr wrap="none" lIns="0" tIns="0" rIns="0" bIns="0" rtlCol="0" anchor="ctr">
            <a:normAutofit/>
          </a:bodyPr>
          <a:lstStyle/>
          <a:p>
            <a:pPr indent="0" marL="0">
              <a:buNone/>
            </a:pPr>
            <a:endParaRPr lang="en-US" dirty="0"/>
          </a:p>
        </p:txBody>
      </p:sp>
      <p:sp>
        <p:nvSpPr>
          <p:cNvPr id="6" name="Text 3"/>
          <p:cNvSpPr/>
          <p:nvPr/>
        </p:nvSpPr>
        <p:spPr>
          <a:xfrm>
            <a:off x="609600" y="609600"/>
            <a:ext cx="8083296" cy="411460"/>
          </a:xfrm>
          <a:prstGeom prst="rect">
            <a:avLst/>
          </a:prstGeom>
          <a:noFill/>
          <a:ln/>
        </p:spPr>
        <p:txBody>
          <a:bodyPr wrap="square" lIns="0" tIns="0" rIns="0" bIns="0" rtlCol="0" anchor="t"/>
          <a:lstStyle/>
          <a:p>
            <a:pPr indent="0" marL="0">
              <a:lnSpc>
                <a:spcPts val="3240"/>
              </a:lnSpc>
              <a:buNone/>
            </a:pPr>
            <a:r>
              <a:rPr lang="en-US" sz="2700" b="1" dirty="0">
                <a:solidFill>
                  <a:srgbClr val="38BDF8"/>
                </a:solidFill>
                <a:latin typeface="Arial" pitchFamily="34" charset="0"/>
                <a:ea typeface="Arial" pitchFamily="34" charset="-122"/>
                <a:cs typeface="Arial" pitchFamily="34" charset="-120"/>
              </a:rPr>
              <a:t>Email Communication &amp; Best Practices</a:t>
            </a:r>
            <a:endParaRPr lang="en-US" sz="2700" dirty="0"/>
          </a:p>
        </p:txBody>
      </p:sp>
      <p:sp>
        <p:nvSpPr>
          <p:cNvPr id="7" name="Text 4"/>
          <p:cNvSpPr/>
          <p:nvPr/>
        </p:nvSpPr>
        <p:spPr>
          <a:xfrm>
            <a:off x="838200" y="1478261"/>
            <a:ext cx="7616952" cy="319980"/>
          </a:xfrm>
          <a:prstGeom prst="rect">
            <a:avLst/>
          </a:prstGeom>
          <a:noFill/>
          <a:ln/>
        </p:spPr>
        <p:txBody>
          <a:bodyPr wrap="square" lIns="0" tIns="0" rIns="0" bIns="0" rtlCol="0" anchor="t"/>
          <a:lstStyle/>
          <a:p>
            <a:pPr indent="0" marL="0">
              <a:lnSpc>
                <a:spcPts val="2520"/>
              </a:lnSpc>
              <a:buNone/>
            </a:pPr>
            <a:r>
              <a:rPr lang="en-US" sz="2100" b="1" dirty="0">
                <a:solidFill>
                  <a:srgbClr val="38BDF8"/>
                </a:solidFill>
                <a:latin typeface="Arial" pitchFamily="34" charset="0"/>
                <a:ea typeface="Arial" pitchFamily="34" charset="-122"/>
                <a:cs typeface="Arial" pitchFamily="34" charset="-120"/>
              </a:rPr>
              <a:t>Follow-up Emails</a:t>
            </a:r>
            <a:endParaRPr lang="en-US" sz="2100" dirty="0"/>
          </a:p>
        </p:txBody>
      </p:sp>
      <p:sp>
        <p:nvSpPr>
          <p:cNvPr id="8" name="Text 5"/>
          <p:cNvSpPr/>
          <p:nvPr/>
        </p:nvSpPr>
        <p:spPr>
          <a:xfrm>
            <a:off x="838200" y="1950641"/>
            <a:ext cx="7467600" cy="1440061"/>
          </a:xfrm>
          <a:prstGeom prst="rect">
            <a:avLst/>
          </a:prstGeom>
          <a:noFill/>
          <a:ln/>
        </p:spPr>
        <p:txBody>
          <a:bodyPr wrap="square" lIns="0" tIns="0" rIns="0" bIns="0" rtlCol="0" anchor="t"/>
          <a:lstStyle/>
          <a:p>
            <a:pPr indent="0" marL="0">
              <a:lnSpc>
                <a:spcPts val="1890"/>
              </a:lnSpc>
              <a:buNone/>
            </a:pPr>
            <a:r>
              <a:rPr lang="en-US" sz="1350" dirty="0">
                <a:solidFill>
                  <a:srgbClr val="CBD5E1"/>
                </a:solidFill>
                <a:latin typeface="Arial" pitchFamily="34" charset="0"/>
                <a:ea typeface="Arial" pitchFamily="34" charset="-122"/>
                <a:cs typeface="Arial" pitchFamily="34" charset="-120"/>
              </a:rPr>
              <a:t>Wait 2-3 business days before sending your first follow-up to respect the recipient's time for review. Personalize each follow-up by referencing specific details from your previous communication and the recipient's business context. Keep emails concise—3-4 sentences maximum. Include a clear call-to-action like "Does Tuesday 2 PM work for a call?" rather than vague language. Space subsequent follow-ups 5-7 days apart to show persistence without appearing intrusive.</a:t>
            </a:r>
            <a:endParaRPr lang="en-US" sz="1350" dirty="0"/>
          </a:p>
        </p:txBody>
      </p:sp>
      <p:sp>
        <p:nvSpPr>
          <p:cNvPr id="9" name="Text 6"/>
          <p:cNvSpPr/>
          <p:nvPr/>
        </p:nvSpPr>
        <p:spPr>
          <a:xfrm>
            <a:off x="838200" y="3847902"/>
            <a:ext cx="7616952" cy="319980"/>
          </a:xfrm>
          <a:prstGeom prst="rect">
            <a:avLst/>
          </a:prstGeom>
          <a:noFill/>
          <a:ln/>
        </p:spPr>
        <p:txBody>
          <a:bodyPr wrap="square" lIns="0" tIns="0" rIns="0" bIns="0" rtlCol="0" anchor="t"/>
          <a:lstStyle/>
          <a:p>
            <a:pPr indent="0" marL="0">
              <a:lnSpc>
                <a:spcPts val="2520"/>
              </a:lnSpc>
              <a:buNone/>
            </a:pPr>
            <a:r>
              <a:rPr lang="en-US" sz="2100" b="1" dirty="0">
                <a:solidFill>
                  <a:srgbClr val="38BDF8"/>
                </a:solidFill>
                <a:latin typeface="Arial" pitchFamily="34" charset="0"/>
                <a:ea typeface="Arial" pitchFamily="34" charset="-122"/>
                <a:cs typeface="Arial" pitchFamily="34" charset="-120"/>
              </a:rPr>
              <a:t>Email Threads &amp; Chains</a:t>
            </a:r>
            <a:endParaRPr lang="en-US" sz="2100" dirty="0"/>
          </a:p>
        </p:txBody>
      </p:sp>
      <p:sp>
        <p:nvSpPr>
          <p:cNvPr id="10" name="Text 7"/>
          <p:cNvSpPr/>
          <p:nvPr/>
        </p:nvSpPr>
        <p:spPr>
          <a:xfrm>
            <a:off x="838200" y="4320283"/>
            <a:ext cx="7467600" cy="1440061"/>
          </a:xfrm>
          <a:prstGeom prst="rect">
            <a:avLst/>
          </a:prstGeom>
          <a:noFill/>
          <a:ln/>
        </p:spPr>
        <p:txBody>
          <a:bodyPr wrap="square" lIns="0" tIns="0" rIns="0" bIns="0" rtlCol="0" anchor="t"/>
          <a:lstStyle/>
          <a:p>
            <a:pPr indent="0" marL="0">
              <a:lnSpc>
                <a:spcPts val="1890"/>
              </a:lnSpc>
              <a:buNone/>
            </a:pPr>
            <a:r>
              <a:rPr lang="en-US" sz="1350" dirty="0">
                <a:solidFill>
                  <a:srgbClr val="CBD5E1"/>
                </a:solidFill>
                <a:latin typeface="Arial" pitchFamily="34" charset="0"/>
                <a:ea typeface="Arial" pitchFamily="34" charset="-122"/>
                <a:cs typeface="Arial" pitchFamily="34" charset="-120"/>
              </a:rPr>
              <a:t>Email threads group related messages chronologically in a single conversation, reducing inbox clutter and improving context visibility. Keep the original subject line when replying to maintain thread continuity. Start new threads only for genuinely new topics, and reference the previous thread if context matters. Avoid excessive CC/BCC usage—include only necessary participants. Trim old content when threads become lengthy to keep emails readable and maintain focus on current discussion points.</a:t>
            </a:r>
            <a:endParaRPr lang="en-US" sz="1350" dirty="0"/>
          </a:p>
        </p:txBody>
      </p:sp>
      <p:sp>
        <p:nvSpPr>
          <p:cNvPr id="11" name="Text 8"/>
          <p:cNvSpPr/>
          <p:nvPr/>
        </p:nvSpPr>
        <p:spPr>
          <a:xfrm>
            <a:off x="838200" y="6446144"/>
            <a:ext cx="7616952" cy="319980"/>
          </a:xfrm>
          <a:prstGeom prst="rect">
            <a:avLst/>
          </a:prstGeom>
          <a:noFill/>
          <a:ln/>
        </p:spPr>
        <p:txBody>
          <a:bodyPr wrap="square" lIns="0" tIns="0" rIns="0" bIns="0" rtlCol="0" anchor="t"/>
          <a:lstStyle/>
          <a:p>
            <a:pPr indent="0" marL="0">
              <a:lnSpc>
                <a:spcPts val="2520"/>
              </a:lnSpc>
              <a:buNone/>
            </a:pPr>
            <a:r>
              <a:rPr lang="en-US" sz="2100" b="1" dirty="0">
                <a:solidFill>
                  <a:srgbClr val="38BDF8"/>
                </a:solidFill>
                <a:latin typeface="Arial" pitchFamily="34" charset="0"/>
                <a:ea typeface="Arial" pitchFamily="34" charset="-122"/>
                <a:cs typeface="Arial" pitchFamily="34" charset="-120"/>
              </a:rPr>
              <a:t>Accountability in Email</a:t>
            </a:r>
            <a:endParaRPr lang="en-US" sz="2100" dirty="0"/>
          </a:p>
        </p:txBody>
      </p:sp>
      <p:sp>
        <p:nvSpPr>
          <p:cNvPr id="12" name="Text 9"/>
          <p:cNvSpPr/>
          <p:nvPr/>
        </p:nvSpPr>
        <p:spPr>
          <a:xfrm>
            <a:off x="838200" y="6918524"/>
            <a:ext cx="7467600" cy="1440061"/>
          </a:xfrm>
          <a:prstGeom prst="rect">
            <a:avLst/>
          </a:prstGeom>
          <a:noFill/>
          <a:ln/>
        </p:spPr>
        <p:txBody>
          <a:bodyPr wrap="square" lIns="0" tIns="0" rIns="0" bIns="0" rtlCol="0" anchor="t"/>
          <a:lstStyle/>
          <a:p>
            <a:pPr indent="0" marL="0">
              <a:lnSpc>
                <a:spcPts val="1890"/>
              </a:lnSpc>
              <a:buNone/>
            </a:pPr>
            <a:r>
              <a:rPr lang="en-US" sz="1350" dirty="0">
                <a:solidFill>
                  <a:srgbClr val="CBD5E1"/>
                </a:solidFill>
                <a:latin typeface="Arial" pitchFamily="34" charset="0"/>
                <a:ea typeface="Arial" pitchFamily="34" charset="-122"/>
                <a:cs typeface="Arial" pitchFamily="34" charset="-120"/>
              </a:rPr>
              <a:t>Demonstrate accountability by responding promptly to emails—ideally within 24-48 hours. When action items are assigned in threads, acknowledge receipt and provide clear timelines for completion. Always proofread for tone and accuracy before sending to show respect for professional standards. Follow through on commitments mentioned in emails by sending status updates when deadlines approach. Use email signatures with your full name, title, and contact information to maintain professionalism and make it easy for recipients to reach you.</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635973" y="1859261"/>
            <a:ext cx="1871954" cy="411460"/>
          </a:xfrm>
          <a:prstGeom prst="rect">
            <a:avLst/>
          </a:prstGeom>
          <a:noFill/>
          <a:ln/>
        </p:spPr>
        <p:txBody>
          <a:bodyPr wrap="square" lIns="0" tIns="0" rIns="0" bIns="0" rtlCol="0" anchor="t"/>
          <a:lstStyle/>
          <a:p>
            <a:pPr algn="ctr" indent="0" marL="0">
              <a:lnSpc>
                <a:spcPts val="3240"/>
              </a:lnSpc>
              <a:buNone/>
            </a:pPr>
            <a:r>
              <a:rPr lang="en-US" sz="2700" b="1" dirty="0">
                <a:solidFill>
                  <a:srgbClr val="38BDF8"/>
                </a:solidFill>
                <a:latin typeface="Arial" pitchFamily="34" charset="0"/>
                <a:ea typeface="Arial" pitchFamily="34" charset="-122"/>
                <a:cs typeface="Arial" pitchFamily="34" charset="-120"/>
              </a:rPr>
              <a:t>Thank You!</a:t>
            </a:r>
            <a:endParaRPr lang="en-US" sz="2700" dirty="0"/>
          </a:p>
        </p:txBody>
      </p:sp>
      <p:sp>
        <p:nvSpPr>
          <p:cNvPr id="4" name="Text 1"/>
          <p:cNvSpPr/>
          <p:nvPr/>
        </p:nvSpPr>
        <p:spPr>
          <a:xfrm>
            <a:off x="2501486" y="2499321"/>
            <a:ext cx="4140928" cy="240010"/>
          </a:xfrm>
          <a:prstGeom prst="rect">
            <a:avLst/>
          </a:prstGeom>
          <a:noFill/>
          <a:ln/>
        </p:spPr>
        <p:txBody>
          <a:bodyPr wrap="square" lIns="0" tIns="0" rIns="0" bIns="0" rtlCol="0" anchor="t"/>
          <a:lstStyle/>
          <a:p>
            <a:pPr algn="ctr" indent="0" marL="0">
              <a:lnSpc>
                <a:spcPts val="1890"/>
              </a:lnSpc>
              <a:buNone/>
            </a:pPr>
            <a:r>
              <a:rPr lang="en-US" sz="1350" dirty="0">
                <a:solidFill>
                  <a:srgbClr val="CBD5E1"/>
                </a:solidFill>
                <a:latin typeface="Arial" pitchFamily="34" charset="0"/>
                <a:ea typeface="Arial" pitchFamily="34" charset="-122"/>
                <a:cs typeface="Arial" pitchFamily="34" charset="-120"/>
              </a:rPr>
              <a:t>Excellence in communication opens doors to success</a:t>
            </a:r>
            <a:endParaRPr lang="en-US" sz="1350" dirty="0"/>
          </a:p>
        </p:txBody>
      </p:sp>
      <p:sp>
        <p:nvSpPr>
          <p:cNvPr id="5" name="Text 2"/>
          <p:cNvSpPr/>
          <p:nvPr/>
        </p:nvSpPr>
        <p:spPr>
          <a:xfrm>
            <a:off x="4129641" y="3044130"/>
            <a:ext cx="884718" cy="240010"/>
          </a:xfrm>
          <a:prstGeom prst="rect">
            <a:avLst/>
          </a:prstGeom>
          <a:noFill/>
          <a:ln/>
        </p:spPr>
        <p:txBody>
          <a:bodyPr wrap="square" lIns="0" tIns="0" rIns="0" bIns="0" rtlCol="0" anchor="t"/>
          <a:lstStyle/>
          <a:p>
            <a:pPr algn="ctr" indent="0" marL="0">
              <a:lnSpc>
                <a:spcPts val="1890"/>
              </a:lnSpc>
              <a:buNone/>
            </a:pPr>
            <a:r>
              <a:rPr lang="en-US" sz="1350" dirty="0">
                <a:solidFill>
                  <a:srgbClr val="94A3B8"/>
                </a:solidFill>
                <a:latin typeface="Arial" pitchFamily="34" charset="0"/>
                <a:ea typeface="Arial" pitchFamily="34" charset="-122"/>
                <a:cs typeface="Arial" pitchFamily="34" charset="-120"/>
              </a:rPr>
              <a:t>Questions?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Perplexity</cp:lastModifiedBy>
  <cp:revision>1</cp:revision>
  <dcterms:created xsi:type="dcterms:W3CDTF">2025-12-27T02:46:58Z</dcterms:created>
  <dcterms:modified xsi:type="dcterms:W3CDTF">2025-12-27T02:46:58Z</dcterms:modified>
</cp:coreProperties>
</file>