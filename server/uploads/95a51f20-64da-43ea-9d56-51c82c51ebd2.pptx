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nva Sans" panose="020B0604020202020204" charset="0"/>
      <p:regular r:id="rId15"/>
    </p:embeddedFont>
    <p:embeddedFont>
      <p:font typeface="Canva Sans Bold" panose="020B0604020202020204" charset="0"/>
      <p:regular r:id="rId16"/>
    </p:embeddedFont>
    <p:embeddedFont>
      <p:font typeface="Poppins" panose="00000500000000000000" pitchFamily="2" charset="0"/>
      <p:regular r:id="rId17"/>
      <p:bold r:id="rId18"/>
      <p:italic r:id="rId19"/>
      <p:boldItalic r:id="rId20"/>
    </p:embeddedFont>
    <p:embeddedFont>
      <p:font typeface="Poppins Bold" panose="00000800000000000000" pitchFamily="2" charset="0"/>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oj E" userId="S::manojcs35-g4@coastalseven.com::6a6e651c-d455-4ff6-b623-8896a5b4ad7a" providerId="AD" clId="Web-{3EF2470D-A961-7CD5-445F-F3568E30C8FA}"/>
    <pc:docChg chg="modSld">
      <pc:chgData name="Manoj E" userId="S::manojcs35-g4@coastalseven.com::6a6e651c-d455-4ff6-b623-8896a5b4ad7a" providerId="AD" clId="Web-{3EF2470D-A961-7CD5-445F-F3568E30C8FA}" dt="2025-12-18T04:44:43.381" v="7"/>
      <pc:docMkLst>
        <pc:docMk/>
      </pc:docMkLst>
      <pc:sldChg chg="modSp">
        <pc:chgData name="Manoj E" userId="S::manojcs35-g4@coastalseven.com::6a6e651c-d455-4ff6-b623-8896a5b4ad7a" providerId="AD" clId="Web-{3EF2470D-A961-7CD5-445F-F3568E30C8FA}" dt="2025-12-18T04:44:43.381" v="7"/>
        <pc:sldMkLst>
          <pc:docMk/>
          <pc:sldMk cId="0" sldId="266"/>
        </pc:sldMkLst>
        <pc:spChg chg="mod">
          <ac:chgData name="Manoj E" userId="S::manojcs35-g4@coastalseven.com::6a6e651c-d455-4ff6-b623-8896a5b4ad7a" providerId="AD" clId="Web-{3EF2470D-A961-7CD5-445F-F3568E30C8FA}" dt="2025-12-18T04:44:43.381" v="7"/>
          <ac:spMkLst>
            <pc:docMk/>
            <pc:sldMk cId="0" sldId="266"/>
            <ac:spMk id="6" creationId="{00000000-0000-0000-0000-000000000000}"/>
          </ac:spMkLst>
        </pc:spChg>
      </pc:sldChg>
    </pc:docChg>
  </pc:docChgLst>
  <pc:docChgLst>
    <pc:chgData name="Sathya M" userId="S::sathyacs36-g4@coastalseven.com::a078478c-ca98-42a2-9c8f-6478945331e0" providerId="AD" clId="Web-{0569D7D6-C462-5BE0-C5BD-09C1D4C0B9BB}"/>
    <pc:docChg chg="modSld">
      <pc:chgData name="Sathya M" userId="S::sathyacs36-g4@coastalseven.com::a078478c-ca98-42a2-9c8f-6478945331e0" providerId="AD" clId="Web-{0569D7D6-C462-5BE0-C5BD-09C1D4C0B9BB}" dt="2025-12-18T04:42:45.468" v="8" actId="14100"/>
      <pc:docMkLst>
        <pc:docMk/>
      </pc:docMkLst>
      <pc:sldChg chg="modSp">
        <pc:chgData name="Sathya M" userId="S::sathyacs36-g4@coastalseven.com::a078478c-ca98-42a2-9c8f-6478945331e0" providerId="AD" clId="Web-{0569D7D6-C462-5BE0-C5BD-09C1D4C0B9BB}" dt="2025-12-18T04:42:45.468" v="8" actId="14100"/>
        <pc:sldMkLst>
          <pc:docMk/>
          <pc:sldMk cId="0" sldId="266"/>
        </pc:sldMkLst>
        <pc:spChg chg="mod">
          <ac:chgData name="Sathya M" userId="S::sathyacs36-g4@coastalseven.com::a078478c-ca98-42a2-9c8f-6478945331e0" providerId="AD" clId="Web-{0569D7D6-C462-5BE0-C5BD-09C1D4C0B9BB}" dt="2025-12-18T04:42:45.468" v="8" actId="14100"/>
          <ac:spMkLst>
            <pc:docMk/>
            <pc:sldMk cId="0" sldId="266"/>
            <ac:spMk id="6" creationId="{00000000-0000-0000-0000-000000000000}"/>
          </ac:spMkLst>
        </pc:spChg>
      </pc:sldChg>
    </pc:docChg>
  </pc:docChgLst>
  <pc:docChgLst>
    <pc:chgData name="Guest User" userId="S::urn:spo:tenantanon#63d9f253-125e-41bd-b481-8be69061e846::" providerId="AD" clId="Web-{17E444E4-F139-6237-729A-86B652F91DD5}"/>
    <pc:docChg chg="modSld">
      <pc:chgData name="Guest User" userId="S::urn:spo:tenantanon#63d9f253-125e-41bd-b481-8be69061e846::" providerId="AD" clId="Web-{17E444E4-F139-6237-729A-86B652F91DD5}" dt="2025-12-26T15:59:17.618" v="0" actId="1076"/>
      <pc:docMkLst>
        <pc:docMk/>
      </pc:docMkLst>
      <pc:sldChg chg="modSp">
        <pc:chgData name="Guest User" userId="S::urn:spo:tenantanon#63d9f253-125e-41bd-b481-8be69061e846::" providerId="AD" clId="Web-{17E444E4-F139-6237-729A-86B652F91DD5}" dt="2025-12-26T15:59:17.618" v="0" actId="1076"/>
        <pc:sldMkLst>
          <pc:docMk/>
          <pc:sldMk cId="0" sldId="258"/>
        </pc:sldMkLst>
        <pc:graphicFrameChg chg="mod">
          <ac:chgData name="Guest User" userId="S::urn:spo:tenantanon#63d9f253-125e-41bd-b481-8be69061e846::" providerId="AD" clId="Web-{17E444E4-F139-6237-729A-86B652F91DD5}" dt="2025-12-26T15:59:17.618" v="0" actId="1076"/>
          <ac:graphicFrameMkLst>
            <pc:docMk/>
            <pc:sldMk cId="0" sldId="258"/>
            <ac:graphicFrameMk id="3" creationId="{00000000-0000-0000-0000-000000000000}"/>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s://youtu.be/pIHRGFN-mXI?si=HPqqNKnrWTP2Nsff" TargetMode="External"/><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3" Type="http://schemas.openxmlformats.org/officeDocument/2006/relationships/hyperlink" Target="https://youtu.be/pIHRGFN-mXI?si=HPqqNKnrWTP2Nsff"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08763" y="1666891"/>
            <a:ext cx="11870475" cy="3476609"/>
          </a:xfrm>
          <a:custGeom>
            <a:avLst/>
            <a:gdLst/>
            <a:ahLst/>
            <a:cxnLst/>
            <a:rect l="l" t="t" r="r" b="b"/>
            <a:pathLst>
              <a:path w="11870475" h="3476609">
                <a:moveTo>
                  <a:pt x="0" y="0"/>
                </a:moveTo>
                <a:lnTo>
                  <a:pt x="11870474" y="0"/>
                </a:lnTo>
                <a:lnTo>
                  <a:pt x="11870474" y="3476609"/>
                </a:lnTo>
                <a:lnTo>
                  <a:pt x="0" y="3476609"/>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085993" y="5999591"/>
            <a:ext cx="10116014" cy="863633"/>
          </a:xfrm>
          <a:prstGeom prst="rect">
            <a:avLst/>
          </a:prstGeom>
        </p:spPr>
        <p:txBody>
          <a:bodyPr lIns="0" tIns="0" rIns="0" bIns="0" rtlCol="0" anchor="t">
            <a:spAutoFit/>
          </a:bodyPr>
          <a:lstStyle/>
          <a:p>
            <a:pPr algn="ctr">
              <a:lnSpc>
                <a:spcPts val="7000"/>
              </a:lnSpc>
              <a:spcBef>
                <a:spcPct val="0"/>
              </a:spcBef>
            </a:pPr>
            <a:r>
              <a:rPr lang="en-US" sz="5000" b="1">
                <a:solidFill>
                  <a:srgbClr val="000000"/>
                </a:solidFill>
                <a:latin typeface="Canva Sans Bold"/>
                <a:ea typeface="Canva Sans Bold"/>
                <a:cs typeface="Canva Sans Bold"/>
                <a:sym typeface="Canva Sans Bold"/>
              </a:rPr>
              <a:t>Day 3 - Professional Email Basics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876661" y="2679401"/>
            <a:ext cx="7742659" cy="3946316"/>
          </a:xfrm>
          <a:prstGeom prst="rect">
            <a:avLst/>
          </a:prstGeom>
        </p:spPr>
        <p:txBody>
          <a:bodyPr lIns="0" tIns="0" rIns="0" bIns="0" rtlCol="0" anchor="t">
            <a:spAutoFit/>
          </a:bodyPr>
          <a:lstStyle/>
          <a:p>
            <a:pPr marL="745954" lvl="1" indent="-372977" algn="l">
              <a:lnSpc>
                <a:spcPts val="5217"/>
              </a:lnSpc>
              <a:buFont typeface="Arial"/>
              <a:buChar char="•"/>
            </a:pPr>
            <a:r>
              <a:rPr lang="en-US" sz="3455">
                <a:solidFill>
                  <a:srgbClr val="000000"/>
                </a:solidFill>
                <a:latin typeface="Poppins"/>
                <a:ea typeface="Poppins"/>
                <a:cs typeface="Poppins"/>
                <a:sym typeface="Poppins"/>
              </a:rPr>
              <a:t>How many emails do you write daily?</a:t>
            </a:r>
          </a:p>
          <a:p>
            <a:pPr marL="745954" lvl="1" indent="-372977" algn="l">
              <a:lnSpc>
                <a:spcPts val="5217"/>
              </a:lnSpc>
              <a:buFont typeface="Arial"/>
              <a:buChar char="•"/>
            </a:pPr>
            <a:r>
              <a:rPr lang="en-US" sz="3455">
                <a:solidFill>
                  <a:srgbClr val="000000"/>
                </a:solidFill>
                <a:latin typeface="Poppins"/>
                <a:ea typeface="Poppins"/>
                <a:cs typeface="Poppins"/>
                <a:sym typeface="Poppins"/>
              </a:rPr>
              <a:t> Rate your email confidence (1 to 5)</a:t>
            </a:r>
          </a:p>
          <a:p>
            <a:pPr marL="745954" lvl="1" indent="-372977" algn="l">
              <a:lnSpc>
                <a:spcPts val="5217"/>
              </a:lnSpc>
              <a:buFont typeface="Arial"/>
              <a:buChar char="•"/>
            </a:pPr>
            <a:r>
              <a:rPr lang="en-US" sz="3455">
                <a:solidFill>
                  <a:srgbClr val="000000"/>
                </a:solidFill>
                <a:latin typeface="Poppins"/>
                <a:ea typeface="Poppins"/>
                <a:cs typeface="Poppins"/>
                <a:sym typeface="Poppins"/>
              </a:rPr>
              <a:t>What's your biggest email challenge?</a:t>
            </a:r>
          </a:p>
        </p:txBody>
      </p:sp>
      <p:sp>
        <p:nvSpPr>
          <p:cNvPr id="4" name="TextBox 4"/>
          <p:cNvSpPr txBox="1"/>
          <p:nvPr/>
        </p:nvSpPr>
        <p:spPr>
          <a:xfrm>
            <a:off x="1416842" y="7171059"/>
            <a:ext cx="13184668" cy="1251337"/>
          </a:xfrm>
          <a:prstGeom prst="rect">
            <a:avLst/>
          </a:prstGeom>
        </p:spPr>
        <p:txBody>
          <a:bodyPr lIns="0" tIns="0" rIns="0" bIns="0" rtlCol="0" anchor="t">
            <a:spAutoFit/>
          </a:bodyPr>
          <a:lstStyle/>
          <a:p>
            <a:pPr algn="just">
              <a:lnSpc>
                <a:spcPts val="4982"/>
              </a:lnSpc>
            </a:pPr>
            <a:r>
              <a:rPr lang="en-US" sz="3299" b="1">
                <a:solidFill>
                  <a:srgbClr val="000000"/>
                </a:solidFill>
                <a:latin typeface="Poppins Bold"/>
                <a:ea typeface="Poppins Bold"/>
                <a:cs typeface="Poppins Bold"/>
                <a:sym typeface="Poppins Bold"/>
              </a:rPr>
              <a:t>Think of the most effective professional email you've received. What made it effective? - </a:t>
            </a:r>
            <a:r>
              <a:rPr lang="en-US" sz="3299">
                <a:solidFill>
                  <a:srgbClr val="000000"/>
                </a:solidFill>
                <a:latin typeface="Poppins"/>
                <a:ea typeface="Poppins"/>
                <a:cs typeface="Poppins"/>
                <a:sym typeface="Poppins"/>
              </a:rPr>
              <a:t>Explain!</a:t>
            </a:r>
          </a:p>
        </p:txBody>
      </p:sp>
      <p:sp>
        <p:nvSpPr>
          <p:cNvPr id="5" name="TextBox 5"/>
          <p:cNvSpPr txBox="1"/>
          <p:nvPr/>
        </p:nvSpPr>
        <p:spPr>
          <a:xfrm>
            <a:off x="1416842"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Quick Self-Reflection</a:t>
            </a:r>
          </a:p>
        </p:txBody>
      </p:sp>
      <p:sp>
        <p:nvSpPr>
          <p:cNvPr id="6" name="Freeform 6"/>
          <p:cNvSpPr/>
          <p:nvPr/>
        </p:nvSpPr>
        <p:spPr>
          <a:xfrm>
            <a:off x="11364190" y="4174207"/>
            <a:ext cx="3223951" cy="564191"/>
          </a:xfrm>
          <a:custGeom>
            <a:avLst/>
            <a:gdLst/>
            <a:ahLst/>
            <a:cxnLst/>
            <a:rect l="l" t="t" r="r" b="b"/>
            <a:pathLst>
              <a:path w="3223951" h="564191">
                <a:moveTo>
                  <a:pt x="0" y="0"/>
                </a:moveTo>
                <a:lnTo>
                  <a:pt x="3223951" y="0"/>
                </a:lnTo>
                <a:lnTo>
                  <a:pt x="3223951" y="564191"/>
                </a:lnTo>
                <a:lnTo>
                  <a:pt x="0" y="564191"/>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10565776" y="2669876"/>
            <a:ext cx="4820779" cy="686911"/>
          </a:xfrm>
          <a:prstGeom prst="rect">
            <a:avLst/>
          </a:prstGeom>
        </p:spPr>
        <p:txBody>
          <a:bodyPr lIns="0" tIns="0" rIns="0" bIns="0" rtlCol="0" anchor="t">
            <a:spAutoFit/>
          </a:bodyPr>
          <a:lstStyle/>
          <a:p>
            <a:pPr algn="ctr">
              <a:lnSpc>
                <a:spcPts val="5435"/>
              </a:lnSpc>
            </a:pPr>
            <a:r>
              <a:rPr lang="en-US" sz="3599" u="sng">
                <a:solidFill>
                  <a:srgbClr val="000000"/>
                </a:solidFill>
                <a:latin typeface="Poppins"/>
                <a:ea typeface="Poppins"/>
                <a:cs typeface="Poppins"/>
                <a:sym typeface="Poppins"/>
              </a:rPr>
              <a:t>__________</a:t>
            </a:r>
          </a:p>
        </p:txBody>
      </p:sp>
      <p:sp>
        <p:nvSpPr>
          <p:cNvPr id="8" name="TextBox 8"/>
          <p:cNvSpPr txBox="1"/>
          <p:nvPr/>
        </p:nvSpPr>
        <p:spPr>
          <a:xfrm>
            <a:off x="10565776" y="5412944"/>
            <a:ext cx="4820779" cy="686911"/>
          </a:xfrm>
          <a:prstGeom prst="rect">
            <a:avLst/>
          </a:prstGeom>
        </p:spPr>
        <p:txBody>
          <a:bodyPr lIns="0" tIns="0" rIns="0" bIns="0" rtlCol="0" anchor="t">
            <a:spAutoFit/>
          </a:bodyPr>
          <a:lstStyle/>
          <a:p>
            <a:pPr algn="ctr">
              <a:lnSpc>
                <a:spcPts val="5435"/>
              </a:lnSpc>
            </a:pPr>
            <a:r>
              <a:rPr lang="en-US" sz="3599" u="sng">
                <a:solidFill>
                  <a:srgbClr val="000000"/>
                </a:solidFill>
                <a:latin typeface="Poppins"/>
                <a:ea typeface="Poppins"/>
                <a:cs typeface="Poppins"/>
                <a:sym typeface="Poppins"/>
              </a:rPr>
              <a:t>__________</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graphicFrame>
        <p:nvGraphicFramePr>
          <p:cNvPr id="3" name="Object 3"/>
          <p:cNvGraphicFramePr/>
          <p:nvPr>
            <p:extLst>
              <p:ext uri="{D42A27DB-BD31-4B8C-83A1-F6EECF244321}">
                <p14:modId xmlns:p14="http://schemas.microsoft.com/office/powerpoint/2010/main" val="546782743"/>
              </p:ext>
            </p:extLst>
          </p:nvPr>
        </p:nvGraphicFramePr>
        <p:xfrm>
          <a:off x="249044" y="1609085"/>
          <a:ext cx="18267556" cy="7051338"/>
        </p:xfrm>
        <a:graphic>
          <a:graphicData uri="http://schemas.openxmlformats.org/presentationml/2006/ole">
            <mc:AlternateContent xmlns:mc="http://schemas.openxmlformats.org/markup-compatibility/2006">
              <mc:Choice xmlns:v="urn:schemas-microsoft-com:vml" Requires="v">
                <p:oleObj name="Worksheet" r:id="rId3" imgW="19469100" imgH="9118600" progId="Excel.Sheet.12">
                  <p:embed/>
                </p:oleObj>
              </mc:Choice>
              <mc:Fallback>
                <p:oleObj name="Worksheet" r:id="rId3" imgW="19469100" imgH="9118600" progId="Excel.Sheet.12">
                  <p:embed/>
                  <p:pic>
                    <p:nvPicPr>
                      <p:cNvPr id="0" name=""/>
                      <p:cNvPicPr/>
                      <p:nvPr/>
                    </p:nvPicPr>
                    <p:blipFill>
                      <a:blip r:embed="rId4"/>
                      <a:stretch>
                        <a:fillRect/>
                      </a:stretch>
                    </p:blipFill>
                    <p:spPr>
                      <a:xfrm>
                        <a:off x="249044" y="1609085"/>
                        <a:ext cx="18267556" cy="7051338"/>
                      </a:xfrm>
                      <a:prstGeom prst="rect">
                        <a:avLst/>
                      </a:prstGeom>
                    </p:spPr>
                  </p:pic>
                </p:oleObj>
              </mc:Fallback>
            </mc:AlternateContent>
          </a:graphicData>
        </a:graphic>
      </p:graphicFrame>
      <p:sp>
        <p:nvSpPr>
          <p:cNvPr id="4" name="TextBox 4"/>
          <p:cNvSpPr txBox="1"/>
          <p:nvPr/>
        </p:nvSpPr>
        <p:spPr>
          <a:xfrm>
            <a:off x="1435358" y="1444963"/>
            <a:ext cx="9791379" cy="674129"/>
          </a:xfrm>
          <a:prstGeom prst="rect">
            <a:avLst/>
          </a:prstGeom>
        </p:spPr>
        <p:txBody>
          <a:bodyPr lIns="0" tIns="0" rIns="0" bIns="0" rtlCol="0" anchor="t">
            <a:spAutoFit/>
          </a:bodyPr>
          <a:lstStyle/>
          <a:p>
            <a:pPr algn="l">
              <a:lnSpc>
                <a:spcPts val="5532"/>
              </a:lnSpc>
              <a:spcBef>
                <a:spcPct val="0"/>
              </a:spcBef>
            </a:pPr>
            <a:r>
              <a:rPr lang="en-US" sz="3951" b="1">
                <a:solidFill>
                  <a:srgbClr val="2F748E"/>
                </a:solidFill>
                <a:latin typeface="Canva Sans Bold"/>
                <a:ea typeface="Canva Sans Bold"/>
                <a:cs typeface="Canva Sans Bold"/>
                <a:sym typeface="Canva Sans Bold"/>
              </a:rPr>
              <a:t> 5 Core Elements of Professional Emails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a:off x="6667938" y="3204577"/>
            <a:ext cx="32177" cy="6435332"/>
          </a:xfrm>
          <a:custGeom>
            <a:avLst/>
            <a:gdLst/>
            <a:ahLst/>
            <a:cxnLst/>
            <a:rect l="l" t="t" r="r" b="b"/>
            <a:pathLst>
              <a:path w="32177" h="6435332">
                <a:moveTo>
                  <a:pt x="0" y="0"/>
                </a:moveTo>
                <a:lnTo>
                  <a:pt x="32177" y="0"/>
                </a:lnTo>
                <a:lnTo>
                  <a:pt x="32177" y="6435332"/>
                </a:lnTo>
                <a:lnTo>
                  <a:pt x="0" y="64353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1435358" y="2547210"/>
            <a:ext cx="876191" cy="943409"/>
          </a:xfrm>
          <a:custGeom>
            <a:avLst/>
            <a:gdLst/>
            <a:ahLst/>
            <a:cxnLst/>
            <a:rect l="l" t="t" r="r" b="b"/>
            <a:pathLst>
              <a:path w="876191" h="943409">
                <a:moveTo>
                  <a:pt x="0" y="0"/>
                </a:moveTo>
                <a:lnTo>
                  <a:pt x="876191" y="0"/>
                </a:lnTo>
                <a:lnTo>
                  <a:pt x="876191" y="943409"/>
                </a:lnTo>
                <a:lnTo>
                  <a:pt x="0" y="9434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2050667" y="2505264"/>
            <a:ext cx="984444" cy="902109"/>
          </a:xfrm>
          <a:custGeom>
            <a:avLst/>
            <a:gdLst/>
            <a:ahLst/>
            <a:cxnLst/>
            <a:rect l="l" t="t" r="r" b="b"/>
            <a:pathLst>
              <a:path w="984444" h="902109">
                <a:moveTo>
                  <a:pt x="0" y="0"/>
                </a:moveTo>
                <a:lnTo>
                  <a:pt x="984444" y="0"/>
                </a:lnTo>
                <a:lnTo>
                  <a:pt x="984444" y="902108"/>
                </a:lnTo>
                <a:lnTo>
                  <a:pt x="0" y="90210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 name="TextBox 6"/>
          <p:cNvSpPr txBox="1"/>
          <p:nvPr/>
        </p:nvSpPr>
        <p:spPr>
          <a:xfrm>
            <a:off x="6964321" y="3679825"/>
            <a:ext cx="10713305" cy="6188076"/>
          </a:xfrm>
          <a:prstGeom prst="rect">
            <a:avLst/>
          </a:prstGeom>
        </p:spPr>
        <p:txBody>
          <a:bodyPr lIns="0" tIns="0" rIns="0" bIns="0" rtlCol="0" anchor="t">
            <a:spAutoFit/>
          </a:bodyPr>
          <a:lstStyle/>
          <a:p>
            <a:pPr algn="l">
              <a:lnSpc>
                <a:spcPts val="3774"/>
              </a:lnSpc>
            </a:pPr>
            <a:r>
              <a:rPr lang="en-US" sz="2499">
                <a:solidFill>
                  <a:srgbClr val="000000"/>
                </a:solidFill>
                <a:latin typeface="Poppins"/>
                <a:ea typeface="Poppins"/>
                <a:cs typeface="Poppins"/>
                <a:sym typeface="Poppins"/>
              </a:rPr>
              <a:t>Subject: Request for Q3 Performance Report</a:t>
            </a:r>
          </a:p>
          <a:p>
            <a:pPr algn="l">
              <a:lnSpc>
                <a:spcPts val="3774"/>
              </a:lnSpc>
            </a:pPr>
            <a:endParaRPr lang="en-US" sz="2499">
              <a:solidFill>
                <a:srgbClr val="000000"/>
              </a:solidFill>
              <a:latin typeface="Poppins"/>
              <a:ea typeface="Poppins"/>
              <a:cs typeface="Poppins"/>
              <a:sym typeface="Poppins"/>
            </a:endParaRPr>
          </a:p>
          <a:p>
            <a:pPr algn="l">
              <a:lnSpc>
                <a:spcPts val="3774"/>
              </a:lnSpc>
            </a:pPr>
            <a:r>
              <a:rPr lang="en-US" sz="2499">
                <a:solidFill>
                  <a:srgbClr val="000000"/>
                </a:solidFill>
                <a:latin typeface="Poppins"/>
                <a:ea typeface="Poppins"/>
                <a:cs typeface="Poppins"/>
                <a:sym typeface="Poppins"/>
              </a:rPr>
              <a:t>Dear (Recipient Name), </a:t>
            </a:r>
          </a:p>
          <a:p>
            <a:pPr algn="l">
              <a:lnSpc>
                <a:spcPts val="3774"/>
              </a:lnSpc>
            </a:pPr>
            <a:r>
              <a:rPr lang="en-US" sz="2499">
                <a:solidFill>
                  <a:srgbClr val="000000"/>
                </a:solidFill>
                <a:latin typeface="Poppins"/>
                <a:ea typeface="Poppins"/>
                <a:cs typeface="Poppins"/>
                <a:sym typeface="Poppins"/>
              </a:rPr>
              <a:t>I hope this email finds you well. I'm writing to request the Q3 Performance Report that we discussed in yester day's meeting. This report is essential for our upcoming board presentation on Friday. </a:t>
            </a:r>
          </a:p>
          <a:p>
            <a:pPr algn="l">
              <a:lnSpc>
                <a:spcPts val="3774"/>
              </a:lnSpc>
            </a:pPr>
            <a:r>
              <a:rPr lang="en-US" sz="2499">
                <a:solidFill>
                  <a:srgbClr val="000000"/>
                </a:solidFill>
                <a:latin typeface="Poppins"/>
                <a:ea typeface="Poppins"/>
                <a:cs typeface="Poppins"/>
                <a:sym typeface="Poppins"/>
              </a:rPr>
              <a:t>Could you please send it to me by end of day today? If you encounter any issu es, please let me know so I can assist. </a:t>
            </a:r>
          </a:p>
          <a:p>
            <a:pPr algn="l">
              <a:lnSpc>
                <a:spcPts val="3774"/>
              </a:lnSpc>
            </a:pPr>
            <a:r>
              <a:rPr lang="en-US" sz="2499">
                <a:solidFill>
                  <a:srgbClr val="000000"/>
                </a:solidFill>
                <a:latin typeface="Poppins"/>
                <a:ea typeface="Poppins"/>
                <a:cs typeface="Poppins"/>
                <a:sym typeface="Poppins"/>
              </a:rPr>
              <a:t>Thank you for your prompt attention to this matter.</a:t>
            </a:r>
          </a:p>
          <a:p>
            <a:pPr algn="l">
              <a:lnSpc>
                <a:spcPts val="3774"/>
              </a:lnSpc>
            </a:pPr>
            <a:endParaRPr lang="en-US" sz="2499">
              <a:solidFill>
                <a:srgbClr val="000000"/>
              </a:solidFill>
              <a:latin typeface="Poppins"/>
              <a:ea typeface="Poppins"/>
              <a:cs typeface="Poppins"/>
              <a:sym typeface="Poppins"/>
            </a:endParaRPr>
          </a:p>
          <a:p>
            <a:pPr algn="l">
              <a:lnSpc>
                <a:spcPts val="3774"/>
              </a:lnSpc>
            </a:pPr>
            <a:r>
              <a:rPr lang="en-US" sz="2499">
                <a:solidFill>
                  <a:srgbClr val="000000"/>
                </a:solidFill>
                <a:latin typeface="Poppins"/>
                <a:ea typeface="Poppins"/>
                <a:cs typeface="Poppins"/>
                <a:sym typeface="Poppins"/>
              </a:rPr>
              <a:t>Best regards,</a:t>
            </a:r>
          </a:p>
          <a:p>
            <a:pPr algn="l">
              <a:lnSpc>
                <a:spcPts val="3774"/>
              </a:lnSpc>
            </a:pPr>
            <a:r>
              <a:rPr lang="en-US" sz="2499">
                <a:solidFill>
                  <a:srgbClr val="000000"/>
                </a:solidFill>
                <a:latin typeface="Poppins"/>
                <a:ea typeface="Poppins"/>
                <a:cs typeface="Poppins"/>
                <a:sym typeface="Poppins"/>
              </a:rPr>
              <a:t>(Your Name)</a:t>
            </a:r>
          </a:p>
          <a:p>
            <a:pPr algn="l">
              <a:lnSpc>
                <a:spcPts val="3774"/>
              </a:lnSpc>
            </a:pPr>
            <a:r>
              <a:rPr lang="en-US" sz="2499">
                <a:solidFill>
                  <a:srgbClr val="000000"/>
                </a:solidFill>
                <a:latin typeface="Poppins"/>
                <a:ea typeface="Poppins"/>
                <a:cs typeface="Poppins"/>
                <a:sym typeface="Poppins"/>
              </a:rPr>
              <a:t>(Your Position)</a:t>
            </a:r>
          </a:p>
        </p:txBody>
      </p:sp>
      <p:sp>
        <p:nvSpPr>
          <p:cNvPr id="7" name="TextBox 7"/>
          <p:cNvSpPr txBox="1"/>
          <p:nvPr/>
        </p:nvSpPr>
        <p:spPr>
          <a:xfrm>
            <a:off x="996465" y="3679825"/>
            <a:ext cx="5288701" cy="1901825"/>
          </a:xfrm>
          <a:prstGeom prst="rect">
            <a:avLst/>
          </a:prstGeom>
        </p:spPr>
        <p:txBody>
          <a:bodyPr lIns="0" tIns="0" rIns="0" bIns="0" rtlCol="0" anchor="t">
            <a:spAutoFit/>
          </a:bodyPr>
          <a:lstStyle/>
          <a:p>
            <a:pPr algn="l">
              <a:lnSpc>
                <a:spcPts val="3774"/>
              </a:lnSpc>
            </a:pPr>
            <a:r>
              <a:rPr lang="en-US" sz="2499">
                <a:solidFill>
                  <a:srgbClr val="000000"/>
                </a:solidFill>
                <a:latin typeface="Poppins"/>
                <a:ea typeface="Poppins"/>
                <a:cs typeface="Poppins"/>
                <a:sym typeface="Poppins"/>
              </a:rPr>
              <a:t>Hey,</a:t>
            </a:r>
          </a:p>
          <a:p>
            <a:pPr algn="l">
              <a:lnSpc>
                <a:spcPts val="3774"/>
              </a:lnSpc>
            </a:pPr>
            <a:r>
              <a:rPr lang="en-US" sz="2499">
                <a:solidFill>
                  <a:srgbClr val="000000"/>
                </a:solidFill>
                <a:latin typeface="Poppins"/>
                <a:ea typeface="Poppins"/>
                <a:cs typeface="Poppins"/>
                <a:sym typeface="Poppins"/>
              </a:rPr>
              <a:t>need that report asap. its important. send it to me today. </a:t>
            </a:r>
          </a:p>
          <a:p>
            <a:pPr algn="l">
              <a:lnSpc>
                <a:spcPts val="3774"/>
              </a:lnSpc>
            </a:pPr>
            <a:r>
              <a:rPr lang="en-US" sz="2499">
                <a:solidFill>
                  <a:srgbClr val="000000"/>
                </a:solidFill>
                <a:latin typeface="Poppins"/>
                <a:ea typeface="Poppins"/>
                <a:cs typeface="Poppins"/>
                <a:sym typeface="Poppins"/>
              </a:rPr>
              <a:t>thx</a:t>
            </a:r>
          </a:p>
        </p:txBody>
      </p:sp>
      <p:sp>
        <p:nvSpPr>
          <p:cNvPr id="8" name="TextBox 8"/>
          <p:cNvSpPr txBox="1"/>
          <p:nvPr/>
        </p:nvSpPr>
        <p:spPr>
          <a:xfrm>
            <a:off x="645869" y="1416388"/>
            <a:ext cx="10811577" cy="863633"/>
          </a:xfrm>
          <a:prstGeom prst="rect">
            <a:avLst/>
          </a:prstGeom>
        </p:spPr>
        <p:txBody>
          <a:bodyPr lIns="0" tIns="0" rIns="0" bIns="0" rtlCol="0" anchor="t">
            <a:spAutoFit/>
          </a:bodyPr>
          <a:lstStyle/>
          <a:p>
            <a:pPr algn="ctr">
              <a:lnSpc>
                <a:spcPts val="7000"/>
              </a:lnSpc>
              <a:spcBef>
                <a:spcPct val="0"/>
              </a:spcBef>
            </a:pPr>
            <a:r>
              <a:rPr lang="en-US" sz="5000" b="1">
                <a:solidFill>
                  <a:srgbClr val="2F748E"/>
                </a:solidFill>
                <a:latin typeface="Canva Sans Bold"/>
                <a:ea typeface="Canva Sans Bold"/>
                <a:cs typeface="Canva Sans Bold"/>
                <a:sym typeface="Canva Sans Bold"/>
              </a:rPr>
              <a:t>Analyze These Emails</a:t>
            </a:r>
          </a:p>
        </p:txBody>
      </p:sp>
      <p:sp>
        <p:nvSpPr>
          <p:cNvPr id="9" name="Freeform 9"/>
          <p:cNvSpPr/>
          <p:nvPr/>
        </p:nvSpPr>
        <p:spPr>
          <a:xfrm>
            <a:off x="1784803" y="6345238"/>
            <a:ext cx="3712025" cy="3020660"/>
          </a:xfrm>
          <a:custGeom>
            <a:avLst/>
            <a:gdLst/>
            <a:ahLst/>
            <a:cxnLst/>
            <a:rect l="l" t="t" r="r" b="b"/>
            <a:pathLst>
              <a:path w="3712025" h="3020660">
                <a:moveTo>
                  <a:pt x="0" y="0"/>
                </a:moveTo>
                <a:lnTo>
                  <a:pt x="3712025" y="0"/>
                </a:lnTo>
                <a:lnTo>
                  <a:pt x="3712025" y="3020660"/>
                </a:lnTo>
                <a:lnTo>
                  <a:pt x="0" y="302066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0" name="TextBox 10"/>
          <p:cNvSpPr txBox="1"/>
          <p:nvPr/>
        </p:nvSpPr>
        <p:spPr>
          <a:xfrm>
            <a:off x="2395460" y="6857030"/>
            <a:ext cx="2131846" cy="1901825"/>
          </a:xfrm>
          <a:prstGeom prst="rect">
            <a:avLst/>
          </a:prstGeom>
        </p:spPr>
        <p:txBody>
          <a:bodyPr lIns="0" tIns="0" rIns="0" bIns="0" rtlCol="0" anchor="t">
            <a:spAutoFit/>
          </a:bodyPr>
          <a:lstStyle/>
          <a:p>
            <a:pPr algn="ctr">
              <a:lnSpc>
                <a:spcPts val="3774"/>
              </a:lnSpc>
            </a:pPr>
            <a:r>
              <a:rPr lang="en-US" sz="2499" b="1">
                <a:solidFill>
                  <a:srgbClr val="020202"/>
                </a:solidFill>
                <a:latin typeface="Poppins Bold"/>
                <a:ea typeface="Poppins Bold"/>
                <a:cs typeface="Poppins Bold"/>
                <a:sym typeface="Poppins Bold"/>
              </a:rPr>
              <a:t>List 5 differences between Email 1 and 2</a:t>
            </a:r>
          </a:p>
        </p:txBody>
      </p:sp>
      <p:sp>
        <p:nvSpPr>
          <p:cNvPr id="11" name="TextBox 11"/>
          <p:cNvSpPr txBox="1"/>
          <p:nvPr/>
        </p:nvSpPr>
        <p:spPr>
          <a:xfrm>
            <a:off x="2873647" y="2785146"/>
            <a:ext cx="2760827" cy="622227"/>
          </a:xfrm>
          <a:prstGeom prst="rect">
            <a:avLst/>
          </a:prstGeom>
        </p:spPr>
        <p:txBody>
          <a:bodyPr lIns="0" tIns="0" rIns="0" bIns="0" rtlCol="0" anchor="t">
            <a:spAutoFit/>
          </a:bodyPr>
          <a:lstStyle/>
          <a:p>
            <a:pPr algn="just">
              <a:lnSpc>
                <a:spcPts val="4998"/>
              </a:lnSpc>
            </a:pPr>
            <a:r>
              <a:rPr lang="en-US" sz="3309" b="1">
                <a:solidFill>
                  <a:srgbClr val="2F748E"/>
                </a:solidFill>
                <a:latin typeface="Poppins Bold"/>
                <a:ea typeface="Poppins Bold"/>
                <a:cs typeface="Poppins Bold"/>
                <a:sym typeface="Poppins Bold"/>
              </a:rPr>
              <a:t>Email 1</a:t>
            </a:r>
          </a:p>
        </p:txBody>
      </p:sp>
      <p:sp>
        <p:nvSpPr>
          <p:cNvPr id="12" name="TextBox 12"/>
          <p:cNvSpPr txBox="1"/>
          <p:nvPr/>
        </p:nvSpPr>
        <p:spPr>
          <a:xfrm>
            <a:off x="9107481" y="2773182"/>
            <a:ext cx="2943185" cy="634191"/>
          </a:xfrm>
          <a:prstGeom prst="rect">
            <a:avLst/>
          </a:prstGeom>
        </p:spPr>
        <p:txBody>
          <a:bodyPr lIns="0" tIns="0" rIns="0" bIns="0" rtlCol="0" anchor="t">
            <a:spAutoFit/>
          </a:bodyPr>
          <a:lstStyle/>
          <a:p>
            <a:pPr algn="just">
              <a:lnSpc>
                <a:spcPts val="5004"/>
              </a:lnSpc>
            </a:pPr>
            <a:r>
              <a:rPr lang="en-US" sz="3313" b="1">
                <a:solidFill>
                  <a:srgbClr val="2F748E"/>
                </a:solidFill>
                <a:latin typeface="Poppins Bold"/>
                <a:ea typeface="Poppins Bold"/>
                <a:cs typeface="Poppins Bold"/>
                <a:sym typeface="Poppins Bold"/>
              </a:rPr>
              <a:t>Email 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645869" y="1416388"/>
            <a:ext cx="10811577" cy="863633"/>
          </a:xfrm>
          <a:prstGeom prst="rect">
            <a:avLst/>
          </a:prstGeom>
        </p:spPr>
        <p:txBody>
          <a:bodyPr lIns="0" tIns="0" rIns="0" bIns="0" rtlCol="0" anchor="t">
            <a:spAutoFit/>
          </a:bodyPr>
          <a:lstStyle/>
          <a:p>
            <a:pPr algn="ctr">
              <a:lnSpc>
                <a:spcPts val="7000"/>
              </a:lnSpc>
              <a:spcBef>
                <a:spcPct val="0"/>
              </a:spcBef>
            </a:pPr>
            <a:r>
              <a:rPr lang="en-US" sz="5000" b="1">
                <a:solidFill>
                  <a:srgbClr val="2F748E"/>
                </a:solidFill>
                <a:latin typeface="Canva Sans Bold"/>
                <a:ea typeface="Canva Sans Bold"/>
                <a:cs typeface="Canva Sans Bold"/>
                <a:sym typeface="Canva Sans Bold"/>
              </a:rPr>
              <a:t>Analyze These Emails</a:t>
            </a:r>
          </a:p>
        </p:txBody>
      </p:sp>
      <p:sp>
        <p:nvSpPr>
          <p:cNvPr id="4" name="Freeform 4"/>
          <p:cNvSpPr/>
          <p:nvPr/>
        </p:nvSpPr>
        <p:spPr>
          <a:xfrm>
            <a:off x="1812740" y="3409821"/>
            <a:ext cx="5605265" cy="4561285"/>
          </a:xfrm>
          <a:custGeom>
            <a:avLst/>
            <a:gdLst/>
            <a:ahLst/>
            <a:cxnLst/>
            <a:rect l="l" t="t" r="r" b="b"/>
            <a:pathLst>
              <a:path w="5605265" h="4561285">
                <a:moveTo>
                  <a:pt x="0" y="0"/>
                </a:moveTo>
                <a:lnTo>
                  <a:pt x="5605266" y="0"/>
                </a:lnTo>
                <a:lnTo>
                  <a:pt x="5605266" y="4561285"/>
                </a:lnTo>
                <a:lnTo>
                  <a:pt x="0" y="45612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2712071" y="4160312"/>
            <a:ext cx="3139628" cy="2812993"/>
          </a:xfrm>
          <a:prstGeom prst="rect">
            <a:avLst/>
          </a:prstGeom>
        </p:spPr>
        <p:txBody>
          <a:bodyPr lIns="0" tIns="0" rIns="0" bIns="0" rtlCol="0" anchor="t">
            <a:spAutoFit/>
          </a:bodyPr>
          <a:lstStyle/>
          <a:p>
            <a:pPr algn="ctr">
              <a:lnSpc>
                <a:spcPts val="5559"/>
              </a:lnSpc>
            </a:pPr>
            <a:r>
              <a:rPr lang="en-US" sz="3681" b="1">
                <a:solidFill>
                  <a:srgbClr val="020202"/>
                </a:solidFill>
                <a:latin typeface="Poppins Bold"/>
                <a:ea typeface="Poppins Bold"/>
                <a:cs typeface="Poppins Bold"/>
                <a:sym typeface="Poppins Bold"/>
              </a:rPr>
              <a:t>List 5 differences between Email 1 and 2</a:t>
            </a:r>
          </a:p>
        </p:txBody>
      </p:sp>
      <p:sp>
        <p:nvSpPr>
          <p:cNvPr id="6" name="TextBox 6"/>
          <p:cNvSpPr txBox="1"/>
          <p:nvPr/>
        </p:nvSpPr>
        <p:spPr>
          <a:xfrm>
            <a:off x="8383496" y="3431207"/>
            <a:ext cx="6147901" cy="3887182"/>
          </a:xfrm>
          <a:prstGeom prst="rect">
            <a:avLst/>
          </a:prstGeom>
        </p:spPr>
        <p:txBody>
          <a:bodyPr lIns="0" tIns="0" rIns="0" bIns="0" rtlCol="0" anchor="t">
            <a:spAutoFit/>
          </a:bodyPr>
          <a:lstStyle/>
          <a:p>
            <a:pPr marL="880797" lvl="1" indent="-440398" algn="just">
              <a:lnSpc>
                <a:spcPts val="6160"/>
              </a:lnSpc>
              <a:buAutoNum type="arabicPeriod"/>
            </a:pPr>
            <a:r>
              <a:rPr lang="en-US" sz="4079" b="1">
                <a:solidFill>
                  <a:srgbClr val="020202"/>
                </a:solidFill>
                <a:latin typeface="Poppins Bold"/>
                <a:ea typeface="Poppins Bold"/>
                <a:cs typeface="Poppins Bold"/>
                <a:sym typeface="Poppins Bold"/>
              </a:rPr>
              <a:t>Subject Line</a:t>
            </a:r>
          </a:p>
          <a:p>
            <a:pPr marL="880797" lvl="1" indent="-440398" algn="just">
              <a:lnSpc>
                <a:spcPts val="6160"/>
              </a:lnSpc>
              <a:buAutoNum type="arabicPeriod"/>
            </a:pPr>
            <a:r>
              <a:rPr lang="en-US" sz="4079" b="1">
                <a:solidFill>
                  <a:srgbClr val="020202"/>
                </a:solidFill>
                <a:latin typeface="Poppins Bold"/>
                <a:ea typeface="Poppins Bold"/>
                <a:cs typeface="Poppins Bold"/>
                <a:sym typeface="Poppins Bold"/>
              </a:rPr>
              <a:t>Salutation</a:t>
            </a:r>
          </a:p>
          <a:p>
            <a:pPr marL="880797" lvl="1" indent="-440398" algn="just">
              <a:lnSpc>
                <a:spcPts val="6160"/>
              </a:lnSpc>
              <a:buAutoNum type="arabicPeriod"/>
            </a:pPr>
            <a:r>
              <a:rPr lang="en-US" sz="4079" b="1">
                <a:solidFill>
                  <a:srgbClr val="020202"/>
                </a:solidFill>
                <a:latin typeface="Poppins Bold"/>
                <a:ea typeface="Poppins Bold"/>
                <a:cs typeface="Poppins Bold"/>
                <a:sym typeface="Poppins Bold"/>
              </a:rPr>
              <a:t>Tone</a:t>
            </a:r>
          </a:p>
          <a:p>
            <a:pPr marL="880797" lvl="1" indent="-440398" algn="just">
              <a:lnSpc>
                <a:spcPts val="6160"/>
              </a:lnSpc>
              <a:buAutoNum type="arabicPeriod"/>
            </a:pPr>
            <a:r>
              <a:rPr lang="en-US" sz="4079" b="1">
                <a:solidFill>
                  <a:srgbClr val="020202"/>
                </a:solidFill>
                <a:latin typeface="Poppins Bold"/>
                <a:ea typeface="Poppins Bold"/>
                <a:cs typeface="Poppins Bold"/>
                <a:sym typeface="Poppins Bold"/>
              </a:rPr>
              <a:t>Structure</a:t>
            </a:r>
          </a:p>
          <a:p>
            <a:pPr marL="880797" lvl="1" indent="-440398" algn="just">
              <a:lnSpc>
                <a:spcPts val="6160"/>
              </a:lnSpc>
              <a:buAutoNum type="arabicPeriod"/>
            </a:pPr>
            <a:r>
              <a:rPr lang="en-US" sz="4079" b="1">
                <a:solidFill>
                  <a:srgbClr val="020202"/>
                </a:solidFill>
                <a:latin typeface="Poppins Bold"/>
                <a:ea typeface="Poppins Bold"/>
                <a:cs typeface="Poppins Bold"/>
                <a:sym typeface="Poppins Bold"/>
              </a:rPr>
              <a:t>Professionalism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585148" y="3117120"/>
            <a:ext cx="14105499" cy="5452604"/>
          </a:xfrm>
          <a:prstGeom prst="rect">
            <a:avLst/>
          </a:prstGeom>
        </p:spPr>
        <p:txBody>
          <a:bodyPr lIns="0" tIns="0" rIns="0" bIns="0" rtlCol="0" anchor="t">
            <a:spAutoFit/>
          </a:bodyPr>
          <a:lstStyle/>
          <a:p>
            <a:pPr algn="l">
              <a:lnSpc>
                <a:spcPts val="5474"/>
              </a:lnSpc>
            </a:pPr>
            <a:r>
              <a:rPr lang="en-US" sz="3910" b="1">
                <a:solidFill>
                  <a:srgbClr val="000000"/>
                </a:solidFill>
                <a:latin typeface="Canva Sans Bold"/>
                <a:ea typeface="Canva Sans Bold"/>
                <a:cs typeface="Canva Sans Bold"/>
                <a:sym typeface="Canva Sans Bold"/>
              </a:rPr>
              <a:t>Why Professional Emails Matter?</a:t>
            </a:r>
          </a:p>
          <a:p>
            <a:pPr algn="l">
              <a:lnSpc>
                <a:spcPts val="5474"/>
              </a:lnSpc>
            </a:pPr>
            <a:endParaRPr lang="en-US" sz="3910" b="1">
              <a:solidFill>
                <a:srgbClr val="000000"/>
              </a:solidFill>
              <a:latin typeface="Canva Sans Bold"/>
              <a:ea typeface="Canva Sans Bold"/>
              <a:cs typeface="Canva Sans Bold"/>
              <a:sym typeface="Canva Sans Bold"/>
            </a:endParaRPr>
          </a:p>
          <a:p>
            <a:pPr marL="844304" lvl="1" indent="-422152" algn="l">
              <a:lnSpc>
                <a:spcPts val="5474"/>
              </a:lnSpc>
              <a:spcBef>
                <a:spcPct val="0"/>
              </a:spcBef>
              <a:buFont typeface="Arial"/>
              <a:buChar char="•"/>
            </a:pPr>
            <a:r>
              <a:rPr lang="en-US" sz="3910">
                <a:solidFill>
                  <a:srgbClr val="000000"/>
                </a:solidFill>
                <a:latin typeface="Canva Sans"/>
                <a:ea typeface="Canva Sans"/>
                <a:cs typeface="Canva Sans"/>
                <a:sym typeface="Canva Sans"/>
              </a:rPr>
              <a:t>Clear subject lines set expectations and save time</a:t>
            </a:r>
          </a:p>
          <a:p>
            <a:pPr marL="844304" lvl="1" indent="-422152" algn="l">
              <a:lnSpc>
                <a:spcPts val="5474"/>
              </a:lnSpc>
              <a:spcBef>
                <a:spcPct val="0"/>
              </a:spcBef>
              <a:buFont typeface="Arial"/>
              <a:buChar char="•"/>
            </a:pPr>
            <a:r>
              <a:rPr lang="en-US" sz="3910">
                <a:solidFill>
                  <a:srgbClr val="000000"/>
                </a:solidFill>
                <a:latin typeface="Canva Sans"/>
                <a:ea typeface="Canva Sans"/>
                <a:cs typeface="Canva Sans"/>
                <a:sym typeface="Canva Sans"/>
              </a:rPr>
              <a:t>Polite openings build rapport and respect</a:t>
            </a:r>
          </a:p>
          <a:p>
            <a:pPr marL="844304" lvl="1" indent="-422152" algn="l">
              <a:lnSpc>
                <a:spcPts val="5474"/>
              </a:lnSpc>
              <a:spcBef>
                <a:spcPct val="0"/>
              </a:spcBef>
              <a:buFont typeface="Arial"/>
              <a:buChar char="•"/>
            </a:pPr>
            <a:r>
              <a:rPr lang="en-US" sz="3910">
                <a:solidFill>
                  <a:srgbClr val="000000"/>
                </a:solidFill>
                <a:latin typeface="Canva Sans"/>
                <a:ea typeface="Canva Sans"/>
                <a:cs typeface="Canva Sans"/>
                <a:sym typeface="Canva Sans"/>
              </a:rPr>
              <a:t>Context clarity avoids confusion and follow-ups</a:t>
            </a:r>
          </a:p>
          <a:p>
            <a:pPr marL="844304" lvl="1" indent="-422152" algn="l">
              <a:lnSpc>
                <a:spcPts val="5474"/>
              </a:lnSpc>
              <a:spcBef>
                <a:spcPct val="0"/>
              </a:spcBef>
              <a:buFont typeface="Arial"/>
              <a:buChar char="•"/>
            </a:pPr>
            <a:r>
              <a:rPr lang="en-US" sz="3910">
                <a:solidFill>
                  <a:srgbClr val="000000"/>
                </a:solidFill>
                <a:latin typeface="Canva Sans"/>
                <a:ea typeface="Canva Sans"/>
                <a:cs typeface="Canva Sans"/>
                <a:sym typeface="Canva Sans"/>
              </a:rPr>
              <a:t>Specific deadlines drive accountability</a:t>
            </a:r>
          </a:p>
          <a:p>
            <a:pPr marL="844304" lvl="1" indent="-422152" algn="l">
              <a:lnSpc>
                <a:spcPts val="5474"/>
              </a:lnSpc>
              <a:spcBef>
                <a:spcPct val="0"/>
              </a:spcBef>
              <a:buFont typeface="Arial"/>
              <a:buChar char="•"/>
            </a:pPr>
            <a:r>
              <a:rPr lang="en-US" sz="3910">
                <a:solidFill>
                  <a:srgbClr val="000000"/>
                </a:solidFill>
                <a:latin typeface="Canva Sans"/>
                <a:ea typeface="Canva Sans"/>
                <a:cs typeface="Canva Sans"/>
                <a:sym typeface="Canva Sans"/>
              </a:rPr>
              <a:t>Supportive language reflects collaboration</a:t>
            </a:r>
          </a:p>
          <a:p>
            <a:pPr marL="844304" lvl="1" indent="-422152" algn="l">
              <a:lnSpc>
                <a:spcPts val="5474"/>
              </a:lnSpc>
              <a:spcBef>
                <a:spcPct val="0"/>
              </a:spcBef>
              <a:buFont typeface="Arial"/>
              <a:buChar char="•"/>
            </a:pPr>
            <a:r>
              <a:rPr lang="en-US" sz="3910">
                <a:solidFill>
                  <a:srgbClr val="000000"/>
                </a:solidFill>
                <a:latin typeface="Canva Sans"/>
                <a:ea typeface="Canva Sans"/>
                <a:cs typeface="Canva Sans"/>
                <a:sym typeface="Canva Sans"/>
              </a:rPr>
              <a:t>Professional closing reinforces credibility</a:t>
            </a:r>
          </a:p>
        </p:txBody>
      </p:sp>
      <p:sp>
        <p:nvSpPr>
          <p:cNvPr id="4" name="TextBox 4"/>
          <p:cNvSpPr txBox="1"/>
          <p:nvPr/>
        </p:nvSpPr>
        <p:spPr>
          <a:xfrm>
            <a:off x="1585148" y="1416388"/>
            <a:ext cx="3748852" cy="863600"/>
          </a:xfrm>
          <a:prstGeom prst="rect">
            <a:avLst/>
          </a:prstGeom>
        </p:spPr>
        <p:txBody>
          <a:bodyPr wrap="square" lIns="0" tIns="0" rIns="0" bIns="0" rtlCol="0" anchor="t">
            <a:spAutoFit/>
          </a:bodyPr>
          <a:lstStyle/>
          <a:p>
            <a:pPr>
              <a:lnSpc>
                <a:spcPts val="7000"/>
              </a:lnSpc>
              <a:spcBef>
                <a:spcPct val="0"/>
              </a:spcBef>
            </a:pPr>
            <a:r>
              <a:rPr lang="en-US" sz="5000" b="1">
                <a:solidFill>
                  <a:srgbClr val="2F748E"/>
                </a:solidFill>
                <a:latin typeface="Canva Sans Bold"/>
                <a:ea typeface="Canva Sans Bold"/>
                <a:cs typeface="Canva Sans Bold"/>
                <a:sym typeface="Canva Sans Bold"/>
              </a:rPr>
              <a:t>Pre-Read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a:off x="1028700" y="1068578"/>
            <a:ext cx="4080678" cy="905169"/>
          </a:xfrm>
          <a:custGeom>
            <a:avLst/>
            <a:gdLst/>
            <a:ahLst/>
            <a:cxnLst/>
            <a:rect l="l" t="t" r="r" b="b"/>
            <a:pathLst>
              <a:path w="4080678" h="905169">
                <a:moveTo>
                  <a:pt x="0" y="0"/>
                </a:moveTo>
                <a:lnTo>
                  <a:pt x="4080678" y="0"/>
                </a:lnTo>
                <a:lnTo>
                  <a:pt x="4080678" y="905169"/>
                </a:lnTo>
                <a:lnTo>
                  <a:pt x="0" y="905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13246627" y="3286426"/>
            <a:ext cx="4012673" cy="631346"/>
          </a:xfrm>
          <a:prstGeom prst="rect">
            <a:avLst/>
          </a:prstGeom>
        </p:spPr>
        <p:txBody>
          <a:bodyPr lIns="0" tIns="0" rIns="0" bIns="0" rtlCol="0" anchor="t">
            <a:spAutoFit/>
          </a:bodyPr>
          <a:lstStyle/>
          <a:p>
            <a:pPr algn="just">
              <a:lnSpc>
                <a:spcPts val="5013"/>
              </a:lnSpc>
            </a:pPr>
            <a:r>
              <a:rPr lang="en-US" sz="3320">
                <a:solidFill>
                  <a:srgbClr val="000000"/>
                </a:solidFill>
                <a:latin typeface="Poppins"/>
                <a:ea typeface="Poppins"/>
                <a:cs typeface="Poppins"/>
                <a:sym typeface="Poppins"/>
              </a:rPr>
              <a:t>17 Minutes Video</a:t>
            </a:r>
          </a:p>
        </p:txBody>
      </p:sp>
      <p:sp>
        <p:nvSpPr>
          <p:cNvPr id="5" name="TextBox 5"/>
          <p:cNvSpPr txBox="1"/>
          <p:nvPr/>
        </p:nvSpPr>
        <p:spPr>
          <a:xfrm>
            <a:off x="1028700" y="4872966"/>
            <a:ext cx="11479180" cy="2472387"/>
          </a:xfrm>
          <a:prstGeom prst="rect">
            <a:avLst/>
          </a:prstGeom>
        </p:spPr>
        <p:txBody>
          <a:bodyPr lIns="0" tIns="0" rIns="0" bIns="0" rtlCol="0" anchor="t">
            <a:spAutoFit/>
          </a:bodyPr>
          <a:lstStyle/>
          <a:p>
            <a:pPr algn="just">
              <a:lnSpc>
                <a:spcPts val="4906"/>
              </a:lnSpc>
            </a:pPr>
            <a:r>
              <a:rPr lang="en-US" sz="3249" b="1">
                <a:solidFill>
                  <a:srgbClr val="000000"/>
                </a:solidFill>
                <a:latin typeface="Poppins Bold"/>
                <a:ea typeface="Poppins Bold"/>
                <a:cs typeface="Poppins Bold"/>
                <a:sym typeface="Poppins Bold"/>
              </a:rPr>
              <a:t>Watch these video on how to write A Professional Email, by not making these common mistakes! Note down the Takeaways, add them to the Assessment Report!</a:t>
            </a:r>
          </a:p>
        </p:txBody>
      </p:sp>
      <p:sp>
        <p:nvSpPr>
          <p:cNvPr id="6" name="TextBox 6"/>
          <p:cNvSpPr txBox="1"/>
          <p:nvPr/>
        </p:nvSpPr>
        <p:spPr>
          <a:xfrm>
            <a:off x="1028841" y="3377597"/>
            <a:ext cx="11479180" cy="563438"/>
          </a:xfrm>
          <a:prstGeom prst="rect">
            <a:avLst/>
          </a:prstGeom>
        </p:spPr>
        <p:txBody>
          <a:bodyPr wrap="square" lIns="0" tIns="0" rIns="0" bIns="0" rtlCol="0" anchor="t">
            <a:spAutoFit/>
          </a:bodyPr>
          <a:lstStyle/>
          <a:p>
            <a:pPr algn="l">
              <a:lnSpc>
                <a:spcPts val="4648"/>
              </a:lnSpc>
              <a:spcBef>
                <a:spcPct val="0"/>
              </a:spcBef>
            </a:pPr>
            <a:r>
              <a:rPr lang="en-US" sz="3320" u="sng">
                <a:solidFill>
                  <a:srgbClr val="000000"/>
                </a:solidFill>
                <a:latin typeface="Canva Sans"/>
                <a:ea typeface="Canva Sans"/>
                <a:cs typeface="Canva Sans"/>
                <a:sym typeface="Canva Sans"/>
                <a:hlinkClick r:id="rId5" tooltip="https://youtu.be/pIHRGFN-mXI?si=HPqqNKnrWTP2Nsff"/>
              </a:rPr>
              <a:t>https://youtu.be/pIHRGFN-mXI?si=HPqqNKnrWTP2Nsff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585148" y="2941260"/>
            <a:ext cx="6943420" cy="6242927"/>
          </a:xfrm>
          <a:prstGeom prst="rect">
            <a:avLst/>
          </a:prstGeom>
        </p:spPr>
        <p:txBody>
          <a:bodyPr lIns="0" tIns="0" rIns="0" bIns="0" rtlCol="0" anchor="t">
            <a:spAutoFit/>
          </a:bodyPr>
          <a:lstStyle/>
          <a:p>
            <a:pPr algn="l">
              <a:lnSpc>
                <a:spcPts val="4919"/>
              </a:lnSpc>
              <a:spcBef>
                <a:spcPct val="0"/>
              </a:spcBef>
            </a:pPr>
            <a:r>
              <a:rPr lang="en-US" sz="3513" b="1">
                <a:solidFill>
                  <a:srgbClr val="000000"/>
                </a:solidFill>
                <a:latin typeface="Canva Sans Bold"/>
                <a:ea typeface="Canva Sans Bold"/>
                <a:cs typeface="Canva Sans Bold"/>
                <a:sym typeface="Canva Sans Bold"/>
              </a:rPr>
              <a:t>What is an Escalation Email?</a:t>
            </a:r>
          </a:p>
          <a:p>
            <a:pPr algn="l">
              <a:lnSpc>
                <a:spcPts val="4919"/>
              </a:lnSpc>
              <a:spcBef>
                <a:spcPct val="0"/>
              </a:spcBef>
            </a:pPr>
            <a:endParaRPr lang="en-US" sz="3513" b="1">
              <a:solidFill>
                <a:srgbClr val="000000"/>
              </a:solidFill>
              <a:latin typeface="Canva Sans Bold"/>
              <a:ea typeface="Canva Sans Bold"/>
              <a:cs typeface="Canva Sans Bold"/>
              <a:sym typeface="Canva Sans Bold"/>
            </a:endParaRPr>
          </a:p>
          <a:p>
            <a:pPr algn="l">
              <a:lnSpc>
                <a:spcPts val="4919"/>
              </a:lnSpc>
              <a:spcBef>
                <a:spcPct val="0"/>
              </a:spcBef>
            </a:pPr>
            <a:r>
              <a:rPr lang="en-US" sz="3513">
                <a:solidFill>
                  <a:srgbClr val="000000"/>
                </a:solidFill>
                <a:latin typeface="Canva Sans"/>
                <a:ea typeface="Canva Sans"/>
                <a:cs typeface="Canva Sans"/>
                <a:sym typeface="Canva Sans"/>
              </a:rPr>
              <a:t>An escalation email is a professional communication used to:</a:t>
            </a:r>
          </a:p>
          <a:p>
            <a:pPr marL="758633" lvl="1" indent="-379317" algn="l">
              <a:lnSpc>
                <a:spcPts val="4919"/>
              </a:lnSpc>
              <a:spcBef>
                <a:spcPct val="0"/>
              </a:spcBef>
              <a:buFont typeface="Arial"/>
              <a:buChar char="•"/>
            </a:pPr>
            <a:r>
              <a:rPr lang="en-US" sz="3513">
                <a:solidFill>
                  <a:srgbClr val="000000"/>
                </a:solidFill>
                <a:latin typeface="Canva Sans"/>
                <a:ea typeface="Canva Sans"/>
                <a:cs typeface="Canva Sans"/>
                <a:sym typeface="Canva Sans"/>
              </a:rPr>
              <a:t>Highlight critical technical issues</a:t>
            </a:r>
          </a:p>
          <a:p>
            <a:pPr marL="758633" lvl="1" indent="-379317" algn="l">
              <a:lnSpc>
                <a:spcPts val="4919"/>
              </a:lnSpc>
              <a:spcBef>
                <a:spcPct val="0"/>
              </a:spcBef>
              <a:buFont typeface="Arial"/>
              <a:buChar char="•"/>
            </a:pPr>
            <a:r>
              <a:rPr lang="en-US" sz="3513">
                <a:solidFill>
                  <a:srgbClr val="000000"/>
                </a:solidFill>
                <a:latin typeface="Canva Sans"/>
                <a:ea typeface="Canva Sans"/>
                <a:cs typeface="Canva Sans"/>
                <a:sym typeface="Canva Sans"/>
              </a:rPr>
              <a:t>Seek urgent attention or decision</a:t>
            </a:r>
          </a:p>
          <a:p>
            <a:pPr marL="758633" lvl="1" indent="-379317" algn="l">
              <a:lnSpc>
                <a:spcPts val="4919"/>
              </a:lnSpc>
              <a:spcBef>
                <a:spcPct val="0"/>
              </a:spcBef>
              <a:buFont typeface="Arial"/>
              <a:buChar char="•"/>
            </a:pPr>
            <a:r>
              <a:rPr lang="en-US" sz="3513">
                <a:solidFill>
                  <a:srgbClr val="000000"/>
                </a:solidFill>
                <a:latin typeface="Canva Sans"/>
                <a:ea typeface="Canva Sans"/>
                <a:cs typeface="Canva Sans"/>
                <a:sym typeface="Canva Sans"/>
              </a:rPr>
              <a:t>Minimize business impact</a:t>
            </a:r>
          </a:p>
        </p:txBody>
      </p:sp>
      <p:sp>
        <p:nvSpPr>
          <p:cNvPr id="4" name="TextBox 4"/>
          <p:cNvSpPr txBox="1"/>
          <p:nvPr/>
        </p:nvSpPr>
        <p:spPr>
          <a:xfrm>
            <a:off x="1585148" y="1416388"/>
            <a:ext cx="7488142" cy="863633"/>
          </a:xfrm>
          <a:prstGeom prst="rect">
            <a:avLst/>
          </a:prstGeom>
        </p:spPr>
        <p:txBody>
          <a:bodyPr wrap="square" lIns="0" tIns="0" rIns="0" bIns="0" rtlCol="0" anchor="t">
            <a:spAutoFit/>
          </a:bodyPr>
          <a:lstStyle/>
          <a:p>
            <a:pPr>
              <a:lnSpc>
                <a:spcPts val="7000"/>
              </a:lnSpc>
              <a:spcBef>
                <a:spcPct val="0"/>
              </a:spcBef>
            </a:pPr>
            <a:r>
              <a:rPr lang="en-US" sz="5000" b="1">
                <a:solidFill>
                  <a:srgbClr val="2F748E"/>
                </a:solidFill>
                <a:latin typeface="Canva Sans Bold"/>
                <a:ea typeface="Canva Sans Bold"/>
                <a:cs typeface="Canva Sans Bold"/>
                <a:sym typeface="Canva Sans Bold"/>
              </a:rPr>
              <a:t>Escalation Email?</a:t>
            </a:r>
          </a:p>
        </p:txBody>
      </p:sp>
      <p:sp>
        <p:nvSpPr>
          <p:cNvPr id="5" name="TextBox 5"/>
          <p:cNvSpPr txBox="1"/>
          <p:nvPr/>
        </p:nvSpPr>
        <p:spPr>
          <a:xfrm>
            <a:off x="9725025" y="2941260"/>
            <a:ext cx="7689420" cy="6242863"/>
          </a:xfrm>
          <a:prstGeom prst="rect">
            <a:avLst/>
          </a:prstGeom>
        </p:spPr>
        <p:txBody>
          <a:bodyPr wrap="square" lIns="0" tIns="0" rIns="0" bIns="0" rtlCol="0" anchor="t">
            <a:spAutoFit/>
          </a:bodyPr>
          <a:lstStyle/>
          <a:p>
            <a:pPr algn="l">
              <a:lnSpc>
                <a:spcPts val="4913"/>
              </a:lnSpc>
            </a:pPr>
            <a:r>
              <a:rPr lang="en-US" sz="3509" b="1">
                <a:solidFill>
                  <a:srgbClr val="000000"/>
                </a:solidFill>
                <a:latin typeface="Canva Sans Bold"/>
                <a:ea typeface="Canva Sans Bold"/>
                <a:cs typeface="Canva Sans Bold"/>
                <a:sym typeface="Canva Sans Bold"/>
              </a:rPr>
              <a:t>When to Escalate a Technical Issue</a:t>
            </a:r>
          </a:p>
          <a:p>
            <a:pPr algn="l">
              <a:lnSpc>
                <a:spcPts val="4913"/>
              </a:lnSpc>
            </a:pPr>
            <a:endParaRPr lang="en-US" sz="3509" b="1">
              <a:solidFill>
                <a:srgbClr val="000000"/>
              </a:solidFill>
              <a:latin typeface="Canva Sans Bold"/>
              <a:ea typeface="Canva Sans Bold"/>
              <a:cs typeface="Canva Sans Bold"/>
              <a:sym typeface="Canva Sans Bold"/>
            </a:endParaRPr>
          </a:p>
          <a:p>
            <a:pPr marL="757809" lvl="1" indent="-378904" algn="l">
              <a:lnSpc>
                <a:spcPts val="4913"/>
              </a:lnSpc>
              <a:spcBef>
                <a:spcPct val="0"/>
              </a:spcBef>
              <a:buFont typeface="Arial"/>
              <a:buChar char="•"/>
            </a:pPr>
            <a:r>
              <a:rPr lang="en-US" sz="3509">
                <a:solidFill>
                  <a:srgbClr val="000000"/>
                </a:solidFill>
                <a:latin typeface="Canva Sans"/>
                <a:ea typeface="Canva Sans"/>
                <a:cs typeface="Canva Sans"/>
                <a:sym typeface="Canva Sans"/>
              </a:rPr>
              <a:t>Issue impacts production / business operations</a:t>
            </a:r>
          </a:p>
          <a:p>
            <a:pPr marL="757809" lvl="1" indent="-378904" algn="l">
              <a:lnSpc>
                <a:spcPts val="4913"/>
              </a:lnSpc>
              <a:spcBef>
                <a:spcPct val="0"/>
              </a:spcBef>
              <a:buFont typeface="Arial"/>
              <a:buChar char="•"/>
            </a:pPr>
            <a:r>
              <a:rPr lang="en-US" sz="3509">
                <a:solidFill>
                  <a:srgbClr val="000000"/>
                </a:solidFill>
                <a:latin typeface="Canva Sans"/>
                <a:ea typeface="Canva Sans"/>
                <a:cs typeface="Canva Sans"/>
                <a:sym typeface="Canva Sans"/>
              </a:rPr>
              <a:t>SLA or deadline is at risk</a:t>
            </a:r>
          </a:p>
          <a:p>
            <a:pPr marL="757809" lvl="1" indent="-378904" algn="l">
              <a:lnSpc>
                <a:spcPts val="4913"/>
              </a:lnSpc>
              <a:spcBef>
                <a:spcPct val="0"/>
              </a:spcBef>
              <a:buFont typeface="Arial"/>
              <a:buChar char="•"/>
            </a:pPr>
            <a:r>
              <a:rPr lang="en-US" sz="3509">
                <a:solidFill>
                  <a:srgbClr val="000000"/>
                </a:solidFill>
                <a:latin typeface="Canva Sans"/>
                <a:ea typeface="Canva Sans"/>
                <a:cs typeface="Canva Sans"/>
                <a:sym typeface="Canva Sans"/>
              </a:rPr>
              <a:t>Issue is blocked or unresolved</a:t>
            </a:r>
          </a:p>
          <a:p>
            <a:pPr marL="757809" lvl="1" indent="-378904" algn="l">
              <a:lnSpc>
                <a:spcPts val="4913"/>
              </a:lnSpc>
              <a:spcBef>
                <a:spcPct val="0"/>
              </a:spcBef>
              <a:buFont typeface="Arial"/>
              <a:buChar char="•"/>
            </a:pPr>
            <a:r>
              <a:rPr lang="en-US" sz="3509">
                <a:solidFill>
                  <a:srgbClr val="000000"/>
                </a:solidFill>
                <a:latin typeface="Canva Sans"/>
                <a:ea typeface="Canva Sans"/>
                <a:cs typeface="Canva Sans"/>
                <a:sym typeface="Canva Sans"/>
              </a:rPr>
              <a:t>Customer / management visibility is required</a:t>
            </a:r>
          </a:p>
          <a:p>
            <a:pPr marL="757809" lvl="1" indent="-378904" algn="l">
              <a:lnSpc>
                <a:spcPts val="4913"/>
              </a:lnSpc>
              <a:spcBef>
                <a:spcPct val="0"/>
              </a:spcBef>
              <a:buFont typeface="Arial"/>
              <a:buChar char="•"/>
            </a:pPr>
            <a:r>
              <a:rPr lang="en-US" sz="3509">
                <a:solidFill>
                  <a:srgbClr val="000000"/>
                </a:solidFill>
                <a:latin typeface="Canva Sans"/>
                <a:ea typeface="Canva Sans"/>
                <a:cs typeface="Canva Sans"/>
                <a:sym typeface="Canva Sans"/>
              </a:rPr>
              <a:t>Dependency failure affecting deliverables</a:t>
            </a:r>
          </a:p>
        </p:txBody>
      </p:sp>
      <p:sp>
        <p:nvSpPr>
          <p:cNvPr id="6" name="Freeform 6"/>
          <p:cNvSpPr/>
          <p:nvPr/>
        </p:nvSpPr>
        <p:spPr>
          <a:xfrm>
            <a:off x="9108645" y="2833083"/>
            <a:ext cx="35355" cy="7070925"/>
          </a:xfrm>
          <a:custGeom>
            <a:avLst/>
            <a:gdLst/>
            <a:ahLst/>
            <a:cxnLst/>
            <a:rect l="l" t="t" r="r" b="b"/>
            <a:pathLst>
              <a:path w="35355" h="7070925">
                <a:moveTo>
                  <a:pt x="0" y="0"/>
                </a:moveTo>
                <a:lnTo>
                  <a:pt x="35355" y="0"/>
                </a:lnTo>
                <a:lnTo>
                  <a:pt x="35355" y="7070925"/>
                </a:lnTo>
                <a:lnTo>
                  <a:pt x="0" y="70709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a:off x="8945535" y="2840234"/>
            <a:ext cx="32177" cy="6435332"/>
          </a:xfrm>
          <a:custGeom>
            <a:avLst/>
            <a:gdLst/>
            <a:ahLst/>
            <a:cxnLst/>
            <a:rect l="l" t="t" r="r" b="b"/>
            <a:pathLst>
              <a:path w="32177" h="6435332">
                <a:moveTo>
                  <a:pt x="0" y="0"/>
                </a:moveTo>
                <a:lnTo>
                  <a:pt x="32177" y="0"/>
                </a:lnTo>
                <a:lnTo>
                  <a:pt x="32177" y="6435332"/>
                </a:lnTo>
                <a:lnTo>
                  <a:pt x="0" y="64353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2680092" y="3018915"/>
            <a:ext cx="876191" cy="943409"/>
          </a:xfrm>
          <a:custGeom>
            <a:avLst/>
            <a:gdLst/>
            <a:ahLst/>
            <a:cxnLst/>
            <a:rect l="l" t="t" r="r" b="b"/>
            <a:pathLst>
              <a:path w="876191" h="943409">
                <a:moveTo>
                  <a:pt x="0" y="0"/>
                </a:moveTo>
                <a:lnTo>
                  <a:pt x="876191" y="0"/>
                </a:lnTo>
                <a:lnTo>
                  <a:pt x="876191" y="943409"/>
                </a:lnTo>
                <a:lnTo>
                  <a:pt x="0" y="9434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TextBox 5"/>
          <p:cNvSpPr txBox="1"/>
          <p:nvPr/>
        </p:nvSpPr>
        <p:spPr>
          <a:xfrm>
            <a:off x="1594261" y="4333243"/>
            <a:ext cx="7005588" cy="3996690"/>
          </a:xfrm>
          <a:prstGeom prst="rect">
            <a:avLst/>
          </a:prstGeom>
        </p:spPr>
        <p:txBody>
          <a:bodyPr lIns="0" tIns="0" rIns="0" bIns="0" rtlCol="0" anchor="t">
            <a:spAutoFit/>
          </a:bodyPr>
          <a:lstStyle/>
          <a:p>
            <a:pPr algn="l">
              <a:lnSpc>
                <a:spcPts val="4530"/>
              </a:lnSpc>
            </a:pPr>
            <a:r>
              <a:rPr lang="en-US" sz="3000">
                <a:solidFill>
                  <a:srgbClr val="000000"/>
                </a:solidFill>
                <a:latin typeface="Poppins"/>
                <a:ea typeface="Poppins"/>
                <a:cs typeface="Poppins"/>
                <a:sym typeface="Poppins"/>
              </a:rPr>
              <a:t>❌ Don’ts</a:t>
            </a:r>
          </a:p>
          <a:p>
            <a:pPr marL="647700" lvl="1" indent="-323850" algn="l">
              <a:lnSpc>
                <a:spcPts val="4530"/>
              </a:lnSpc>
              <a:buFont typeface="Arial"/>
              <a:buChar char="•"/>
            </a:pPr>
            <a:r>
              <a:rPr lang="en-US" sz="3000">
                <a:solidFill>
                  <a:srgbClr val="000000"/>
                </a:solidFill>
                <a:latin typeface="Poppins"/>
                <a:ea typeface="Poppins"/>
                <a:cs typeface="Poppins"/>
                <a:sym typeface="Poppins"/>
              </a:rPr>
              <a:t>Use emotional or aggressive language</a:t>
            </a:r>
          </a:p>
          <a:p>
            <a:pPr marL="647700" lvl="1" indent="-323850" algn="l">
              <a:lnSpc>
                <a:spcPts val="4530"/>
              </a:lnSpc>
              <a:buFont typeface="Arial"/>
              <a:buChar char="•"/>
            </a:pPr>
            <a:r>
              <a:rPr lang="en-US" sz="3000">
                <a:solidFill>
                  <a:srgbClr val="000000"/>
                </a:solidFill>
                <a:latin typeface="Poppins"/>
                <a:ea typeface="Poppins"/>
                <a:cs typeface="Poppins"/>
                <a:sym typeface="Poppins"/>
              </a:rPr>
              <a:t>Blame individuals or teams</a:t>
            </a:r>
          </a:p>
          <a:p>
            <a:pPr marL="647700" lvl="1" indent="-323850" algn="l">
              <a:lnSpc>
                <a:spcPts val="4530"/>
              </a:lnSpc>
              <a:buFont typeface="Arial"/>
              <a:buChar char="•"/>
            </a:pPr>
            <a:r>
              <a:rPr lang="en-US" sz="3000">
                <a:solidFill>
                  <a:srgbClr val="000000"/>
                </a:solidFill>
                <a:latin typeface="Poppins"/>
                <a:ea typeface="Poppins"/>
                <a:cs typeface="Poppins"/>
                <a:sym typeface="Poppins"/>
              </a:rPr>
              <a:t>Write long technical dumps</a:t>
            </a:r>
          </a:p>
          <a:p>
            <a:pPr marL="647700" lvl="1" indent="-323850" algn="l">
              <a:lnSpc>
                <a:spcPts val="4530"/>
              </a:lnSpc>
              <a:buFont typeface="Arial"/>
              <a:buChar char="•"/>
            </a:pPr>
            <a:r>
              <a:rPr lang="en-US" sz="3000">
                <a:solidFill>
                  <a:srgbClr val="000000"/>
                </a:solidFill>
                <a:latin typeface="Poppins"/>
                <a:ea typeface="Poppins"/>
                <a:cs typeface="Poppins"/>
                <a:sym typeface="Poppins"/>
              </a:rPr>
              <a:t>Escalate without attempting resolution</a:t>
            </a:r>
          </a:p>
        </p:txBody>
      </p:sp>
      <p:sp>
        <p:nvSpPr>
          <p:cNvPr id="6" name="TextBox 6"/>
          <p:cNvSpPr txBox="1"/>
          <p:nvPr/>
        </p:nvSpPr>
        <p:spPr>
          <a:xfrm>
            <a:off x="10867654" y="4333243"/>
            <a:ext cx="5288701" cy="3996690"/>
          </a:xfrm>
          <a:prstGeom prst="rect">
            <a:avLst/>
          </a:prstGeom>
        </p:spPr>
        <p:txBody>
          <a:bodyPr lIns="0" tIns="0" rIns="0" bIns="0" rtlCol="0" anchor="t">
            <a:spAutoFit/>
          </a:bodyPr>
          <a:lstStyle/>
          <a:p>
            <a:pPr algn="l">
              <a:lnSpc>
                <a:spcPts val="4530"/>
              </a:lnSpc>
            </a:pPr>
            <a:r>
              <a:rPr lang="en-US" sz="3000">
                <a:solidFill>
                  <a:srgbClr val="000000"/>
                </a:solidFill>
                <a:latin typeface="Poppins"/>
                <a:ea typeface="Poppins"/>
                <a:cs typeface="Poppins"/>
                <a:sym typeface="Poppins"/>
              </a:rPr>
              <a:t>✅ Do’s</a:t>
            </a:r>
          </a:p>
          <a:p>
            <a:pPr marL="647700" lvl="1" indent="-323850" algn="l">
              <a:lnSpc>
                <a:spcPts val="4530"/>
              </a:lnSpc>
              <a:buFont typeface="Arial"/>
              <a:buChar char="•"/>
            </a:pPr>
            <a:r>
              <a:rPr lang="en-US" sz="3000">
                <a:solidFill>
                  <a:srgbClr val="000000"/>
                </a:solidFill>
                <a:latin typeface="Poppins"/>
                <a:ea typeface="Poppins"/>
                <a:cs typeface="Poppins"/>
                <a:sym typeface="Poppins"/>
              </a:rPr>
              <a:t>Be factual and concise</a:t>
            </a:r>
          </a:p>
          <a:p>
            <a:pPr marL="647700" lvl="1" indent="-323850" algn="l">
              <a:lnSpc>
                <a:spcPts val="4530"/>
              </a:lnSpc>
              <a:buFont typeface="Arial"/>
              <a:buChar char="•"/>
            </a:pPr>
            <a:r>
              <a:rPr lang="en-US" sz="3000">
                <a:solidFill>
                  <a:srgbClr val="000000"/>
                </a:solidFill>
                <a:latin typeface="Poppins"/>
                <a:ea typeface="Poppins"/>
                <a:cs typeface="Poppins"/>
                <a:sym typeface="Poppins"/>
              </a:rPr>
              <a:t>Highlight impact, not blame</a:t>
            </a:r>
          </a:p>
          <a:p>
            <a:pPr marL="647700" lvl="1" indent="-323850" algn="l">
              <a:lnSpc>
                <a:spcPts val="4530"/>
              </a:lnSpc>
              <a:buFont typeface="Arial"/>
              <a:buChar char="•"/>
            </a:pPr>
            <a:r>
              <a:rPr lang="en-US" sz="3000">
                <a:solidFill>
                  <a:srgbClr val="000000"/>
                </a:solidFill>
                <a:latin typeface="Poppins"/>
                <a:ea typeface="Poppins"/>
                <a:cs typeface="Poppins"/>
                <a:sym typeface="Poppins"/>
              </a:rPr>
              <a:t>Maintain professional tone</a:t>
            </a:r>
          </a:p>
          <a:p>
            <a:pPr marL="647700" lvl="1" indent="-323850" algn="l">
              <a:lnSpc>
                <a:spcPts val="4530"/>
              </a:lnSpc>
              <a:buFont typeface="Arial"/>
              <a:buChar char="•"/>
            </a:pPr>
            <a:r>
              <a:rPr lang="en-US" sz="3000">
                <a:solidFill>
                  <a:srgbClr val="000000"/>
                </a:solidFill>
                <a:latin typeface="Poppins"/>
                <a:ea typeface="Poppins"/>
                <a:cs typeface="Poppins"/>
                <a:sym typeface="Poppins"/>
              </a:rPr>
              <a:t>Suggest next steps</a:t>
            </a:r>
          </a:p>
        </p:txBody>
      </p:sp>
      <p:sp>
        <p:nvSpPr>
          <p:cNvPr id="7" name="TextBox 7"/>
          <p:cNvSpPr txBox="1"/>
          <p:nvPr/>
        </p:nvSpPr>
        <p:spPr>
          <a:xfrm>
            <a:off x="1594261" y="1204518"/>
            <a:ext cx="10811577" cy="863633"/>
          </a:xfrm>
          <a:prstGeom prst="rect">
            <a:avLst/>
          </a:prstGeom>
        </p:spPr>
        <p:txBody>
          <a:bodyPr lIns="0" tIns="0" rIns="0" bIns="0" rtlCol="0" anchor="t">
            <a:spAutoFit/>
          </a:bodyPr>
          <a:lstStyle/>
          <a:p>
            <a:pPr algn="l">
              <a:lnSpc>
                <a:spcPts val="7000"/>
              </a:lnSpc>
              <a:spcBef>
                <a:spcPct val="0"/>
              </a:spcBef>
            </a:pPr>
            <a:r>
              <a:rPr lang="en-US" sz="5000" b="1">
                <a:solidFill>
                  <a:srgbClr val="2F748E"/>
                </a:solidFill>
                <a:latin typeface="Canva Sans Bold"/>
                <a:ea typeface="Canva Sans Bold"/>
                <a:cs typeface="Canva Sans Bold"/>
                <a:sym typeface="Canva Sans Bold"/>
              </a:rPr>
              <a:t>Escalation Email?</a:t>
            </a:r>
          </a:p>
        </p:txBody>
      </p:sp>
      <p:sp>
        <p:nvSpPr>
          <p:cNvPr id="8" name="TextBox 8"/>
          <p:cNvSpPr txBox="1"/>
          <p:nvPr/>
        </p:nvSpPr>
        <p:spPr>
          <a:xfrm>
            <a:off x="12712946" y="3134801"/>
            <a:ext cx="2760827" cy="766445"/>
          </a:xfrm>
          <a:prstGeom prst="rect">
            <a:avLst/>
          </a:prstGeom>
        </p:spPr>
        <p:txBody>
          <a:bodyPr lIns="0" tIns="0" rIns="0" bIns="0" rtlCol="0" anchor="t">
            <a:spAutoFit/>
          </a:bodyPr>
          <a:lstStyle/>
          <a:p>
            <a:pPr algn="just">
              <a:lnSpc>
                <a:spcPts val="6039"/>
              </a:lnSpc>
            </a:pPr>
            <a:r>
              <a:rPr lang="en-US" sz="3999" b="1">
                <a:solidFill>
                  <a:srgbClr val="2F748E"/>
                </a:solidFill>
                <a:latin typeface="Poppins Bold"/>
                <a:ea typeface="Poppins Bold"/>
                <a:cs typeface="Poppins Bold"/>
                <a:sym typeface="Poppins Bold"/>
              </a:rPr>
              <a:t>Do’s</a:t>
            </a:r>
          </a:p>
        </p:txBody>
      </p:sp>
      <p:sp>
        <p:nvSpPr>
          <p:cNvPr id="9" name="Freeform 9"/>
          <p:cNvSpPr/>
          <p:nvPr/>
        </p:nvSpPr>
        <p:spPr>
          <a:xfrm>
            <a:off x="14180787" y="2968471"/>
            <a:ext cx="984444" cy="902109"/>
          </a:xfrm>
          <a:custGeom>
            <a:avLst/>
            <a:gdLst/>
            <a:ahLst/>
            <a:cxnLst/>
            <a:rect l="l" t="t" r="r" b="b"/>
            <a:pathLst>
              <a:path w="984444" h="902109">
                <a:moveTo>
                  <a:pt x="0" y="0"/>
                </a:moveTo>
                <a:lnTo>
                  <a:pt x="984444" y="0"/>
                </a:lnTo>
                <a:lnTo>
                  <a:pt x="984444" y="902109"/>
                </a:lnTo>
                <a:lnTo>
                  <a:pt x="0" y="90210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 name="TextBox 10"/>
          <p:cNvSpPr txBox="1"/>
          <p:nvPr/>
        </p:nvSpPr>
        <p:spPr>
          <a:xfrm>
            <a:off x="3980022" y="3134801"/>
            <a:ext cx="3543852" cy="766445"/>
          </a:xfrm>
          <a:prstGeom prst="rect">
            <a:avLst/>
          </a:prstGeom>
        </p:spPr>
        <p:txBody>
          <a:bodyPr lIns="0" tIns="0" rIns="0" bIns="0" rtlCol="0" anchor="t">
            <a:spAutoFit/>
          </a:bodyPr>
          <a:lstStyle/>
          <a:p>
            <a:pPr algn="just">
              <a:lnSpc>
                <a:spcPts val="6039"/>
              </a:lnSpc>
            </a:pPr>
            <a:r>
              <a:rPr lang="en-US" sz="3999" b="1">
                <a:solidFill>
                  <a:srgbClr val="2F748E"/>
                </a:solidFill>
                <a:latin typeface="Poppins Bold"/>
                <a:ea typeface="Poppins Bold"/>
                <a:cs typeface="Poppins Bold"/>
                <a:sym typeface="Poppins Bold"/>
              </a:rPr>
              <a:t>Don’ts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3792560"/>
            <a:ext cx="16230600" cy="5139690"/>
          </a:xfrm>
          <a:prstGeom prst="rect">
            <a:avLst/>
          </a:prstGeom>
        </p:spPr>
        <p:txBody>
          <a:bodyPr lIns="0" tIns="0" rIns="0" bIns="0" rtlCol="0" anchor="t">
            <a:spAutoFit/>
          </a:bodyPr>
          <a:lstStyle/>
          <a:p>
            <a:pPr algn="l">
              <a:lnSpc>
                <a:spcPts val="4530"/>
              </a:lnSpc>
            </a:pPr>
            <a:r>
              <a:rPr lang="en-US" sz="3000" b="1">
                <a:solidFill>
                  <a:srgbClr val="000000"/>
                </a:solidFill>
                <a:latin typeface="Poppins Bold"/>
                <a:ea typeface="Poppins Bold"/>
                <a:cs typeface="Poppins Bold"/>
                <a:sym typeface="Poppins Bold"/>
              </a:rPr>
              <a:t>Objective - </a:t>
            </a:r>
            <a:r>
              <a:rPr lang="en-US" sz="3000">
                <a:solidFill>
                  <a:srgbClr val="000000"/>
                </a:solidFill>
                <a:latin typeface="Poppins"/>
                <a:ea typeface="Poppins"/>
                <a:cs typeface="Poppins"/>
                <a:sym typeface="Poppins"/>
              </a:rPr>
              <a:t>Practice writing a clear and professional technical issue escalation email.</a:t>
            </a:r>
          </a:p>
          <a:p>
            <a:pPr algn="l">
              <a:lnSpc>
                <a:spcPts val="4530"/>
              </a:lnSpc>
            </a:pPr>
            <a:r>
              <a:rPr lang="en-US" sz="3000" b="1">
                <a:solidFill>
                  <a:srgbClr val="000000"/>
                </a:solidFill>
                <a:latin typeface="Poppins Bold"/>
                <a:ea typeface="Poppins Bold"/>
                <a:cs typeface="Poppins Bold"/>
                <a:sym typeface="Poppins Bold"/>
              </a:rPr>
              <a:t>Task -</a:t>
            </a:r>
            <a:r>
              <a:rPr lang="en-US" sz="3000">
                <a:solidFill>
                  <a:srgbClr val="000000"/>
                </a:solidFill>
                <a:latin typeface="Poppins"/>
                <a:ea typeface="Poppins"/>
                <a:cs typeface="Poppins"/>
                <a:sym typeface="Poppins"/>
              </a:rPr>
              <a:t> Draft a technical issue escalation email addressed to Ravi Gupta (Manager). Ensure all the aspects of professional email are covered. (refer to the previous decks)</a:t>
            </a:r>
          </a:p>
          <a:p>
            <a:pPr algn="l">
              <a:lnSpc>
                <a:spcPts val="4530"/>
              </a:lnSpc>
            </a:pPr>
            <a:r>
              <a:rPr lang="en-US" sz="3000" b="1">
                <a:solidFill>
                  <a:srgbClr val="000000"/>
                </a:solidFill>
                <a:latin typeface="Poppins Bold"/>
                <a:ea typeface="Poppins Bold"/>
                <a:cs typeface="Poppins Bold"/>
                <a:sym typeface="Poppins Bold"/>
              </a:rPr>
              <a:t>Scenario:</a:t>
            </a:r>
          </a:p>
          <a:p>
            <a:pPr algn="l">
              <a:lnSpc>
                <a:spcPts val="4530"/>
              </a:lnSpc>
            </a:pPr>
            <a:r>
              <a:rPr lang="en-US" sz="3000">
                <a:solidFill>
                  <a:srgbClr val="000000"/>
                </a:solidFill>
                <a:latin typeface="Poppins"/>
                <a:ea typeface="Poppins"/>
                <a:cs typeface="Poppins"/>
                <a:sym typeface="Poppins"/>
              </a:rPr>
              <a:t>During deployment of the Internship Management Portal, the production deployment failed due to a CI/CD pipeline configuration error, resulting in:</a:t>
            </a:r>
          </a:p>
          <a:p>
            <a:pPr marL="647700" lvl="1" indent="-323850" algn="l">
              <a:lnSpc>
                <a:spcPts val="4530"/>
              </a:lnSpc>
              <a:buFont typeface="Arial"/>
              <a:buChar char="•"/>
            </a:pPr>
            <a:r>
              <a:rPr lang="en-US" sz="3000">
                <a:solidFill>
                  <a:srgbClr val="000000"/>
                </a:solidFill>
                <a:latin typeface="Poppins"/>
                <a:ea typeface="Poppins"/>
                <a:cs typeface="Poppins"/>
                <a:sym typeface="Poppins"/>
              </a:rPr>
              <a:t>Deployment failure</a:t>
            </a:r>
          </a:p>
          <a:p>
            <a:pPr marL="647700" lvl="1" indent="-323850" algn="l">
              <a:lnSpc>
                <a:spcPts val="4530"/>
              </a:lnSpc>
              <a:buFont typeface="Arial"/>
              <a:buChar char="•"/>
            </a:pPr>
            <a:r>
              <a:rPr lang="en-US" sz="3000">
                <a:solidFill>
                  <a:srgbClr val="000000"/>
                </a:solidFill>
                <a:latin typeface="Poppins"/>
                <a:ea typeface="Poppins"/>
                <a:cs typeface="Poppins"/>
                <a:sym typeface="Poppins"/>
              </a:rPr>
              <a:t>Testing and release being blocked</a:t>
            </a:r>
          </a:p>
          <a:p>
            <a:pPr marL="647700" lvl="1" indent="-323850" algn="l">
              <a:lnSpc>
                <a:spcPts val="4530"/>
              </a:lnSpc>
              <a:buFont typeface="Arial"/>
              <a:buChar char="•"/>
            </a:pPr>
            <a:r>
              <a:rPr lang="en-US" sz="3000">
                <a:solidFill>
                  <a:srgbClr val="000000"/>
                </a:solidFill>
                <a:latin typeface="Poppins"/>
                <a:ea typeface="Poppins"/>
                <a:cs typeface="Poppins"/>
                <a:sym typeface="Poppins"/>
              </a:rPr>
              <a:t>Risk of delay in planned timelines</a:t>
            </a:r>
          </a:p>
        </p:txBody>
      </p:sp>
      <p:sp>
        <p:nvSpPr>
          <p:cNvPr id="4" name="Freeform 4"/>
          <p:cNvSpPr/>
          <p:nvPr/>
        </p:nvSpPr>
        <p:spPr>
          <a:xfrm>
            <a:off x="663305" y="383965"/>
            <a:ext cx="2995998" cy="1730189"/>
          </a:xfrm>
          <a:custGeom>
            <a:avLst/>
            <a:gdLst/>
            <a:ahLst/>
            <a:cxnLst/>
            <a:rect l="l" t="t" r="r" b="b"/>
            <a:pathLst>
              <a:path w="2995998" h="1730189">
                <a:moveTo>
                  <a:pt x="0" y="0"/>
                </a:moveTo>
                <a:lnTo>
                  <a:pt x="2995998" y="0"/>
                </a:lnTo>
                <a:lnTo>
                  <a:pt x="2995998" y="1730189"/>
                </a:lnTo>
                <a:lnTo>
                  <a:pt x="0" y="17301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3331690" y="1772420"/>
            <a:ext cx="8281792" cy="1451606"/>
          </a:xfrm>
          <a:prstGeom prst="rect">
            <a:avLst/>
          </a:prstGeom>
        </p:spPr>
        <p:txBody>
          <a:bodyPr lIns="0" tIns="0" rIns="0" bIns="0" rtlCol="0" anchor="t">
            <a:spAutoFit/>
          </a:bodyPr>
          <a:lstStyle/>
          <a:p>
            <a:pPr algn="ctr">
              <a:lnSpc>
                <a:spcPts val="5704"/>
              </a:lnSpc>
            </a:pPr>
            <a:r>
              <a:rPr lang="en-US" sz="3777" b="1">
                <a:solidFill>
                  <a:srgbClr val="0C3645"/>
                </a:solidFill>
                <a:latin typeface="Poppins Bold"/>
                <a:ea typeface="Poppins Bold"/>
                <a:cs typeface="Poppins Bold"/>
                <a:sym typeface="Poppins Bold"/>
              </a:rPr>
              <a:t>Assignment 1: Technical Issue Escalation Email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663305" y="2886529"/>
            <a:ext cx="12631666" cy="1122337"/>
          </a:xfrm>
          <a:prstGeom prst="rect">
            <a:avLst/>
          </a:prstGeom>
        </p:spPr>
        <p:txBody>
          <a:bodyPr lIns="0" tIns="0" rIns="0" bIns="0" rtlCol="0" anchor="t">
            <a:spAutoFit/>
          </a:bodyPr>
          <a:lstStyle/>
          <a:p>
            <a:pPr algn="l">
              <a:lnSpc>
                <a:spcPts val="4440"/>
              </a:lnSpc>
            </a:pPr>
            <a:r>
              <a:rPr lang="en-US" sz="2940" b="1">
                <a:solidFill>
                  <a:srgbClr val="000000"/>
                </a:solidFill>
                <a:latin typeface="Poppins Bold"/>
                <a:ea typeface="Poppins Bold"/>
                <a:cs typeface="Poppins Bold"/>
                <a:sym typeface="Poppins Bold"/>
              </a:rPr>
              <a:t>Step 1: Video Review - </a:t>
            </a:r>
            <a:r>
              <a:rPr lang="en-US" sz="2940">
                <a:solidFill>
                  <a:srgbClr val="000000"/>
                </a:solidFill>
                <a:latin typeface="Poppins"/>
                <a:ea typeface="Poppins"/>
                <a:cs typeface="Poppins"/>
                <a:sym typeface="Poppins"/>
              </a:rPr>
              <a:t>Watch the following YouTube video carefully:</a:t>
            </a:r>
          </a:p>
          <a:p>
            <a:pPr algn="l">
              <a:lnSpc>
                <a:spcPts val="4440"/>
              </a:lnSpc>
            </a:pPr>
            <a:r>
              <a:rPr lang="en-US" sz="2940" u="sng">
                <a:solidFill>
                  <a:srgbClr val="000000"/>
                </a:solidFill>
                <a:latin typeface="Poppins"/>
                <a:ea typeface="Poppins"/>
                <a:cs typeface="Poppins"/>
                <a:sym typeface="Poppins"/>
                <a:hlinkClick r:id="rId3" tooltip="https://youtu.be/pIHRGFN-mXI?si=HPqqNKnrWTP2Nsff"/>
              </a:rPr>
              <a:t>https://youtu.be/pIHRGFN-mXI?si=HPqqNKnrWTP2Nsff</a:t>
            </a:r>
          </a:p>
        </p:txBody>
      </p:sp>
      <p:sp>
        <p:nvSpPr>
          <p:cNvPr id="4" name="TextBox 4"/>
          <p:cNvSpPr txBox="1"/>
          <p:nvPr/>
        </p:nvSpPr>
        <p:spPr>
          <a:xfrm>
            <a:off x="1028700" y="1051262"/>
            <a:ext cx="9547392" cy="1451606"/>
          </a:xfrm>
          <a:prstGeom prst="rect">
            <a:avLst/>
          </a:prstGeom>
        </p:spPr>
        <p:txBody>
          <a:bodyPr lIns="0" tIns="0" rIns="0" bIns="0" rtlCol="0" anchor="t">
            <a:spAutoFit/>
          </a:bodyPr>
          <a:lstStyle/>
          <a:p>
            <a:pPr algn="ctr">
              <a:lnSpc>
                <a:spcPts val="5704"/>
              </a:lnSpc>
            </a:pPr>
            <a:r>
              <a:rPr lang="en-US" sz="3777" b="1">
                <a:solidFill>
                  <a:srgbClr val="0C3645"/>
                </a:solidFill>
                <a:latin typeface="Poppins Bold"/>
                <a:ea typeface="Poppins Bold"/>
                <a:cs typeface="Poppins Bold"/>
                <a:sym typeface="Poppins Bold"/>
              </a:rPr>
              <a:t>Assignment 2: Video Review, Mistake Identification &amp; Follow-up Email</a:t>
            </a:r>
          </a:p>
        </p:txBody>
      </p:sp>
      <p:sp>
        <p:nvSpPr>
          <p:cNvPr id="5" name="TextBox 5"/>
          <p:cNvSpPr txBox="1"/>
          <p:nvPr/>
        </p:nvSpPr>
        <p:spPr>
          <a:xfrm>
            <a:off x="13738024" y="3167484"/>
            <a:ext cx="3521276" cy="560428"/>
          </a:xfrm>
          <a:prstGeom prst="rect">
            <a:avLst/>
          </a:prstGeom>
        </p:spPr>
        <p:txBody>
          <a:bodyPr lIns="0" tIns="0" rIns="0" bIns="0" rtlCol="0" anchor="t">
            <a:spAutoFit/>
          </a:bodyPr>
          <a:lstStyle/>
          <a:p>
            <a:pPr algn="l">
              <a:lnSpc>
                <a:spcPts val="4440"/>
              </a:lnSpc>
            </a:pPr>
            <a:r>
              <a:rPr lang="en-US" sz="2940" b="1">
                <a:solidFill>
                  <a:srgbClr val="000000"/>
                </a:solidFill>
                <a:latin typeface="Poppins Bold"/>
                <a:ea typeface="Poppins Bold"/>
                <a:cs typeface="Poppins Bold"/>
                <a:sym typeface="Poppins Bold"/>
              </a:rPr>
              <a:t>17 minutes video</a:t>
            </a:r>
          </a:p>
        </p:txBody>
      </p:sp>
      <p:sp>
        <p:nvSpPr>
          <p:cNvPr id="6" name="TextBox 6"/>
          <p:cNvSpPr txBox="1"/>
          <p:nvPr/>
        </p:nvSpPr>
        <p:spPr>
          <a:xfrm>
            <a:off x="663305" y="4389866"/>
            <a:ext cx="16498285" cy="2808064"/>
          </a:xfrm>
          <a:prstGeom prst="rect">
            <a:avLst/>
          </a:prstGeom>
          <a:solidFill>
            <a:schemeClr val="bg1"/>
          </a:solidFill>
          <a:ln>
            <a:noFill/>
          </a:ln>
        </p:spPr>
        <p:txBody>
          <a:bodyPr wrap="square" lIns="0" tIns="0" rIns="0" bIns="0" rtlCol="0" anchor="t">
            <a:spAutoFit/>
          </a:bodyPr>
          <a:lstStyle/>
          <a:p>
            <a:pPr algn="l">
              <a:lnSpc>
                <a:spcPts val="4440"/>
              </a:lnSpc>
            </a:pPr>
            <a:r>
              <a:rPr lang="en-US" sz="2940" b="1">
                <a:solidFill>
                  <a:srgbClr val="000000"/>
                </a:solidFill>
                <a:latin typeface="Poppins Bold"/>
                <a:ea typeface="Poppins Bold"/>
                <a:cs typeface="Poppins Bold"/>
                <a:sym typeface="Poppins Bold"/>
              </a:rPr>
              <a:t>Step 2: Identify the Common Mistakes (Explain in the video)</a:t>
            </a:r>
          </a:p>
          <a:p>
            <a:pPr marL="634927" lvl="1" indent="-317464" algn="l">
              <a:lnSpc>
                <a:spcPts val="4440"/>
              </a:lnSpc>
              <a:buFont typeface="Arial"/>
              <a:buChar char="•"/>
            </a:pPr>
            <a:r>
              <a:rPr lang="en-US" sz="2940">
                <a:solidFill>
                  <a:srgbClr val="000000"/>
                </a:solidFill>
                <a:latin typeface="Poppins"/>
                <a:ea typeface="Poppins"/>
                <a:cs typeface="Poppins"/>
                <a:sym typeface="Poppins"/>
              </a:rPr>
              <a:t>Identify the communication mistakes shown in the video</a:t>
            </a:r>
          </a:p>
          <a:p>
            <a:pPr marL="634927" lvl="1" indent="-317464" algn="l">
              <a:lnSpc>
                <a:spcPts val="4440"/>
              </a:lnSpc>
              <a:buFont typeface="Arial"/>
              <a:buChar char="•"/>
            </a:pPr>
            <a:r>
              <a:rPr lang="en-US" sz="2940">
                <a:solidFill>
                  <a:srgbClr val="000000"/>
                </a:solidFill>
                <a:latin typeface="Poppins"/>
                <a:ea typeface="Poppins"/>
                <a:cs typeface="Poppins"/>
                <a:sym typeface="Poppins"/>
              </a:rPr>
              <a:t>For each mistake, write a short passage explaining:</a:t>
            </a:r>
          </a:p>
          <a:p>
            <a:pPr marL="1269855" lvl="2" indent="-423285" algn="l">
              <a:lnSpc>
                <a:spcPts val="4440"/>
              </a:lnSpc>
              <a:buFont typeface="Arial"/>
              <a:buChar char="⚬"/>
            </a:pPr>
            <a:r>
              <a:rPr lang="en-US" sz="2940">
                <a:solidFill>
                  <a:srgbClr val="000000"/>
                </a:solidFill>
                <a:latin typeface="Poppins"/>
                <a:ea typeface="Poppins"/>
                <a:cs typeface="Poppins"/>
                <a:sym typeface="Poppins"/>
              </a:rPr>
              <a:t>What the mistake is</a:t>
            </a:r>
          </a:p>
          <a:p>
            <a:pPr marL="1269855" lvl="2" indent="-423285" algn="l">
              <a:lnSpc>
                <a:spcPts val="4440"/>
              </a:lnSpc>
              <a:buFont typeface="Arial"/>
              <a:buChar char="⚬"/>
            </a:pPr>
            <a:r>
              <a:rPr lang="en-US" sz="2940">
                <a:solidFill>
                  <a:srgbClr val="000000"/>
                </a:solidFill>
                <a:latin typeface="Poppins"/>
                <a:ea typeface="Poppins"/>
                <a:cs typeface="Poppins"/>
                <a:sym typeface="Poppins"/>
              </a:rPr>
              <a:t>Why it should be avoided in a professional environment</a:t>
            </a:r>
          </a:p>
        </p:txBody>
      </p:sp>
      <p:sp>
        <p:nvSpPr>
          <p:cNvPr id="7" name="TextBox 7"/>
          <p:cNvSpPr txBox="1"/>
          <p:nvPr/>
        </p:nvSpPr>
        <p:spPr>
          <a:xfrm>
            <a:off x="663305" y="7393544"/>
            <a:ext cx="14459040" cy="2221506"/>
          </a:xfrm>
          <a:prstGeom prst="rect">
            <a:avLst/>
          </a:prstGeom>
        </p:spPr>
        <p:txBody>
          <a:bodyPr lIns="0" tIns="0" rIns="0" bIns="0" rtlCol="0" anchor="t">
            <a:spAutoFit/>
          </a:bodyPr>
          <a:lstStyle/>
          <a:p>
            <a:pPr algn="l">
              <a:lnSpc>
                <a:spcPts val="4440"/>
              </a:lnSpc>
            </a:pPr>
            <a:r>
              <a:rPr lang="en-US" sz="2940" b="1">
                <a:solidFill>
                  <a:srgbClr val="000000"/>
                </a:solidFill>
                <a:latin typeface="Poppins Bold"/>
                <a:ea typeface="Poppins Bold"/>
                <a:cs typeface="Poppins Bold"/>
                <a:sym typeface="Poppins Bold"/>
              </a:rPr>
              <a:t>Step 3: Holiday Follow-up Email (Ensuring the mistakes are avoided)</a:t>
            </a:r>
          </a:p>
          <a:p>
            <a:pPr algn="l">
              <a:lnSpc>
                <a:spcPts val="4440"/>
              </a:lnSpc>
            </a:pPr>
            <a:r>
              <a:rPr lang="en-US" sz="2940" b="1">
                <a:solidFill>
                  <a:srgbClr val="000000"/>
                </a:solidFill>
                <a:latin typeface="Poppins Bold"/>
                <a:ea typeface="Poppins Bold"/>
                <a:cs typeface="Poppins Bold"/>
                <a:sym typeface="Poppins Bold"/>
              </a:rPr>
              <a:t> </a:t>
            </a:r>
            <a:r>
              <a:rPr lang="en-US" sz="2940">
                <a:solidFill>
                  <a:srgbClr val="000000"/>
                </a:solidFill>
                <a:latin typeface="Poppins"/>
                <a:ea typeface="Poppins"/>
                <a:cs typeface="Poppins"/>
                <a:sym typeface="Poppins"/>
              </a:rPr>
              <a:t>Write a professional follow-up email to Ravi Gupta:</a:t>
            </a:r>
          </a:p>
          <a:p>
            <a:pPr marL="634927" lvl="1" indent="-317464" algn="l">
              <a:lnSpc>
                <a:spcPts val="4440"/>
              </a:lnSpc>
              <a:buFont typeface="Arial"/>
              <a:buChar char="•"/>
            </a:pPr>
            <a:r>
              <a:rPr lang="en-US" sz="2940">
                <a:solidFill>
                  <a:srgbClr val="000000"/>
                </a:solidFill>
                <a:latin typeface="Poppins"/>
                <a:ea typeface="Poppins"/>
                <a:cs typeface="Poppins"/>
                <a:sym typeface="Poppins"/>
              </a:rPr>
              <a:t>Christmas Holiday – 25th December</a:t>
            </a:r>
          </a:p>
          <a:p>
            <a:pPr marL="634927" lvl="1" indent="-317464" algn="l">
              <a:lnSpc>
                <a:spcPts val="4440"/>
              </a:lnSpc>
              <a:buFont typeface="Arial"/>
              <a:buChar char="•"/>
            </a:pPr>
            <a:r>
              <a:rPr lang="en-US" sz="2940">
                <a:solidFill>
                  <a:srgbClr val="000000"/>
                </a:solidFill>
                <a:latin typeface="Poppins"/>
                <a:ea typeface="Poppins"/>
                <a:cs typeface="Poppins"/>
                <a:sym typeface="Poppins"/>
              </a:rPr>
              <a:t>New Year Holiday – 1st January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a:off x="12432631" y="3481982"/>
            <a:ext cx="4311021" cy="3788309"/>
          </a:xfrm>
          <a:custGeom>
            <a:avLst/>
            <a:gdLst/>
            <a:ahLst/>
            <a:cxnLst/>
            <a:rect l="l" t="t" r="r" b="b"/>
            <a:pathLst>
              <a:path w="4311021" h="3788309">
                <a:moveTo>
                  <a:pt x="0" y="0"/>
                </a:moveTo>
                <a:lnTo>
                  <a:pt x="4311020" y="0"/>
                </a:lnTo>
                <a:lnTo>
                  <a:pt x="4311020" y="3788310"/>
                </a:lnTo>
                <a:lnTo>
                  <a:pt x="0" y="378831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2160613"/>
            <a:ext cx="9646925" cy="6244767"/>
          </a:xfrm>
          <a:prstGeom prst="rect">
            <a:avLst/>
          </a:prstGeom>
        </p:spPr>
        <p:txBody>
          <a:bodyPr lIns="0" tIns="0" rIns="0" bIns="0" rtlCol="0" anchor="t">
            <a:spAutoFit/>
          </a:bodyPr>
          <a:lstStyle/>
          <a:p>
            <a:pPr algn="l">
              <a:lnSpc>
                <a:spcPts val="5465"/>
              </a:lnSpc>
            </a:pPr>
            <a:r>
              <a:rPr lang="en-US" sz="3619">
                <a:solidFill>
                  <a:srgbClr val="000000"/>
                </a:solidFill>
                <a:latin typeface="Poppins"/>
                <a:ea typeface="Poppins"/>
                <a:cs typeface="Poppins"/>
                <a:sym typeface="Poppins"/>
              </a:rPr>
              <a:t>Please share your learnings with </a:t>
            </a:r>
            <a:r>
              <a:rPr lang="en-US" sz="3619" b="1">
                <a:solidFill>
                  <a:srgbClr val="000000"/>
                </a:solidFill>
                <a:latin typeface="Poppins Bold"/>
                <a:ea typeface="Poppins Bold"/>
                <a:cs typeface="Poppins Bold"/>
                <a:sym typeface="Poppins Bold"/>
              </a:rPr>
              <a:t>Ravi Gupta</a:t>
            </a:r>
            <a:r>
              <a:rPr lang="en-US" sz="3619">
                <a:solidFill>
                  <a:srgbClr val="000000"/>
                </a:solidFill>
                <a:latin typeface="Poppins"/>
                <a:ea typeface="Poppins"/>
                <a:cs typeface="Poppins"/>
                <a:sym typeface="Poppins"/>
              </a:rPr>
              <a:t> in a brief way, following the format below:</a:t>
            </a:r>
          </a:p>
          <a:p>
            <a:pPr marL="781428" lvl="1" indent="-390714" algn="l">
              <a:lnSpc>
                <a:spcPts val="5465"/>
              </a:lnSpc>
              <a:buFont typeface="Arial"/>
              <a:buChar char="•"/>
            </a:pPr>
            <a:r>
              <a:rPr lang="en-US" sz="3619" b="1">
                <a:solidFill>
                  <a:srgbClr val="000000"/>
                </a:solidFill>
                <a:latin typeface="Poppins Bold"/>
                <a:ea typeface="Poppins Bold"/>
                <a:cs typeface="Poppins Bold"/>
                <a:sym typeface="Poppins Bold"/>
              </a:rPr>
              <a:t>1 key learning </a:t>
            </a:r>
            <a:r>
              <a:rPr lang="en-US" sz="3619">
                <a:solidFill>
                  <a:srgbClr val="000000"/>
                </a:solidFill>
                <a:latin typeface="Poppins"/>
                <a:ea typeface="Poppins"/>
                <a:cs typeface="Poppins"/>
                <a:sym typeface="Poppins"/>
              </a:rPr>
              <a:t>from today’s session</a:t>
            </a:r>
          </a:p>
          <a:p>
            <a:pPr marL="781428" lvl="1" indent="-390714" algn="l">
              <a:lnSpc>
                <a:spcPts val="5465"/>
              </a:lnSpc>
              <a:buFont typeface="Arial"/>
              <a:buChar char="•"/>
            </a:pPr>
            <a:r>
              <a:rPr lang="en-US" sz="3619" b="1">
                <a:solidFill>
                  <a:srgbClr val="000000"/>
                </a:solidFill>
                <a:latin typeface="Poppins Bold"/>
                <a:ea typeface="Poppins Bold"/>
                <a:cs typeface="Poppins Bold"/>
                <a:sym typeface="Poppins Bold"/>
              </a:rPr>
              <a:t>1 key learning </a:t>
            </a:r>
            <a:r>
              <a:rPr lang="en-US" sz="3619">
                <a:solidFill>
                  <a:srgbClr val="000000"/>
                </a:solidFill>
                <a:latin typeface="Poppins"/>
                <a:ea typeface="Poppins"/>
                <a:cs typeface="Poppins"/>
                <a:sym typeface="Poppins"/>
              </a:rPr>
              <a:t>from yesterday’s assignment</a:t>
            </a:r>
          </a:p>
          <a:p>
            <a:pPr marL="781428" lvl="1" indent="-390714" algn="l">
              <a:lnSpc>
                <a:spcPts val="5465"/>
              </a:lnSpc>
              <a:buFont typeface="Arial"/>
              <a:buChar char="•"/>
            </a:pPr>
            <a:r>
              <a:rPr lang="en-US" sz="3619" b="1">
                <a:solidFill>
                  <a:srgbClr val="000000"/>
                </a:solidFill>
                <a:latin typeface="Poppins Bold"/>
                <a:ea typeface="Poppins Bold"/>
                <a:cs typeface="Poppins Bold"/>
                <a:sym typeface="Poppins Bold"/>
              </a:rPr>
              <a:t>1 challenge </a:t>
            </a:r>
            <a:r>
              <a:rPr lang="en-US" sz="3619">
                <a:solidFill>
                  <a:srgbClr val="000000"/>
                </a:solidFill>
                <a:latin typeface="Poppins"/>
                <a:ea typeface="Poppins"/>
                <a:cs typeface="Poppins"/>
                <a:sym typeface="Poppins"/>
              </a:rPr>
              <a:t>faced</a:t>
            </a:r>
          </a:p>
          <a:p>
            <a:pPr marL="781428" lvl="1" indent="-390714" algn="l">
              <a:lnSpc>
                <a:spcPts val="5465"/>
              </a:lnSpc>
              <a:buFont typeface="Arial"/>
              <a:buChar char="•"/>
            </a:pPr>
            <a:r>
              <a:rPr lang="en-US" sz="3619" b="1">
                <a:solidFill>
                  <a:srgbClr val="000000"/>
                </a:solidFill>
                <a:latin typeface="Poppins Bold"/>
                <a:ea typeface="Poppins Bold"/>
                <a:cs typeface="Poppins Bold"/>
                <a:sym typeface="Poppins Bold"/>
              </a:rPr>
              <a:t>1 improvement </a:t>
            </a:r>
            <a:r>
              <a:rPr lang="en-US" sz="3619">
                <a:solidFill>
                  <a:srgbClr val="000000"/>
                </a:solidFill>
                <a:latin typeface="Poppins"/>
                <a:ea typeface="Poppins"/>
                <a:cs typeface="Poppins"/>
                <a:sym typeface="Poppins"/>
              </a:rPr>
              <a:t>or action you will apply next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372539" y="1425643"/>
            <a:ext cx="9439933" cy="7035067"/>
          </a:xfrm>
          <a:prstGeom prst="rect">
            <a:avLst/>
          </a:prstGeom>
        </p:spPr>
        <p:txBody>
          <a:bodyPr lIns="0" tIns="0" rIns="0" bIns="0" rtlCol="0" anchor="t">
            <a:spAutoFit/>
          </a:bodyPr>
          <a:lstStyle/>
          <a:p>
            <a:pPr algn="l">
              <a:lnSpc>
                <a:spcPts val="4553"/>
              </a:lnSpc>
            </a:pPr>
            <a:r>
              <a:rPr lang="en-US" sz="3015" b="1">
                <a:solidFill>
                  <a:srgbClr val="000000"/>
                </a:solidFill>
                <a:latin typeface="Poppins Bold"/>
                <a:ea typeface="Poppins Bold"/>
                <a:cs typeface="Poppins Bold"/>
                <a:sym typeface="Poppins Bold"/>
              </a:rPr>
              <a:t>🙏 Thank You</a:t>
            </a:r>
          </a:p>
          <a:p>
            <a:pPr algn="l">
              <a:lnSpc>
                <a:spcPts val="4553"/>
              </a:lnSpc>
            </a:pPr>
            <a:r>
              <a:rPr lang="en-US" sz="3015" b="1">
                <a:solidFill>
                  <a:srgbClr val="000000"/>
                </a:solidFill>
                <a:latin typeface="Poppins Bold"/>
                <a:ea typeface="Poppins Bold"/>
                <a:cs typeface="Poppins Bold"/>
                <a:sym typeface="Poppins Bold"/>
              </a:rPr>
              <a:t>Great Learning today!</a:t>
            </a:r>
          </a:p>
          <a:p>
            <a:pPr algn="l">
              <a:lnSpc>
                <a:spcPts val="4553"/>
              </a:lnSpc>
            </a:pPr>
            <a:endParaRPr lang="en-US" sz="3015" b="1">
              <a:solidFill>
                <a:srgbClr val="000000"/>
              </a:solidFill>
              <a:latin typeface="Poppins Bold"/>
              <a:ea typeface="Poppins Bold"/>
              <a:cs typeface="Poppins Bold"/>
              <a:sym typeface="Poppins Bold"/>
            </a:endParaRPr>
          </a:p>
          <a:p>
            <a:pPr algn="l">
              <a:lnSpc>
                <a:spcPts val="4553"/>
              </a:lnSpc>
            </a:pPr>
            <a:r>
              <a:rPr lang="en-US" sz="3015">
                <a:solidFill>
                  <a:srgbClr val="000000"/>
                </a:solidFill>
                <a:latin typeface="Poppins"/>
                <a:ea typeface="Poppins"/>
                <a:cs typeface="Poppins"/>
                <a:sym typeface="Poppins"/>
              </a:rPr>
              <a:t>Your participation and reflections added real value to the session.</a:t>
            </a:r>
          </a:p>
          <a:p>
            <a:pPr algn="l">
              <a:lnSpc>
                <a:spcPts val="4553"/>
              </a:lnSpc>
            </a:pPr>
            <a:endParaRPr lang="en-US" sz="3015">
              <a:solidFill>
                <a:srgbClr val="000000"/>
              </a:solidFill>
              <a:latin typeface="Poppins"/>
              <a:ea typeface="Poppins"/>
              <a:cs typeface="Poppins"/>
              <a:sym typeface="Poppins"/>
            </a:endParaRPr>
          </a:p>
          <a:p>
            <a:pPr algn="l">
              <a:lnSpc>
                <a:spcPts val="4553"/>
              </a:lnSpc>
            </a:pPr>
            <a:r>
              <a:rPr lang="en-US" sz="3015">
                <a:solidFill>
                  <a:srgbClr val="000000"/>
                </a:solidFill>
                <a:latin typeface="Poppins"/>
                <a:ea typeface="Poppins"/>
                <a:cs typeface="Poppins"/>
                <a:sym typeface="Poppins"/>
              </a:rPr>
              <a:t>🔁 Keep applying today’s learnings in your daily communication, meetings, and documentation.</a:t>
            </a:r>
          </a:p>
          <a:p>
            <a:pPr algn="l">
              <a:lnSpc>
                <a:spcPts val="4553"/>
              </a:lnSpc>
            </a:pPr>
            <a:endParaRPr lang="en-US" sz="3015">
              <a:solidFill>
                <a:srgbClr val="000000"/>
              </a:solidFill>
              <a:latin typeface="Poppins"/>
              <a:ea typeface="Poppins"/>
              <a:cs typeface="Poppins"/>
              <a:sym typeface="Poppins"/>
            </a:endParaRPr>
          </a:p>
          <a:p>
            <a:pPr algn="l">
              <a:lnSpc>
                <a:spcPts val="4553"/>
              </a:lnSpc>
            </a:pPr>
            <a:r>
              <a:rPr lang="en-US" sz="3015" b="1">
                <a:solidFill>
                  <a:srgbClr val="000000"/>
                </a:solidFill>
                <a:latin typeface="Poppins"/>
                <a:ea typeface="Poppins"/>
                <a:cs typeface="Poppins"/>
                <a:sym typeface="Poppins"/>
              </a:rPr>
              <a:t>Day 4 – Focus Areas: </a:t>
            </a:r>
            <a:r>
              <a:rPr lang="en-US" sz="3015">
                <a:solidFill>
                  <a:srgbClr val="000000"/>
                </a:solidFill>
                <a:latin typeface="Poppins"/>
                <a:ea typeface="Poppins"/>
                <a:cs typeface="Poppins"/>
                <a:sym typeface="Poppins"/>
              </a:rPr>
              <a:t>IT Business Vocabulary</a:t>
            </a:r>
          </a:p>
          <a:p>
            <a:pPr algn="l">
              <a:lnSpc>
                <a:spcPts val="4553"/>
              </a:lnSpc>
            </a:pPr>
            <a:endParaRPr lang="en-US" sz="3015">
              <a:solidFill>
                <a:srgbClr val="000000"/>
              </a:solidFill>
              <a:latin typeface="Poppins"/>
              <a:ea typeface="Poppins"/>
              <a:cs typeface="Poppins"/>
              <a:sym typeface="Poppins"/>
            </a:endParaRPr>
          </a:p>
          <a:p>
            <a:pPr algn="l">
              <a:lnSpc>
                <a:spcPts val="4553"/>
              </a:lnSpc>
            </a:pPr>
            <a:r>
              <a:rPr lang="en-US" sz="3015">
                <a:solidFill>
                  <a:srgbClr val="000000"/>
                </a:solidFill>
                <a:latin typeface="Poppins"/>
                <a:ea typeface="Poppins"/>
                <a:cs typeface="Poppins"/>
                <a:sym typeface="Poppins"/>
              </a:rPr>
              <a:t>See you tomorrow. Keep growing! 🚀</a:t>
            </a:r>
          </a:p>
        </p:txBody>
      </p:sp>
      <p:sp>
        <p:nvSpPr>
          <p:cNvPr id="4" name="Freeform 4"/>
          <p:cNvSpPr/>
          <p:nvPr/>
        </p:nvSpPr>
        <p:spPr>
          <a:xfrm>
            <a:off x="12943608" y="2982990"/>
            <a:ext cx="3289067" cy="5149224"/>
          </a:xfrm>
          <a:custGeom>
            <a:avLst/>
            <a:gdLst/>
            <a:ahLst/>
            <a:cxnLst/>
            <a:rect l="l" t="t" r="r" b="b"/>
            <a:pathLst>
              <a:path w="3289067" h="5149224">
                <a:moveTo>
                  <a:pt x="0" y="0"/>
                </a:moveTo>
                <a:lnTo>
                  <a:pt x="3289067" y="0"/>
                </a:lnTo>
                <a:lnTo>
                  <a:pt x="3289067" y="5149224"/>
                </a:lnTo>
                <a:lnTo>
                  <a:pt x="0" y="514922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3 - Professional Email Basics</dc:title>
  <cp:revision>2</cp:revision>
  <dcterms:created xsi:type="dcterms:W3CDTF">2006-08-16T00:00:00Z</dcterms:created>
  <dcterms:modified xsi:type="dcterms:W3CDTF">2025-12-26T15:59:18Z</dcterms:modified>
  <dc:identifier>DAG7u2x1C-8</dc:identifier>
</cp:coreProperties>
</file>