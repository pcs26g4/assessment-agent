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Canva Sans Bold" panose="020B0604020202020204" charset="0"/>
      <p:regular r:id="rId14"/>
    </p:embeddedFont>
    <p:embeddedFont>
      <p:font typeface="Poppins" panose="00000500000000000000" pitchFamily="2" charset="0"/>
      <p:regular r:id="rId15"/>
      <p:bold r:id="rId16"/>
      <p:italic r:id="rId17"/>
      <p:boldItalic r:id="rId18"/>
    </p:embeddedFont>
    <p:embeddedFont>
      <p:font typeface="Poppins Bold" panose="00000800000000000000" pitchFamily="2" charset="0"/>
      <p:regular r:id="rId19"/>
      <p:bold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D535D5-F612-4BB9-AA9B-212A6A9E6A20}" v="3" dt="2025-12-18T08:07:34.399"/>
    <p1510:client id="{49F83769-4A8C-0E79-5056-EA1DC75C2E84}" v="6" dt="2025-12-19T04:44:58.438"/>
    <p1510:client id="{7BC7D4E8-043B-60C3-EE63-4289554F709D}" v="3" dt="2025-12-18T10:49:46.5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3" d="100"/>
          <a:sy n="43" d="100"/>
        </p:scale>
        <p:origin x="936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oj E" userId="S::manojcs35-g4@coastalseven.com::6a6e651c-d455-4ff6-b623-8896a5b4ad7a" providerId="AD" clId="Web-{49F83769-4A8C-0E79-5056-EA1DC75C2E84}"/>
    <pc:docChg chg="modSld">
      <pc:chgData name="Manoj E" userId="S::manojcs35-g4@coastalseven.com::6a6e651c-d455-4ff6-b623-8896a5b4ad7a" providerId="AD" clId="Web-{49F83769-4A8C-0E79-5056-EA1DC75C2E84}" dt="2025-12-19T04:44:58.438" v="4" actId="20577"/>
      <pc:docMkLst>
        <pc:docMk/>
      </pc:docMkLst>
      <pc:sldChg chg="modSp">
        <pc:chgData name="Manoj E" userId="S::manojcs35-g4@coastalseven.com::6a6e651c-d455-4ff6-b623-8896a5b4ad7a" providerId="AD" clId="Web-{49F83769-4A8C-0E79-5056-EA1DC75C2E84}" dt="2025-12-19T04:44:58.438" v="4" actId="20577"/>
        <pc:sldMkLst>
          <pc:docMk/>
          <pc:sldMk cId="0" sldId="260"/>
        </pc:sldMkLst>
        <pc:spChg chg="mod">
          <ac:chgData name="Manoj E" userId="S::manojcs35-g4@coastalseven.com::6a6e651c-d455-4ff6-b623-8896a5b4ad7a" providerId="AD" clId="Web-{49F83769-4A8C-0E79-5056-EA1DC75C2E84}" dt="2025-12-19T04:44:58.438" v="4" actId="20577"/>
          <ac:spMkLst>
            <pc:docMk/>
            <pc:sldMk cId="0" sldId="260"/>
            <ac:spMk id="3" creationId="{00000000-0000-0000-0000-000000000000}"/>
          </ac:spMkLst>
        </pc:spChg>
      </pc:sldChg>
    </pc:docChg>
  </pc:docChgLst>
  <pc:docChgLst>
    <pc:chgData name="Subramanian Rajaganapathi" userId="b8f1907a-0f8c-40ca-bfd8-163cdf5230e8" providerId="ADAL" clId="{EE5AACF3-4F6E-40A4-AD4D-7ADE99AF79B1}"/>
    <pc:docChg chg="modSld">
      <pc:chgData name="Subramanian Rajaganapathi" userId="b8f1907a-0f8c-40ca-bfd8-163cdf5230e8" providerId="ADAL" clId="{EE5AACF3-4F6E-40A4-AD4D-7ADE99AF79B1}" dt="2025-12-18T08:08:16.752" v="13" actId="1076"/>
      <pc:docMkLst>
        <pc:docMk/>
      </pc:docMkLst>
      <pc:sldChg chg="modSp mod">
        <pc:chgData name="Subramanian Rajaganapathi" userId="b8f1907a-0f8c-40ca-bfd8-163cdf5230e8" providerId="ADAL" clId="{EE5AACF3-4F6E-40A4-AD4D-7ADE99AF79B1}" dt="2025-12-18T08:08:16.752" v="13" actId="1076"/>
        <pc:sldMkLst>
          <pc:docMk/>
          <pc:sldMk cId="0" sldId="256"/>
        </pc:sldMkLst>
        <pc:spChg chg="mod">
          <ac:chgData name="Subramanian Rajaganapathi" userId="b8f1907a-0f8c-40ca-bfd8-163cdf5230e8" providerId="ADAL" clId="{EE5AACF3-4F6E-40A4-AD4D-7ADE99AF79B1}" dt="2025-12-18T08:08:16.752" v="13" actId="1076"/>
          <ac:spMkLst>
            <pc:docMk/>
            <pc:sldMk cId="0" sldId="256"/>
            <ac:spMk id="3" creationId="{00000000-0000-0000-0000-000000000000}"/>
          </ac:spMkLst>
        </pc:spChg>
      </pc:sldChg>
      <pc:sldChg chg="addSp modSp mod">
        <pc:chgData name="Subramanian Rajaganapathi" userId="b8f1907a-0f8c-40ca-bfd8-163cdf5230e8" providerId="ADAL" clId="{EE5AACF3-4F6E-40A4-AD4D-7ADE99AF79B1}" dt="2025-12-18T08:07:05.203" v="7" actId="1076"/>
        <pc:sldMkLst>
          <pc:docMk/>
          <pc:sldMk cId="0" sldId="259"/>
        </pc:sldMkLst>
        <pc:spChg chg="add mod">
          <ac:chgData name="Subramanian Rajaganapathi" userId="b8f1907a-0f8c-40ca-bfd8-163cdf5230e8" providerId="ADAL" clId="{EE5AACF3-4F6E-40A4-AD4D-7ADE99AF79B1}" dt="2025-12-18T08:07:05.203" v="7" actId="1076"/>
          <ac:spMkLst>
            <pc:docMk/>
            <pc:sldMk cId="0" sldId="259"/>
            <ac:spMk id="5" creationId="{A54D64D9-D0BF-D215-6F74-9ECDF959608E}"/>
          </ac:spMkLst>
        </pc:spChg>
      </pc:sldChg>
      <pc:sldChg chg="modSp mod">
        <pc:chgData name="Subramanian Rajaganapathi" userId="b8f1907a-0f8c-40ca-bfd8-163cdf5230e8" providerId="ADAL" clId="{EE5AACF3-4F6E-40A4-AD4D-7ADE99AF79B1}" dt="2025-12-18T08:07:33.163" v="9" actId="20578"/>
        <pc:sldMkLst>
          <pc:docMk/>
          <pc:sldMk cId="0" sldId="265"/>
        </pc:sldMkLst>
        <pc:spChg chg="mod">
          <ac:chgData name="Subramanian Rajaganapathi" userId="b8f1907a-0f8c-40ca-bfd8-163cdf5230e8" providerId="ADAL" clId="{EE5AACF3-4F6E-40A4-AD4D-7ADE99AF79B1}" dt="2025-12-18T08:07:33.163" v="9" actId="20578"/>
          <ac:spMkLst>
            <pc:docMk/>
            <pc:sldMk cId="0" sldId="265"/>
            <ac:spMk id="3" creationId="{00000000-0000-0000-0000-000000000000}"/>
          </ac:spMkLst>
        </pc:spChg>
      </pc:sldChg>
      <pc:sldChg chg="modSp mod">
        <pc:chgData name="Subramanian Rajaganapathi" userId="b8f1907a-0f8c-40ca-bfd8-163cdf5230e8" providerId="ADAL" clId="{EE5AACF3-4F6E-40A4-AD4D-7ADE99AF79B1}" dt="2025-12-18T08:07:59.978" v="11" actId="1076"/>
        <pc:sldMkLst>
          <pc:docMk/>
          <pc:sldMk cId="0" sldId="266"/>
        </pc:sldMkLst>
        <pc:spChg chg="mod">
          <ac:chgData name="Subramanian Rajaganapathi" userId="b8f1907a-0f8c-40ca-bfd8-163cdf5230e8" providerId="ADAL" clId="{EE5AACF3-4F6E-40A4-AD4D-7ADE99AF79B1}" dt="2025-12-18T08:07:59.978" v="11" actId="1076"/>
          <ac:spMkLst>
            <pc:docMk/>
            <pc:sldMk cId="0" sldId="266"/>
            <ac:spMk id="4" creationId="{00000000-0000-0000-0000-000000000000}"/>
          </ac:spMkLst>
        </pc:spChg>
      </pc:sldChg>
    </pc:docChg>
  </pc:docChgLst>
  <pc:docChgLst>
    <pc:chgData name="YARAMALA KARTHIK REDDY" userId="S::karthikcs28-g4@coastalseven.com::c8c83b1a-cbcd-4b78-80c7-48a3f18a749d" providerId="AD" clId="Web-{7BC7D4E8-043B-60C3-EE63-4289554F709D}"/>
    <pc:docChg chg="modSld">
      <pc:chgData name="YARAMALA KARTHIK REDDY" userId="S::karthikcs28-g4@coastalseven.com::c8c83b1a-cbcd-4b78-80c7-48a3f18a749d" providerId="AD" clId="Web-{7BC7D4E8-043B-60C3-EE63-4289554F709D}" dt="2025-12-18T10:49:27.161" v="1" actId="20577"/>
      <pc:docMkLst>
        <pc:docMk/>
      </pc:docMkLst>
      <pc:sldChg chg="modSp">
        <pc:chgData name="YARAMALA KARTHIK REDDY" userId="S::karthikcs28-g4@coastalseven.com::c8c83b1a-cbcd-4b78-80c7-48a3f18a749d" providerId="AD" clId="Web-{7BC7D4E8-043B-60C3-EE63-4289554F709D}" dt="2025-12-18T10:49:27.161" v="1" actId="20577"/>
        <pc:sldMkLst>
          <pc:docMk/>
          <pc:sldMk cId="0" sldId="261"/>
        </pc:sldMkLst>
        <pc:spChg chg="mod">
          <ac:chgData name="YARAMALA KARTHIK REDDY" userId="S::karthikcs28-g4@coastalseven.com::c8c83b1a-cbcd-4b78-80c7-48a3f18a749d" providerId="AD" clId="Web-{7BC7D4E8-043B-60C3-EE63-4289554F709D}" dt="2025-12-18T10:49:27.161" v="1" actId="20577"/>
          <ac:spMkLst>
            <pc:docMk/>
            <pc:sldMk cId="0" sldId="261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menti.com/alwchri6v6jh" TargetMode="External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hyperlink" Target="https://www.mentimeter.com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208763" y="1666891"/>
            <a:ext cx="11870475" cy="3476609"/>
          </a:xfrm>
          <a:custGeom>
            <a:avLst/>
            <a:gdLst/>
            <a:ahLst/>
            <a:cxnLst/>
            <a:rect l="l" t="t" r="r" b="b"/>
            <a:pathLst>
              <a:path w="11870475" h="3476609">
                <a:moveTo>
                  <a:pt x="0" y="0"/>
                </a:moveTo>
                <a:lnTo>
                  <a:pt x="11870474" y="0"/>
                </a:lnTo>
                <a:lnTo>
                  <a:pt x="11870474" y="3476609"/>
                </a:lnTo>
                <a:lnTo>
                  <a:pt x="0" y="34766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3817289" y="5981700"/>
            <a:ext cx="10653421" cy="8636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Day 4 - IT Business Vocabulary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916982" y="738837"/>
            <a:ext cx="5342318" cy="1564651"/>
          </a:xfrm>
          <a:custGeom>
            <a:avLst/>
            <a:gdLst/>
            <a:ahLst/>
            <a:cxnLst/>
            <a:rect l="l" t="t" r="r" b="b"/>
            <a:pathLst>
              <a:path w="5342318" h="1564651">
                <a:moveTo>
                  <a:pt x="0" y="0"/>
                </a:moveTo>
                <a:lnTo>
                  <a:pt x="5342318" y="0"/>
                </a:lnTo>
                <a:lnTo>
                  <a:pt x="5342318" y="1564651"/>
                </a:lnTo>
                <a:lnTo>
                  <a:pt x="0" y="15646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435358" y="1444963"/>
            <a:ext cx="9791379" cy="674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32"/>
              </a:lnSpc>
              <a:spcBef>
                <a:spcPct val="0"/>
              </a:spcBef>
            </a:pPr>
            <a:r>
              <a:rPr lang="en-US" sz="3951" b="1">
                <a:solidFill>
                  <a:srgbClr val="2F748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IT Business Vocabulary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435358" y="2667881"/>
            <a:ext cx="15976252" cy="65904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96"/>
              </a:lnSpc>
            </a:pPr>
            <a:r>
              <a:rPr lang="en-US" sz="3176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Purpose:</a:t>
            </a:r>
          </a:p>
          <a:p>
            <a:pPr algn="l">
              <a:lnSpc>
                <a:spcPts val="4796"/>
              </a:lnSpc>
            </a:pPr>
            <a:r>
              <a:rPr lang="en-US" sz="317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Equip interns with essential IT terms used in business communication.</a:t>
            </a:r>
          </a:p>
          <a:p>
            <a:pPr algn="l">
              <a:lnSpc>
                <a:spcPts val="4796"/>
              </a:lnSpc>
            </a:pPr>
            <a:endParaRPr lang="en-US" sz="3176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4796"/>
              </a:lnSpc>
            </a:pPr>
            <a:r>
              <a:rPr lang="en-US" sz="3176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Why it matters:</a:t>
            </a:r>
          </a:p>
          <a:p>
            <a:pPr algn="l">
              <a:lnSpc>
                <a:spcPts val="4796"/>
              </a:lnSpc>
            </a:pPr>
            <a:r>
              <a:rPr lang="en-US" sz="317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Understanding IT vocabulary improves communication with technical teams, clients, and project partners.</a:t>
            </a:r>
          </a:p>
          <a:p>
            <a:pPr algn="l">
              <a:lnSpc>
                <a:spcPts val="4796"/>
              </a:lnSpc>
            </a:pPr>
            <a:endParaRPr lang="en-US" sz="3176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4796"/>
              </a:lnSpc>
            </a:pPr>
            <a:r>
              <a:rPr lang="en-US" sz="3176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IT Business Vocabulary</a:t>
            </a:r>
            <a:r>
              <a:rPr lang="en-US" sz="317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refers to common technology-related words and concepts used in business environments that help bridge the gap between IT professionals and business stakeholders.</a:t>
            </a:r>
          </a:p>
          <a:p>
            <a:pPr algn="l">
              <a:lnSpc>
                <a:spcPts val="4796"/>
              </a:lnSpc>
            </a:pPr>
            <a:endParaRPr lang="en-US" sz="3176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916982" y="738837"/>
            <a:ext cx="5342318" cy="1564651"/>
          </a:xfrm>
          <a:custGeom>
            <a:avLst/>
            <a:gdLst/>
            <a:ahLst/>
            <a:cxnLst/>
            <a:rect l="l" t="t" r="r" b="b"/>
            <a:pathLst>
              <a:path w="5342318" h="1564651">
                <a:moveTo>
                  <a:pt x="0" y="0"/>
                </a:moveTo>
                <a:lnTo>
                  <a:pt x="5342318" y="0"/>
                </a:lnTo>
                <a:lnTo>
                  <a:pt x="5342318" y="1564651"/>
                </a:lnTo>
                <a:lnTo>
                  <a:pt x="0" y="15646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1916982" y="3645655"/>
            <a:ext cx="5010860" cy="5010860"/>
          </a:xfrm>
          <a:custGeom>
            <a:avLst/>
            <a:gdLst/>
            <a:ahLst/>
            <a:cxnLst/>
            <a:rect l="l" t="t" r="r" b="b"/>
            <a:pathLst>
              <a:path w="5010860" h="5010860">
                <a:moveTo>
                  <a:pt x="0" y="0"/>
                </a:moveTo>
                <a:lnTo>
                  <a:pt x="5010861" y="0"/>
                </a:lnTo>
                <a:lnTo>
                  <a:pt x="5010861" y="5010861"/>
                </a:lnTo>
                <a:lnTo>
                  <a:pt x="0" y="50108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5142159" y="6151086"/>
            <a:ext cx="988588" cy="1173399"/>
          </a:xfrm>
          <a:custGeom>
            <a:avLst/>
            <a:gdLst/>
            <a:ahLst/>
            <a:cxnLst/>
            <a:rect l="l" t="t" r="r" b="b"/>
            <a:pathLst>
              <a:path w="988588" h="1173399">
                <a:moveTo>
                  <a:pt x="0" y="0"/>
                </a:moveTo>
                <a:lnTo>
                  <a:pt x="988588" y="0"/>
                </a:lnTo>
                <a:lnTo>
                  <a:pt x="988588" y="1173399"/>
                </a:lnTo>
                <a:lnTo>
                  <a:pt x="0" y="11733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5842045" y="858752"/>
            <a:ext cx="1721603" cy="1738993"/>
          </a:xfrm>
          <a:custGeom>
            <a:avLst/>
            <a:gdLst/>
            <a:ahLst/>
            <a:cxnLst/>
            <a:rect l="l" t="t" r="r" b="b"/>
            <a:pathLst>
              <a:path w="1721603" h="1738993">
                <a:moveTo>
                  <a:pt x="0" y="0"/>
                </a:moveTo>
                <a:lnTo>
                  <a:pt x="1721603" y="0"/>
                </a:lnTo>
                <a:lnTo>
                  <a:pt x="1721603" y="1738993"/>
                </a:lnTo>
                <a:lnTo>
                  <a:pt x="0" y="17389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8733307" y="8275240"/>
            <a:ext cx="3067884" cy="1357539"/>
          </a:xfrm>
          <a:custGeom>
            <a:avLst/>
            <a:gdLst/>
            <a:ahLst/>
            <a:cxnLst/>
            <a:rect l="l" t="t" r="r" b="b"/>
            <a:pathLst>
              <a:path w="3067884" h="1357539">
                <a:moveTo>
                  <a:pt x="0" y="0"/>
                </a:moveTo>
                <a:lnTo>
                  <a:pt x="3067884" y="0"/>
                </a:lnTo>
                <a:lnTo>
                  <a:pt x="3067884" y="1357539"/>
                </a:lnTo>
                <a:lnTo>
                  <a:pt x="0" y="135753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416842" y="3246834"/>
            <a:ext cx="8850407" cy="657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113"/>
              </a:lnSpc>
            </a:pPr>
            <a:r>
              <a:rPr lang="en-US" sz="3386" b="1" u="sng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  <a:hlinkClick r:id="rId8" tooltip="https://www.menti.com/alwchri6v6jh"/>
              </a:rPr>
              <a:t>https://www.menti.com/alwchri6v6jh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30210" y="1575848"/>
            <a:ext cx="7713790" cy="727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04"/>
              </a:lnSpc>
            </a:pPr>
            <a:r>
              <a:rPr lang="en-US" sz="3777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Knowledge Quiz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16842" y="4699480"/>
            <a:ext cx="7450634" cy="1451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04"/>
              </a:lnSpc>
            </a:pPr>
            <a:r>
              <a:rPr lang="en-US" sz="3777" u="sng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hlinkClick r:id="rId9" tooltip="https://www.mentimeter.com"/>
              </a:rPr>
              <a:t>https://www.mentimeter.com/</a:t>
            </a:r>
          </a:p>
          <a:p>
            <a:pPr algn="l">
              <a:lnSpc>
                <a:spcPts val="5704"/>
              </a:lnSpc>
            </a:pPr>
            <a:r>
              <a:rPr lang="en-US" sz="3777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code</a:t>
            </a:r>
            <a:r>
              <a:rPr lang="en-US" sz="3777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6540 6670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916982" y="738837"/>
            <a:ext cx="5342318" cy="1564651"/>
          </a:xfrm>
          <a:custGeom>
            <a:avLst/>
            <a:gdLst/>
            <a:ahLst/>
            <a:cxnLst/>
            <a:rect l="l" t="t" r="r" b="b"/>
            <a:pathLst>
              <a:path w="5342318" h="1564651">
                <a:moveTo>
                  <a:pt x="0" y="0"/>
                </a:moveTo>
                <a:lnTo>
                  <a:pt x="5342318" y="0"/>
                </a:lnTo>
                <a:lnTo>
                  <a:pt x="5342318" y="1564651"/>
                </a:lnTo>
                <a:lnTo>
                  <a:pt x="0" y="15646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435358" y="1444963"/>
            <a:ext cx="9791379" cy="674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32"/>
              </a:lnSpc>
              <a:spcBef>
                <a:spcPct val="0"/>
              </a:spcBef>
            </a:pPr>
            <a:r>
              <a:rPr lang="en-US" sz="3951" b="1">
                <a:solidFill>
                  <a:srgbClr val="2F748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IT Business Vocabulary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435358" y="2746049"/>
            <a:ext cx="9944063" cy="5072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66"/>
              </a:lnSpc>
            </a:pPr>
            <a:r>
              <a:rPr lang="en-US" sz="3355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Why IT Vocabulary Matters in Business</a:t>
            </a:r>
          </a:p>
          <a:p>
            <a:pPr marL="724448" lvl="1" indent="-362224" algn="l">
              <a:lnSpc>
                <a:spcPts val="5066"/>
              </a:lnSpc>
              <a:buFont typeface="Arial"/>
              <a:buChar char="•"/>
            </a:pPr>
            <a:r>
              <a:rPr lang="en-US" sz="3355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Helps business teams communicate clearly with IT</a:t>
            </a:r>
          </a:p>
          <a:p>
            <a:pPr marL="724448" lvl="1" indent="-362224" algn="l">
              <a:lnSpc>
                <a:spcPts val="5066"/>
              </a:lnSpc>
              <a:buFont typeface="Arial"/>
              <a:buChar char="•"/>
            </a:pPr>
            <a:r>
              <a:rPr lang="en-US" sz="3355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Reduces misunderstandings and errors</a:t>
            </a:r>
          </a:p>
          <a:p>
            <a:pPr marL="724448" lvl="1" indent="-362224" algn="l">
              <a:lnSpc>
                <a:spcPts val="5066"/>
              </a:lnSpc>
              <a:buFont typeface="Arial"/>
              <a:buChar char="•"/>
            </a:pPr>
            <a:r>
              <a:rPr lang="en-US" sz="3355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Speeds up decision-making and project delivery</a:t>
            </a:r>
          </a:p>
          <a:p>
            <a:pPr marL="724448" lvl="1" indent="-362224" algn="l">
              <a:lnSpc>
                <a:spcPts val="5066"/>
              </a:lnSpc>
              <a:buFont typeface="Arial"/>
              <a:buChar char="•"/>
            </a:pPr>
            <a:r>
              <a:rPr lang="en-US" sz="3355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Ensures better alignment across departments</a:t>
            </a: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A54D64D9-D0BF-D215-6F74-9ECDF959608E}"/>
              </a:ext>
            </a:extLst>
          </p:cNvPr>
          <p:cNvSpPr/>
          <p:nvPr/>
        </p:nvSpPr>
        <p:spPr>
          <a:xfrm>
            <a:off x="12725400" y="3300563"/>
            <a:ext cx="3753676" cy="4214171"/>
          </a:xfrm>
          <a:custGeom>
            <a:avLst/>
            <a:gdLst/>
            <a:ahLst/>
            <a:cxnLst/>
            <a:rect l="l" t="t" r="r" b="b"/>
            <a:pathLst>
              <a:path w="1721603" h="1738993">
                <a:moveTo>
                  <a:pt x="0" y="0"/>
                </a:moveTo>
                <a:lnTo>
                  <a:pt x="1721603" y="0"/>
                </a:lnTo>
                <a:lnTo>
                  <a:pt x="1721603" y="1738993"/>
                </a:lnTo>
                <a:lnTo>
                  <a:pt x="0" y="17389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916982" y="738837"/>
            <a:ext cx="5342318" cy="1564651"/>
          </a:xfrm>
          <a:custGeom>
            <a:avLst/>
            <a:gdLst/>
            <a:ahLst/>
            <a:cxnLst/>
            <a:rect l="l" t="t" r="r" b="b"/>
            <a:pathLst>
              <a:path w="5342318" h="1564651">
                <a:moveTo>
                  <a:pt x="0" y="0"/>
                </a:moveTo>
                <a:lnTo>
                  <a:pt x="5342318" y="0"/>
                </a:lnTo>
                <a:lnTo>
                  <a:pt x="5342318" y="1564651"/>
                </a:lnTo>
                <a:lnTo>
                  <a:pt x="0" y="15646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439374" y="2607930"/>
            <a:ext cx="14356629" cy="6044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78"/>
              </a:lnSpc>
            </a:pPr>
            <a:r>
              <a:rPr lang="en-US" sz="2899" b="1">
                <a:solidFill>
                  <a:srgbClr val="020202"/>
                </a:solidFill>
                <a:latin typeface="Poppins Bold"/>
                <a:ea typeface="Poppins Bold"/>
                <a:cs typeface="Poppins Bold"/>
                <a:sym typeface="Poppins Bold"/>
              </a:rPr>
              <a:t>Access Point</a:t>
            </a:r>
          </a:p>
          <a:p>
            <a:pPr algn="l">
              <a:lnSpc>
                <a:spcPts val="4378"/>
              </a:lnSpc>
            </a:pPr>
            <a:r>
              <a:rPr lang="en-US" sz="2899">
                <a:solidFill>
                  <a:srgbClr val="020202"/>
                </a:solidFill>
                <a:latin typeface="Poppins"/>
                <a:ea typeface="Poppins"/>
                <a:cs typeface="Poppins"/>
                <a:sym typeface="Poppins"/>
              </a:rPr>
              <a:t>A device that allows wireless devices (computers, tablets, phones) to connect to a network. It differs from a router as it primarily serves wireless connections.</a:t>
            </a:r>
          </a:p>
          <a:p>
            <a:pPr algn="l">
              <a:lnSpc>
                <a:spcPts val="4378"/>
              </a:lnSpc>
            </a:pPr>
            <a:endParaRPr lang="en-US" sz="2899">
              <a:solidFill>
                <a:srgbClr val="02020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4378"/>
              </a:lnSpc>
            </a:pPr>
            <a:r>
              <a:rPr lang="en-US" sz="2899" b="1">
                <a:solidFill>
                  <a:srgbClr val="020202"/>
                </a:solidFill>
                <a:latin typeface="Poppins Bold"/>
                <a:ea typeface="Poppins Bold"/>
                <a:cs typeface="Poppins Bold"/>
                <a:sym typeface="Poppins Bold"/>
              </a:rPr>
              <a:t>Bandwidth</a:t>
            </a:r>
          </a:p>
          <a:p>
            <a:pPr algn="l">
              <a:lnSpc>
                <a:spcPts val="4378"/>
              </a:lnSpc>
            </a:pPr>
            <a:r>
              <a:rPr lang="en-US" sz="2850" dirty="0">
                <a:solidFill>
                  <a:srgbClr val="020202"/>
                </a:solidFill>
                <a:latin typeface="Poppins"/>
                <a:ea typeface="Poppins"/>
                <a:cs typeface="Poppins"/>
                <a:sym typeface="Poppins"/>
              </a:rPr>
              <a:t>The amount of data that can be transmitted over a network in a given time.</a:t>
            </a:r>
            <a:endParaRPr lang="en-US" sz="2850" dirty="0">
              <a:solidFill>
                <a:srgbClr val="020202"/>
              </a:solidFill>
              <a:latin typeface="Poppins"/>
              <a:ea typeface="Poppins"/>
              <a:cs typeface="Poppins"/>
            </a:endParaRPr>
          </a:p>
          <a:p>
            <a:pPr algn="l">
              <a:lnSpc>
                <a:spcPts val="4378"/>
              </a:lnSpc>
            </a:pPr>
            <a:r>
              <a:rPr lang="en-US" sz="2899">
                <a:solidFill>
                  <a:srgbClr val="020202"/>
                </a:solidFill>
                <a:latin typeface="Poppins"/>
                <a:ea typeface="Poppins"/>
                <a:cs typeface="Poppins"/>
                <a:sym typeface="Poppins"/>
              </a:rPr>
              <a:t>Higher bandwidth means faster data transfer.</a:t>
            </a:r>
          </a:p>
          <a:p>
            <a:pPr algn="l">
              <a:lnSpc>
                <a:spcPts val="4378"/>
              </a:lnSpc>
            </a:pPr>
            <a:endParaRPr lang="en-US" sz="2899">
              <a:solidFill>
                <a:srgbClr val="020202"/>
              </a:solidFill>
              <a:latin typeface="Poppins"/>
              <a:ea typeface="Poppins"/>
              <a:cs typeface="Poppins"/>
              <a:sym typeface="Poppins"/>
            </a:endParaRPr>
          </a:p>
          <a:p>
            <a:r>
              <a:rPr lang="en-US" sz="2850" b="1">
                <a:solidFill>
                  <a:srgbClr val="020202"/>
                </a:solidFill>
                <a:latin typeface="Poppins Bold"/>
                <a:cs typeface="Poppins Bold"/>
                <a:sym typeface="Poppins Bold"/>
              </a:rPr>
              <a:t>Authentication</a:t>
            </a:r>
            <a:endParaRPr lang="en-US"/>
          </a:p>
          <a:p>
            <a:pPr algn="l">
              <a:lnSpc>
                <a:spcPts val="4378"/>
              </a:lnSpc>
            </a:pPr>
            <a:r>
              <a:rPr lang="en-US" sz="2899">
                <a:solidFill>
                  <a:srgbClr val="020202"/>
                </a:solidFill>
                <a:latin typeface="Poppins"/>
                <a:ea typeface="Poppins"/>
                <a:cs typeface="Poppins"/>
                <a:sym typeface="Poppins"/>
              </a:rPr>
              <a:t>The process of confirming a user’s identity, such as through usernames, passwords, or biometrics.</a:t>
            </a:r>
          </a:p>
        </p:txBody>
      </p:sp>
      <p:sp>
        <p:nvSpPr>
          <p:cNvPr id="4" name="Freeform 4"/>
          <p:cNvSpPr/>
          <p:nvPr/>
        </p:nvSpPr>
        <p:spPr>
          <a:xfrm>
            <a:off x="15677290" y="6712399"/>
            <a:ext cx="1582010" cy="2856903"/>
          </a:xfrm>
          <a:custGeom>
            <a:avLst/>
            <a:gdLst/>
            <a:ahLst/>
            <a:cxnLst/>
            <a:rect l="l" t="t" r="r" b="b"/>
            <a:pathLst>
              <a:path w="1582010" h="2856903">
                <a:moveTo>
                  <a:pt x="0" y="0"/>
                </a:moveTo>
                <a:lnTo>
                  <a:pt x="1582010" y="0"/>
                </a:lnTo>
                <a:lnTo>
                  <a:pt x="1582010" y="2856903"/>
                </a:lnTo>
                <a:lnTo>
                  <a:pt x="0" y="285690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439374" y="1036959"/>
            <a:ext cx="10811577" cy="863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sz="5000" b="1">
                <a:solidFill>
                  <a:srgbClr val="2F748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Let’s Learn Vocabulary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916982" y="738837"/>
            <a:ext cx="5342318" cy="1564651"/>
          </a:xfrm>
          <a:custGeom>
            <a:avLst/>
            <a:gdLst/>
            <a:ahLst/>
            <a:cxnLst/>
            <a:rect l="l" t="t" r="r" b="b"/>
            <a:pathLst>
              <a:path w="5342318" h="1564651">
                <a:moveTo>
                  <a:pt x="0" y="0"/>
                </a:moveTo>
                <a:lnTo>
                  <a:pt x="5342318" y="0"/>
                </a:lnTo>
                <a:lnTo>
                  <a:pt x="5342318" y="1564651"/>
                </a:lnTo>
                <a:lnTo>
                  <a:pt x="0" y="15646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439374" y="2396420"/>
            <a:ext cx="14356629" cy="7298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378"/>
              </a:lnSpc>
            </a:pPr>
            <a:r>
              <a:rPr lang="en-US" sz="2850" b="1">
                <a:solidFill>
                  <a:srgbClr val="020202"/>
                </a:solidFill>
                <a:latin typeface="Poppins Bold"/>
                <a:ea typeface="Poppins Bold"/>
                <a:cs typeface="Poppins Bold"/>
                <a:sym typeface="Poppins Bold"/>
              </a:rPr>
              <a:t> Cloud Computing</a:t>
            </a:r>
          </a:p>
          <a:p>
            <a:pPr algn="l">
              <a:lnSpc>
                <a:spcPts val="4378"/>
              </a:lnSpc>
            </a:pPr>
            <a:r>
              <a:rPr lang="en-US" sz="2899">
                <a:solidFill>
                  <a:srgbClr val="020202"/>
                </a:solidFill>
                <a:latin typeface="Poppins"/>
                <a:ea typeface="Poppins"/>
                <a:cs typeface="Poppins"/>
                <a:sym typeface="Poppins"/>
              </a:rPr>
              <a:t>Using internet-based servers to store, manage, and process data instead of local computers.</a:t>
            </a:r>
          </a:p>
          <a:p>
            <a:pPr algn="l">
              <a:lnSpc>
                <a:spcPts val="4378"/>
              </a:lnSpc>
            </a:pPr>
            <a:r>
              <a:rPr lang="en-US" sz="2899">
                <a:solidFill>
                  <a:srgbClr val="020202"/>
                </a:solidFill>
                <a:latin typeface="Poppins"/>
                <a:ea typeface="Poppins"/>
                <a:cs typeface="Poppins"/>
                <a:sym typeface="Poppins"/>
              </a:rPr>
              <a:t> Includes services like SaaS (Software as a Service), PaaS (Platform as a Service), and IaaS (Infrastructure as a Service).</a:t>
            </a:r>
          </a:p>
          <a:p>
            <a:pPr algn="l">
              <a:lnSpc>
                <a:spcPts val="4378"/>
              </a:lnSpc>
            </a:pPr>
            <a:endParaRPr lang="en-US" sz="2899">
              <a:solidFill>
                <a:srgbClr val="02020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4378"/>
              </a:lnSpc>
            </a:pPr>
            <a:r>
              <a:rPr lang="en-US" sz="2899" b="1">
                <a:solidFill>
                  <a:srgbClr val="020202"/>
                </a:solidFill>
                <a:latin typeface="Poppins Bold"/>
                <a:ea typeface="Poppins Bold"/>
                <a:cs typeface="Poppins Bold"/>
                <a:sym typeface="Poppins Bold"/>
              </a:rPr>
              <a:t>Backup</a:t>
            </a:r>
          </a:p>
          <a:p>
            <a:pPr algn="l">
              <a:lnSpc>
                <a:spcPts val="4378"/>
              </a:lnSpc>
            </a:pPr>
            <a:r>
              <a:rPr lang="en-US" sz="2899">
                <a:solidFill>
                  <a:srgbClr val="020202"/>
                </a:solidFill>
                <a:latin typeface="Poppins"/>
                <a:ea typeface="Poppins"/>
                <a:cs typeface="Poppins"/>
                <a:sym typeface="Poppins"/>
              </a:rPr>
              <a:t>A copy of data stored separately to protect against loss or corruption. Important for restoring systems after a failure. </a:t>
            </a:r>
          </a:p>
          <a:p>
            <a:pPr algn="l">
              <a:lnSpc>
                <a:spcPts val="4378"/>
              </a:lnSpc>
            </a:pPr>
            <a:endParaRPr lang="en-US" sz="2899">
              <a:solidFill>
                <a:srgbClr val="02020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4378"/>
              </a:lnSpc>
            </a:pPr>
            <a:r>
              <a:rPr lang="en-US" sz="2899" b="1">
                <a:solidFill>
                  <a:srgbClr val="020202"/>
                </a:solidFill>
                <a:latin typeface="Poppins Bold"/>
                <a:ea typeface="Poppins Bold"/>
                <a:cs typeface="Poppins Bold"/>
                <a:sym typeface="Poppins Bold"/>
              </a:rPr>
              <a:t>Disaster Recovery</a:t>
            </a:r>
          </a:p>
          <a:p>
            <a:pPr algn="l">
              <a:lnSpc>
                <a:spcPts val="4378"/>
              </a:lnSpc>
            </a:pPr>
            <a:r>
              <a:rPr lang="en-US" sz="2899">
                <a:solidFill>
                  <a:srgbClr val="020202"/>
                </a:solidFill>
                <a:latin typeface="Poppins"/>
                <a:ea typeface="Poppins"/>
                <a:cs typeface="Poppins"/>
                <a:sym typeface="Poppins"/>
              </a:rPr>
              <a:t>Plans and tools to restore data and systems after a significant disruption, keeping business operations resilient.</a:t>
            </a:r>
          </a:p>
        </p:txBody>
      </p:sp>
      <p:sp>
        <p:nvSpPr>
          <p:cNvPr id="4" name="Freeform 4"/>
          <p:cNvSpPr/>
          <p:nvPr/>
        </p:nvSpPr>
        <p:spPr>
          <a:xfrm>
            <a:off x="15677290" y="6712399"/>
            <a:ext cx="1582010" cy="2856903"/>
          </a:xfrm>
          <a:custGeom>
            <a:avLst/>
            <a:gdLst/>
            <a:ahLst/>
            <a:cxnLst/>
            <a:rect l="l" t="t" r="r" b="b"/>
            <a:pathLst>
              <a:path w="1582010" h="2856903">
                <a:moveTo>
                  <a:pt x="0" y="0"/>
                </a:moveTo>
                <a:lnTo>
                  <a:pt x="1582010" y="0"/>
                </a:lnTo>
                <a:lnTo>
                  <a:pt x="1582010" y="2856903"/>
                </a:lnTo>
                <a:lnTo>
                  <a:pt x="0" y="285690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439374" y="1036959"/>
            <a:ext cx="10811577" cy="863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sz="5000" b="1">
                <a:solidFill>
                  <a:srgbClr val="2F748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Let’s Learn Vocabulary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916982" y="738837"/>
            <a:ext cx="5342318" cy="1564651"/>
          </a:xfrm>
          <a:custGeom>
            <a:avLst/>
            <a:gdLst/>
            <a:ahLst/>
            <a:cxnLst/>
            <a:rect l="l" t="t" r="r" b="b"/>
            <a:pathLst>
              <a:path w="5342318" h="1564651">
                <a:moveTo>
                  <a:pt x="0" y="0"/>
                </a:moveTo>
                <a:lnTo>
                  <a:pt x="5342318" y="0"/>
                </a:lnTo>
                <a:lnTo>
                  <a:pt x="5342318" y="1564651"/>
                </a:lnTo>
                <a:lnTo>
                  <a:pt x="0" y="15646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439374" y="2611729"/>
            <a:ext cx="14356629" cy="6620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78"/>
              </a:lnSpc>
            </a:pPr>
            <a:r>
              <a:rPr lang="en-US" sz="2899" b="1">
                <a:solidFill>
                  <a:srgbClr val="020202"/>
                </a:solidFill>
                <a:latin typeface="Poppins Bold"/>
                <a:ea typeface="Poppins Bold"/>
                <a:cs typeface="Poppins Bold"/>
                <a:sym typeface="Poppins Bold"/>
              </a:rPr>
              <a:t>API</a:t>
            </a:r>
          </a:p>
          <a:p>
            <a:pPr algn="l">
              <a:lnSpc>
                <a:spcPts val="4378"/>
              </a:lnSpc>
            </a:pPr>
            <a:r>
              <a:rPr lang="en-US" sz="2899">
                <a:solidFill>
                  <a:srgbClr val="020202"/>
                </a:solidFill>
                <a:latin typeface="Poppins"/>
                <a:ea typeface="Poppins"/>
                <a:cs typeface="Poppins"/>
                <a:sym typeface="Poppins"/>
              </a:rPr>
              <a:t>A set of rules that allows different software applications to communicate with each other.</a:t>
            </a:r>
          </a:p>
          <a:p>
            <a:pPr algn="l">
              <a:lnSpc>
                <a:spcPts val="4378"/>
              </a:lnSpc>
            </a:pPr>
            <a:r>
              <a:rPr lang="en-US" sz="2899">
                <a:solidFill>
                  <a:srgbClr val="020202"/>
                </a:solidFill>
                <a:latin typeface="Poppins"/>
                <a:ea typeface="Poppins"/>
                <a:cs typeface="Poppins"/>
                <a:sym typeface="Poppins"/>
              </a:rPr>
              <a:t>APIs enable services like payment gateways, maps, or social login. </a:t>
            </a:r>
          </a:p>
          <a:p>
            <a:pPr algn="l">
              <a:lnSpc>
                <a:spcPts val="4378"/>
              </a:lnSpc>
            </a:pPr>
            <a:endParaRPr lang="en-US" sz="2899">
              <a:solidFill>
                <a:srgbClr val="02020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4378"/>
              </a:lnSpc>
            </a:pPr>
            <a:r>
              <a:rPr lang="en-US" sz="2899" b="1">
                <a:solidFill>
                  <a:srgbClr val="020202"/>
                </a:solidFill>
                <a:latin typeface="Poppins Bold"/>
                <a:ea typeface="Poppins Bold"/>
                <a:cs typeface="Poppins Bold"/>
                <a:sym typeface="Poppins Bold"/>
              </a:rPr>
              <a:t>Endpoint</a:t>
            </a:r>
          </a:p>
          <a:p>
            <a:pPr algn="l">
              <a:lnSpc>
                <a:spcPts val="4378"/>
              </a:lnSpc>
            </a:pPr>
            <a:r>
              <a:rPr lang="en-US" sz="2899">
                <a:solidFill>
                  <a:srgbClr val="020202"/>
                </a:solidFill>
                <a:latin typeface="Poppins"/>
                <a:ea typeface="Poppins"/>
                <a:cs typeface="Poppins"/>
                <a:sym typeface="Poppins"/>
              </a:rPr>
              <a:t>Any device (laptop, smartphone, tablet) connected to a network.</a:t>
            </a:r>
          </a:p>
          <a:p>
            <a:pPr algn="l">
              <a:lnSpc>
                <a:spcPts val="4378"/>
              </a:lnSpc>
            </a:pPr>
            <a:r>
              <a:rPr lang="en-US" sz="2899">
                <a:solidFill>
                  <a:srgbClr val="020202"/>
                </a:solidFill>
                <a:latin typeface="Poppins"/>
                <a:ea typeface="Poppins"/>
                <a:cs typeface="Poppins"/>
                <a:sym typeface="Poppins"/>
              </a:rPr>
              <a:t>Important in security and IT management.</a:t>
            </a:r>
          </a:p>
          <a:p>
            <a:pPr algn="l">
              <a:lnSpc>
                <a:spcPts val="4378"/>
              </a:lnSpc>
            </a:pPr>
            <a:endParaRPr lang="en-US" sz="2899">
              <a:solidFill>
                <a:srgbClr val="02020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4378"/>
              </a:lnSpc>
            </a:pPr>
            <a:r>
              <a:rPr lang="en-US" sz="2899" b="1">
                <a:solidFill>
                  <a:srgbClr val="020202"/>
                </a:solidFill>
                <a:latin typeface="Poppins Bold"/>
                <a:ea typeface="Poppins Bold"/>
                <a:cs typeface="Poppins Bold"/>
                <a:sym typeface="Poppins Bold"/>
              </a:rPr>
              <a:t>Cybersecurity</a:t>
            </a:r>
          </a:p>
          <a:p>
            <a:pPr algn="l">
              <a:lnSpc>
                <a:spcPts val="4378"/>
              </a:lnSpc>
            </a:pPr>
            <a:r>
              <a:rPr lang="en-US" sz="2899">
                <a:solidFill>
                  <a:srgbClr val="020202"/>
                </a:solidFill>
                <a:latin typeface="Poppins"/>
                <a:ea typeface="Poppins"/>
                <a:cs typeface="Poppins"/>
                <a:sym typeface="Poppins"/>
              </a:rPr>
              <a:t>The practices and tools for protecting systems and data from unauthorized access or attacks.</a:t>
            </a:r>
          </a:p>
        </p:txBody>
      </p:sp>
      <p:sp>
        <p:nvSpPr>
          <p:cNvPr id="4" name="Freeform 4"/>
          <p:cNvSpPr/>
          <p:nvPr/>
        </p:nvSpPr>
        <p:spPr>
          <a:xfrm>
            <a:off x="15677290" y="6712399"/>
            <a:ext cx="1582010" cy="2856903"/>
          </a:xfrm>
          <a:custGeom>
            <a:avLst/>
            <a:gdLst/>
            <a:ahLst/>
            <a:cxnLst/>
            <a:rect l="l" t="t" r="r" b="b"/>
            <a:pathLst>
              <a:path w="1582010" h="2856903">
                <a:moveTo>
                  <a:pt x="0" y="0"/>
                </a:moveTo>
                <a:lnTo>
                  <a:pt x="1582010" y="0"/>
                </a:lnTo>
                <a:lnTo>
                  <a:pt x="1582010" y="2856903"/>
                </a:lnTo>
                <a:lnTo>
                  <a:pt x="0" y="285690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439374" y="1036959"/>
            <a:ext cx="10811577" cy="863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sz="5000" b="1">
                <a:solidFill>
                  <a:srgbClr val="2F748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Let’s Learn Vocabulary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916982" y="738837"/>
            <a:ext cx="5342318" cy="1564651"/>
          </a:xfrm>
          <a:custGeom>
            <a:avLst/>
            <a:gdLst/>
            <a:ahLst/>
            <a:cxnLst/>
            <a:rect l="l" t="t" r="r" b="b"/>
            <a:pathLst>
              <a:path w="5342318" h="1564651">
                <a:moveTo>
                  <a:pt x="0" y="0"/>
                </a:moveTo>
                <a:lnTo>
                  <a:pt x="5342318" y="0"/>
                </a:lnTo>
                <a:lnTo>
                  <a:pt x="5342318" y="1564651"/>
                </a:lnTo>
                <a:lnTo>
                  <a:pt x="0" y="15646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439374" y="2611729"/>
            <a:ext cx="14356629" cy="5515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78"/>
              </a:lnSpc>
            </a:pPr>
            <a:r>
              <a:rPr lang="en-US" sz="2899" b="1">
                <a:solidFill>
                  <a:srgbClr val="020202"/>
                </a:solidFill>
                <a:latin typeface="Poppins Bold"/>
                <a:ea typeface="Poppins Bold"/>
                <a:cs typeface="Poppins Bold"/>
                <a:sym typeface="Poppins Bold"/>
              </a:rPr>
              <a:t>Internet Protocol (IP)</a:t>
            </a:r>
          </a:p>
          <a:p>
            <a:pPr algn="l">
              <a:lnSpc>
                <a:spcPts val="4378"/>
              </a:lnSpc>
            </a:pPr>
            <a:r>
              <a:rPr lang="en-US" sz="2899">
                <a:solidFill>
                  <a:srgbClr val="020202"/>
                </a:solidFill>
                <a:latin typeface="Poppins"/>
                <a:ea typeface="Poppins"/>
                <a:cs typeface="Poppins"/>
                <a:sym typeface="Poppins"/>
              </a:rPr>
              <a:t>A set of rules for sending data online, where each device has a unique address.</a:t>
            </a:r>
          </a:p>
          <a:p>
            <a:pPr algn="l">
              <a:lnSpc>
                <a:spcPts val="4378"/>
              </a:lnSpc>
            </a:pPr>
            <a:endParaRPr lang="en-US" sz="2899">
              <a:solidFill>
                <a:srgbClr val="02020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4378"/>
              </a:lnSpc>
            </a:pPr>
            <a:r>
              <a:rPr lang="en-US" sz="2899" b="1">
                <a:solidFill>
                  <a:srgbClr val="020202"/>
                </a:solidFill>
                <a:latin typeface="Poppins Bold"/>
                <a:ea typeface="Poppins Bold"/>
                <a:cs typeface="Poppins Bold"/>
                <a:sym typeface="Poppins Bold"/>
              </a:rPr>
              <a:t>Database</a:t>
            </a:r>
          </a:p>
          <a:p>
            <a:pPr algn="l">
              <a:lnSpc>
                <a:spcPts val="4378"/>
              </a:lnSpc>
            </a:pPr>
            <a:r>
              <a:rPr lang="en-US" sz="2899">
                <a:solidFill>
                  <a:srgbClr val="020202"/>
                </a:solidFill>
                <a:latin typeface="Poppins"/>
                <a:ea typeface="Poppins"/>
                <a:cs typeface="Poppins"/>
                <a:sym typeface="Poppins"/>
              </a:rPr>
              <a:t>Structured storage of organized data that can be easily accessed and managed.</a:t>
            </a:r>
          </a:p>
          <a:p>
            <a:pPr algn="l">
              <a:lnSpc>
                <a:spcPts val="4378"/>
              </a:lnSpc>
            </a:pPr>
            <a:endParaRPr lang="en-US" sz="2899">
              <a:solidFill>
                <a:srgbClr val="02020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4378"/>
              </a:lnSpc>
            </a:pPr>
            <a:r>
              <a:rPr lang="en-US" sz="2899" b="1">
                <a:solidFill>
                  <a:srgbClr val="020202"/>
                </a:solidFill>
                <a:latin typeface="Poppins Bold"/>
                <a:ea typeface="Poppins Bold"/>
                <a:cs typeface="Poppins Bold"/>
                <a:sym typeface="Poppins Bold"/>
              </a:rPr>
              <a:t>Backup</a:t>
            </a:r>
          </a:p>
          <a:p>
            <a:pPr algn="l">
              <a:lnSpc>
                <a:spcPts val="4378"/>
              </a:lnSpc>
            </a:pPr>
            <a:r>
              <a:rPr lang="en-US" sz="2899">
                <a:solidFill>
                  <a:srgbClr val="020202"/>
                </a:solidFill>
                <a:latin typeface="Poppins"/>
                <a:ea typeface="Poppins"/>
                <a:cs typeface="Poppins"/>
                <a:sym typeface="Poppins"/>
              </a:rPr>
              <a:t>Copies of data created to protect against loss.</a:t>
            </a:r>
          </a:p>
        </p:txBody>
      </p:sp>
      <p:sp>
        <p:nvSpPr>
          <p:cNvPr id="4" name="Freeform 4"/>
          <p:cNvSpPr/>
          <p:nvPr/>
        </p:nvSpPr>
        <p:spPr>
          <a:xfrm>
            <a:off x="15677290" y="6712399"/>
            <a:ext cx="1582010" cy="2856903"/>
          </a:xfrm>
          <a:custGeom>
            <a:avLst/>
            <a:gdLst/>
            <a:ahLst/>
            <a:cxnLst/>
            <a:rect l="l" t="t" r="r" b="b"/>
            <a:pathLst>
              <a:path w="1582010" h="2856903">
                <a:moveTo>
                  <a:pt x="0" y="0"/>
                </a:moveTo>
                <a:lnTo>
                  <a:pt x="1582010" y="0"/>
                </a:lnTo>
                <a:lnTo>
                  <a:pt x="1582010" y="2856903"/>
                </a:lnTo>
                <a:lnTo>
                  <a:pt x="0" y="285690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439374" y="1036959"/>
            <a:ext cx="10811577" cy="863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sz="5000" b="1">
                <a:solidFill>
                  <a:srgbClr val="2F748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Let’s Learn Vocabulary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916982" y="738837"/>
            <a:ext cx="5342318" cy="1564651"/>
          </a:xfrm>
          <a:custGeom>
            <a:avLst/>
            <a:gdLst/>
            <a:ahLst/>
            <a:cxnLst/>
            <a:rect l="l" t="t" r="r" b="b"/>
            <a:pathLst>
              <a:path w="5342318" h="1564651">
                <a:moveTo>
                  <a:pt x="0" y="0"/>
                </a:moveTo>
                <a:lnTo>
                  <a:pt x="5342318" y="0"/>
                </a:lnTo>
                <a:lnTo>
                  <a:pt x="5342318" y="1564651"/>
                </a:lnTo>
                <a:lnTo>
                  <a:pt x="0" y="15646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439374" y="2611729"/>
            <a:ext cx="14356629" cy="4962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78"/>
              </a:lnSpc>
            </a:pPr>
            <a:r>
              <a:rPr lang="en-US" sz="2899" b="1">
                <a:solidFill>
                  <a:srgbClr val="020202"/>
                </a:solidFill>
                <a:latin typeface="Poppins Bold"/>
                <a:ea typeface="Poppins Bold"/>
                <a:cs typeface="Poppins Bold"/>
                <a:sym typeface="Poppins Bold"/>
              </a:rPr>
              <a:t>User Interface (UI)</a:t>
            </a:r>
          </a:p>
          <a:p>
            <a:pPr algn="l">
              <a:lnSpc>
                <a:spcPts val="4378"/>
              </a:lnSpc>
            </a:pPr>
            <a:r>
              <a:rPr lang="en-US" sz="2899">
                <a:solidFill>
                  <a:srgbClr val="020202"/>
                </a:solidFill>
                <a:latin typeface="Poppins"/>
                <a:ea typeface="Poppins"/>
                <a:cs typeface="Poppins"/>
                <a:sym typeface="Poppins"/>
              </a:rPr>
              <a:t>The part of a system a person interacts with directly (buttons, menus, screens).</a:t>
            </a:r>
          </a:p>
          <a:p>
            <a:pPr algn="l">
              <a:lnSpc>
                <a:spcPts val="4378"/>
              </a:lnSpc>
            </a:pPr>
            <a:endParaRPr lang="en-US" sz="2899">
              <a:solidFill>
                <a:srgbClr val="02020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4378"/>
              </a:lnSpc>
            </a:pPr>
            <a:r>
              <a:rPr lang="en-US" sz="2899" b="1">
                <a:solidFill>
                  <a:srgbClr val="020202"/>
                </a:solidFill>
                <a:latin typeface="Poppins Bold"/>
                <a:ea typeface="Poppins Bold"/>
                <a:cs typeface="Poppins Bold"/>
                <a:sym typeface="Poppins Bold"/>
              </a:rPr>
              <a:t>User Experience (UX)</a:t>
            </a:r>
          </a:p>
          <a:p>
            <a:pPr algn="l">
              <a:lnSpc>
                <a:spcPts val="4378"/>
              </a:lnSpc>
            </a:pPr>
            <a:r>
              <a:rPr lang="en-US" sz="2899">
                <a:solidFill>
                  <a:srgbClr val="020202"/>
                </a:solidFill>
                <a:latin typeface="Poppins"/>
                <a:ea typeface="Poppins"/>
                <a:cs typeface="Poppins"/>
                <a:sym typeface="Poppins"/>
              </a:rPr>
              <a:t>The overall experience of a user interacting with a product or service.</a:t>
            </a:r>
          </a:p>
          <a:p>
            <a:pPr algn="l">
              <a:lnSpc>
                <a:spcPts val="4378"/>
              </a:lnSpc>
            </a:pPr>
            <a:endParaRPr lang="en-US" sz="2899">
              <a:solidFill>
                <a:srgbClr val="02020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4378"/>
              </a:lnSpc>
            </a:pPr>
            <a:r>
              <a:rPr lang="en-US" sz="2899" b="1">
                <a:solidFill>
                  <a:srgbClr val="020202"/>
                </a:solidFill>
                <a:latin typeface="Poppins Bold"/>
                <a:ea typeface="Poppins Bold"/>
                <a:cs typeface="Poppins Bold"/>
                <a:sym typeface="Poppins Bold"/>
              </a:rPr>
              <a:t>Help Desk</a:t>
            </a:r>
          </a:p>
          <a:p>
            <a:pPr algn="l">
              <a:lnSpc>
                <a:spcPts val="4378"/>
              </a:lnSpc>
            </a:pPr>
            <a:r>
              <a:rPr lang="en-US" sz="2899">
                <a:solidFill>
                  <a:srgbClr val="020202"/>
                </a:solidFill>
                <a:latin typeface="Poppins"/>
                <a:ea typeface="Poppins"/>
                <a:cs typeface="Poppins"/>
                <a:sym typeface="Poppins"/>
              </a:rPr>
              <a:t>Service that offers support and troubleshooting for technology issues.</a:t>
            </a:r>
          </a:p>
        </p:txBody>
      </p:sp>
      <p:sp>
        <p:nvSpPr>
          <p:cNvPr id="4" name="Freeform 4"/>
          <p:cNvSpPr/>
          <p:nvPr/>
        </p:nvSpPr>
        <p:spPr>
          <a:xfrm>
            <a:off x="15677290" y="6712399"/>
            <a:ext cx="1582010" cy="2856903"/>
          </a:xfrm>
          <a:custGeom>
            <a:avLst/>
            <a:gdLst/>
            <a:ahLst/>
            <a:cxnLst/>
            <a:rect l="l" t="t" r="r" b="b"/>
            <a:pathLst>
              <a:path w="1582010" h="2856903">
                <a:moveTo>
                  <a:pt x="0" y="0"/>
                </a:moveTo>
                <a:lnTo>
                  <a:pt x="1582010" y="0"/>
                </a:lnTo>
                <a:lnTo>
                  <a:pt x="1582010" y="2856903"/>
                </a:lnTo>
                <a:lnTo>
                  <a:pt x="0" y="285690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439374" y="1036959"/>
            <a:ext cx="10811577" cy="863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sz="5000" b="1">
                <a:solidFill>
                  <a:srgbClr val="2F748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Let’s Learn Vocabulary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916982" y="738837"/>
            <a:ext cx="5342318" cy="1564651"/>
          </a:xfrm>
          <a:custGeom>
            <a:avLst/>
            <a:gdLst/>
            <a:ahLst/>
            <a:cxnLst/>
            <a:rect l="l" t="t" r="r" b="b"/>
            <a:pathLst>
              <a:path w="5342318" h="1564651">
                <a:moveTo>
                  <a:pt x="0" y="0"/>
                </a:moveTo>
                <a:lnTo>
                  <a:pt x="5342318" y="0"/>
                </a:lnTo>
                <a:lnTo>
                  <a:pt x="5342318" y="1564651"/>
                </a:lnTo>
                <a:lnTo>
                  <a:pt x="0" y="15646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28700" y="3773510"/>
            <a:ext cx="13559441" cy="3795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10"/>
              </a:lnSpc>
            </a:pPr>
            <a:r>
              <a:rPr lang="en-US" sz="3318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Objective - </a:t>
            </a:r>
            <a:r>
              <a:rPr lang="en-US" sz="3318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Practice IT Vocabulary</a:t>
            </a:r>
          </a:p>
          <a:p>
            <a:pPr algn="l">
              <a:lnSpc>
                <a:spcPts val="5010"/>
              </a:lnSpc>
            </a:pPr>
            <a:r>
              <a:rPr lang="en-US" sz="3318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Task -</a:t>
            </a:r>
            <a:r>
              <a:rPr lang="en-US" sz="3318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Pick </a:t>
            </a:r>
            <a:r>
              <a:rPr lang="en-US" sz="3318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10 terms</a:t>
            </a:r>
            <a:r>
              <a:rPr lang="en-US" sz="3318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 apart from this deck and write:</a:t>
            </a:r>
          </a:p>
          <a:p>
            <a:pPr marL="716389" lvl="1" indent="-358194" algn="l">
              <a:lnSpc>
                <a:spcPts val="5010"/>
              </a:lnSpc>
              <a:buFont typeface="Arial"/>
              <a:buChar char="•"/>
            </a:pPr>
            <a:r>
              <a:rPr lang="en-US" sz="3318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Short definition in your own words</a:t>
            </a:r>
          </a:p>
          <a:p>
            <a:pPr marL="716389" lvl="1" indent="-358194" algn="l">
              <a:lnSpc>
                <a:spcPts val="5010"/>
              </a:lnSpc>
              <a:buFont typeface="Arial"/>
              <a:buChar char="•"/>
            </a:pPr>
            <a:r>
              <a:rPr lang="en-US" sz="3318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One example of use in workplace communication</a:t>
            </a:r>
          </a:p>
          <a:p>
            <a:pPr marL="716389" lvl="1" indent="-358194" algn="l">
              <a:lnSpc>
                <a:spcPts val="5010"/>
              </a:lnSpc>
              <a:buFont typeface="Arial"/>
              <a:buChar char="•"/>
            </a:pPr>
            <a:r>
              <a:rPr lang="en-US" sz="3318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Why it matters in business context (Use clear business language, not technical complexity)</a:t>
            </a:r>
          </a:p>
        </p:txBody>
      </p:sp>
      <p:sp>
        <p:nvSpPr>
          <p:cNvPr id="4" name="Freeform 4"/>
          <p:cNvSpPr/>
          <p:nvPr/>
        </p:nvSpPr>
        <p:spPr>
          <a:xfrm>
            <a:off x="663305" y="383965"/>
            <a:ext cx="2995998" cy="1730189"/>
          </a:xfrm>
          <a:custGeom>
            <a:avLst/>
            <a:gdLst/>
            <a:ahLst/>
            <a:cxnLst/>
            <a:rect l="l" t="t" r="r" b="b"/>
            <a:pathLst>
              <a:path w="2995998" h="1730189">
                <a:moveTo>
                  <a:pt x="0" y="0"/>
                </a:moveTo>
                <a:lnTo>
                  <a:pt x="2995998" y="0"/>
                </a:lnTo>
                <a:lnTo>
                  <a:pt x="2995998" y="1730189"/>
                </a:lnTo>
                <a:lnTo>
                  <a:pt x="0" y="17301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2996764" y="1961754"/>
            <a:ext cx="8281792" cy="1451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04"/>
              </a:lnSpc>
            </a:pPr>
            <a:r>
              <a:rPr lang="en-US" sz="3777" b="1">
                <a:solidFill>
                  <a:srgbClr val="0C3645"/>
                </a:solidFill>
                <a:latin typeface="Poppins Bold"/>
                <a:ea typeface="Poppins Bold"/>
                <a:cs typeface="Poppins Bold"/>
                <a:sym typeface="Poppins Bold"/>
              </a:rPr>
              <a:t>Assignment 1: Practice IT Vocabulary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916982" y="738837"/>
            <a:ext cx="5342318" cy="1564651"/>
          </a:xfrm>
          <a:custGeom>
            <a:avLst/>
            <a:gdLst/>
            <a:ahLst/>
            <a:cxnLst/>
            <a:rect l="l" t="t" r="r" b="b"/>
            <a:pathLst>
              <a:path w="5342318" h="1564651">
                <a:moveTo>
                  <a:pt x="0" y="0"/>
                </a:moveTo>
                <a:lnTo>
                  <a:pt x="5342318" y="0"/>
                </a:lnTo>
                <a:lnTo>
                  <a:pt x="5342318" y="1564651"/>
                </a:lnTo>
                <a:lnTo>
                  <a:pt x="0" y="15646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2432631" y="3481982"/>
            <a:ext cx="4311021" cy="3788309"/>
          </a:xfrm>
          <a:custGeom>
            <a:avLst/>
            <a:gdLst/>
            <a:ahLst/>
            <a:cxnLst/>
            <a:rect l="l" t="t" r="r" b="b"/>
            <a:pathLst>
              <a:path w="4311021" h="3788309">
                <a:moveTo>
                  <a:pt x="0" y="0"/>
                </a:moveTo>
                <a:lnTo>
                  <a:pt x="4311020" y="0"/>
                </a:lnTo>
                <a:lnTo>
                  <a:pt x="4311020" y="3788310"/>
                </a:lnTo>
                <a:lnTo>
                  <a:pt x="0" y="37883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805380" y="2225401"/>
            <a:ext cx="9131277" cy="63014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465"/>
              </a:lnSpc>
            </a:pPr>
            <a:r>
              <a:rPr lang="en-US" sz="361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Please share your learnings with </a:t>
            </a:r>
            <a:r>
              <a:rPr lang="en-US" sz="3619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Ravi Gupta</a:t>
            </a:r>
            <a:r>
              <a:rPr lang="en-US" sz="361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in a brief way, following the format below:</a:t>
            </a:r>
          </a:p>
          <a:p>
            <a:pPr marL="781428" lvl="1" indent="-390714" algn="l">
              <a:lnSpc>
                <a:spcPts val="5465"/>
              </a:lnSpc>
              <a:buFont typeface="Arial"/>
              <a:buChar char="•"/>
            </a:pPr>
            <a:r>
              <a:rPr lang="en-US" sz="3619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1 key learning </a:t>
            </a:r>
            <a:r>
              <a:rPr lang="en-US" sz="361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from today’s session</a:t>
            </a:r>
          </a:p>
          <a:p>
            <a:pPr marL="781428" lvl="1" indent="-390714" algn="l">
              <a:lnSpc>
                <a:spcPts val="5465"/>
              </a:lnSpc>
              <a:buFont typeface="Arial"/>
              <a:buChar char="•"/>
            </a:pPr>
            <a:r>
              <a:rPr lang="en-US" sz="3619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1 key learning </a:t>
            </a:r>
            <a:r>
              <a:rPr lang="en-US" sz="361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from yesterday’s assignment</a:t>
            </a:r>
          </a:p>
          <a:p>
            <a:pPr marL="781428" lvl="1" indent="-390714" algn="l">
              <a:lnSpc>
                <a:spcPts val="5465"/>
              </a:lnSpc>
              <a:buFont typeface="Arial"/>
              <a:buChar char="•"/>
            </a:pPr>
            <a:r>
              <a:rPr lang="en-US" sz="3619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1 challenge </a:t>
            </a:r>
            <a:r>
              <a:rPr lang="en-US" sz="361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faced</a:t>
            </a:r>
          </a:p>
          <a:p>
            <a:pPr marL="781428" lvl="1" indent="-390714" algn="l">
              <a:lnSpc>
                <a:spcPts val="5465"/>
              </a:lnSpc>
              <a:buFont typeface="Arial"/>
              <a:buChar char="•"/>
            </a:pPr>
            <a:r>
              <a:rPr lang="en-US" sz="3619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1 improvement </a:t>
            </a:r>
            <a:r>
              <a:rPr lang="en-US" sz="361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 action you will apply next time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916982" y="738837"/>
            <a:ext cx="5342318" cy="1564651"/>
          </a:xfrm>
          <a:custGeom>
            <a:avLst/>
            <a:gdLst/>
            <a:ahLst/>
            <a:cxnLst/>
            <a:rect l="l" t="t" r="r" b="b"/>
            <a:pathLst>
              <a:path w="5342318" h="1564651">
                <a:moveTo>
                  <a:pt x="0" y="0"/>
                </a:moveTo>
                <a:lnTo>
                  <a:pt x="5342318" y="0"/>
                </a:lnTo>
                <a:lnTo>
                  <a:pt x="5342318" y="1564651"/>
                </a:lnTo>
                <a:lnTo>
                  <a:pt x="0" y="15646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372539" y="1425643"/>
            <a:ext cx="9439933" cy="7434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53"/>
              </a:lnSpc>
            </a:pPr>
            <a:r>
              <a:rPr lang="en-US" sz="3015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🙏 Thank You</a:t>
            </a:r>
          </a:p>
          <a:p>
            <a:pPr algn="l">
              <a:lnSpc>
                <a:spcPts val="4553"/>
              </a:lnSpc>
            </a:pPr>
            <a:r>
              <a:rPr lang="en-US" sz="3015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Great Learning today!</a:t>
            </a:r>
          </a:p>
          <a:p>
            <a:pPr algn="l">
              <a:lnSpc>
                <a:spcPts val="4553"/>
              </a:lnSpc>
            </a:pPr>
            <a:endParaRPr lang="en-US" sz="3015" b="1" dirty="0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l">
              <a:lnSpc>
                <a:spcPts val="4553"/>
              </a:lnSpc>
            </a:pPr>
            <a:r>
              <a:rPr lang="en-US" sz="3015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Your participation and reflections added real value to the session.</a:t>
            </a:r>
          </a:p>
          <a:p>
            <a:pPr algn="l">
              <a:lnSpc>
                <a:spcPts val="4553"/>
              </a:lnSpc>
            </a:pPr>
            <a:endParaRPr lang="en-US" sz="3015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4553"/>
              </a:lnSpc>
            </a:pPr>
            <a:r>
              <a:rPr lang="en-US" sz="3015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🔁 Keep applying today’s learnings in your daily communication, meetings and documentation.</a:t>
            </a:r>
          </a:p>
          <a:p>
            <a:pPr algn="l">
              <a:lnSpc>
                <a:spcPts val="4553"/>
              </a:lnSpc>
            </a:pPr>
            <a:endParaRPr lang="en-US" sz="3015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4553"/>
              </a:lnSpc>
            </a:pPr>
            <a:r>
              <a:rPr lang="en-US" sz="3015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📅</a:t>
            </a:r>
            <a:r>
              <a:rPr lang="en-US" sz="3015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Day 5 – Focus Areas:</a:t>
            </a:r>
          </a:p>
          <a:p>
            <a:pPr algn="l">
              <a:lnSpc>
                <a:spcPts val="4553"/>
              </a:lnSpc>
            </a:pPr>
            <a:r>
              <a:rPr lang="en-US" sz="3015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• Calendar &amp; Scheduling</a:t>
            </a:r>
          </a:p>
          <a:p>
            <a:pPr algn="l">
              <a:lnSpc>
                <a:spcPts val="4553"/>
              </a:lnSpc>
            </a:pPr>
            <a:endParaRPr lang="en-US" sz="3015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4553"/>
              </a:lnSpc>
            </a:pPr>
            <a:r>
              <a:rPr lang="en-US" sz="3015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See you tomorrow. Keep growing! 🚀</a:t>
            </a:r>
          </a:p>
        </p:txBody>
      </p:sp>
      <p:sp>
        <p:nvSpPr>
          <p:cNvPr id="4" name="Freeform 4"/>
          <p:cNvSpPr/>
          <p:nvPr/>
        </p:nvSpPr>
        <p:spPr>
          <a:xfrm>
            <a:off x="12943608" y="2982990"/>
            <a:ext cx="3289067" cy="5149224"/>
          </a:xfrm>
          <a:custGeom>
            <a:avLst/>
            <a:gdLst/>
            <a:ahLst/>
            <a:cxnLst/>
            <a:rect l="l" t="t" r="r" b="b"/>
            <a:pathLst>
              <a:path w="3289067" h="5149224">
                <a:moveTo>
                  <a:pt x="0" y="0"/>
                </a:moveTo>
                <a:lnTo>
                  <a:pt x="3289067" y="0"/>
                </a:lnTo>
                <a:lnTo>
                  <a:pt x="3289067" y="5149224"/>
                </a:lnTo>
                <a:lnTo>
                  <a:pt x="0" y="51492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608</Words>
  <Application>Microsoft Office PowerPoint</Application>
  <PresentationFormat>Custom</PresentationFormat>
  <Paragraphs>90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4 - IT Business Vocabulary</dc:title>
  <cp:lastModifiedBy>Subramanian Rajaganapathi</cp:lastModifiedBy>
  <cp:revision>6</cp:revision>
  <dcterms:created xsi:type="dcterms:W3CDTF">2006-08-16T00:00:00Z</dcterms:created>
  <dcterms:modified xsi:type="dcterms:W3CDTF">2025-12-19T04:45:00Z</dcterms:modified>
  <dc:identifier>DAG71XFDWok</dc:identifier>
</cp:coreProperties>
</file>