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Canva Sans" panose="020B0604020202020204" charset="0"/>
      <p:regular r:id="rId16"/>
    </p:embeddedFont>
    <p:embeddedFont>
      <p:font typeface="Canva Sans Bold" panose="020B0604020202020204" charset="0"/>
      <p:regular r:id="rId17"/>
    </p:embeddedFont>
    <p:embeddedFont>
      <p:font typeface="Poppins" panose="020B0604020202020204" charset="0"/>
      <p:regular r:id="rId18"/>
      <p:bold r:id="rId19"/>
      <p:italic r:id="rId20"/>
      <p:boldItalic r:id="rId21"/>
    </p:embeddedFont>
    <p:embeddedFont>
      <p:font typeface="Poppins Bold" panose="020B0604020202020204" charset="0"/>
      <p:regular r:id="rId22"/>
      <p:bold r:id="rId23"/>
    </p:embeddedFont>
    <p:embeddedFont>
      <p:font typeface="Poppins Bold Italics"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FAE9EB-E3C3-43F9-A70A-6E2E8C09F4E7}" v="1" dt="2025-12-23T08:43:28.400"/>
    <p1510:client id="{774DCA2C-C0B9-2F8D-1FA4-0EF0032F981F}" v="6" dt="2025-12-23T09:05:29.3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63d9f253-125e-41bd-b481-8be69061e846::" providerId="AD" clId="Web-{774DCA2C-C0B9-2F8D-1FA4-0EF0032F981F}"/>
    <pc:docChg chg="modSld">
      <pc:chgData name="Guest User" userId="S::urn:spo:tenantanon#63d9f253-125e-41bd-b481-8be69061e846::" providerId="AD" clId="Web-{774DCA2C-C0B9-2F8D-1FA4-0EF0032F981F}" dt="2025-12-23T09:17:51.362" v="4" actId="1076"/>
      <pc:docMkLst>
        <pc:docMk/>
      </pc:docMkLst>
      <pc:sldChg chg="modSp">
        <pc:chgData name="Guest User" userId="S::urn:spo:tenantanon#63d9f253-125e-41bd-b481-8be69061e846::" providerId="AD" clId="Web-{774DCA2C-C0B9-2F8D-1FA4-0EF0032F981F}" dt="2025-12-23T09:05:29.343" v="3" actId="20577"/>
        <pc:sldMkLst>
          <pc:docMk/>
          <pc:sldMk cId="0" sldId="259"/>
        </pc:sldMkLst>
        <pc:spChg chg="mod">
          <ac:chgData name="Guest User" userId="S::urn:spo:tenantanon#63d9f253-125e-41bd-b481-8be69061e846::" providerId="AD" clId="Web-{774DCA2C-C0B9-2F8D-1FA4-0EF0032F981F}" dt="2025-12-23T09:05:29.343" v="3" actId="20577"/>
          <ac:spMkLst>
            <pc:docMk/>
            <pc:sldMk cId="0" sldId="259"/>
            <ac:spMk id="3" creationId="{00000000-0000-0000-0000-000000000000}"/>
          </ac:spMkLst>
        </pc:spChg>
      </pc:sldChg>
      <pc:sldChg chg="modSp">
        <pc:chgData name="Guest User" userId="S::urn:spo:tenantanon#63d9f253-125e-41bd-b481-8be69061e846::" providerId="AD" clId="Web-{774DCA2C-C0B9-2F8D-1FA4-0EF0032F981F}" dt="2025-12-23T09:17:51.362" v="4" actId="1076"/>
        <pc:sldMkLst>
          <pc:docMk/>
          <pc:sldMk cId="0" sldId="262"/>
        </pc:sldMkLst>
        <pc:graphicFrameChg chg="mod">
          <ac:chgData name="Guest User" userId="S::urn:spo:tenantanon#63d9f253-125e-41bd-b481-8be69061e846::" providerId="AD" clId="Web-{774DCA2C-C0B9-2F8D-1FA4-0EF0032F981F}" dt="2025-12-23T09:17:51.362" v="4" actId="1076"/>
          <ac:graphicFrameMkLst>
            <pc:docMk/>
            <pc:sldMk cId="0" sldId="262"/>
            <ac:graphicFrameMk id="3" creationId="{00000000-0000-0000-0000-000000000000}"/>
          </ac:graphicFrameMkLst>
        </pc:graphicFrameChg>
      </pc:sldChg>
    </pc:docChg>
  </pc:docChgLst>
  <pc:docChgLst>
    <pc:chgData name="Subramanian Rajaganapathi" userId="b8f1907a-0f8c-40ca-bfd8-163cdf5230e8" providerId="ADAL" clId="{EE5AACF3-4F6E-40A4-AD4D-7ADE99AF79B1}"/>
    <pc:docChg chg="modSld">
      <pc:chgData name="Subramanian Rajaganapathi" userId="b8f1907a-0f8c-40ca-bfd8-163cdf5230e8" providerId="ADAL" clId="{EE5AACF3-4F6E-40A4-AD4D-7ADE99AF79B1}" dt="2025-12-23T08:43:30.606" v="4" actId="1076"/>
      <pc:docMkLst>
        <pc:docMk/>
      </pc:docMkLst>
      <pc:sldChg chg="modSp mod">
        <pc:chgData name="Subramanian Rajaganapathi" userId="b8f1907a-0f8c-40ca-bfd8-163cdf5230e8" providerId="ADAL" clId="{EE5AACF3-4F6E-40A4-AD4D-7ADE99AF79B1}" dt="2025-12-23T08:43:16.238" v="1" actId="1076"/>
        <pc:sldMkLst>
          <pc:docMk/>
          <pc:sldMk cId="0" sldId="256"/>
        </pc:sldMkLst>
        <pc:spChg chg="mod">
          <ac:chgData name="Subramanian Rajaganapathi" userId="b8f1907a-0f8c-40ca-bfd8-163cdf5230e8" providerId="ADAL" clId="{EE5AACF3-4F6E-40A4-AD4D-7ADE99AF79B1}" dt="2025-12-23T08:43:16.238" v="1" actId="1076"/>
          <ac:spMkLst>
            <pc:docMk/>
            <pc:sldMk cId="0" sldId="256"/>
            <ac:spMk id="3" creationId="{00000000-0000-0000-0000-000000000000}"/>
          </ac:spMkLst>
        </pc:spChg>
      </pc:sldChg>
      <pc:sldChg chg="modSp mod">
        <pc:chgData name="Subramanian Rajaganapathi" userId="b8f1907a-0f8c-40ca-bfd8-163cdf5230e8" providerId="ADAL" clId="{EE5AACF3-4F6E-40A4-AD4D-7ADE99AF79B1}" dt="2025-12-23T08:43:30.606" v="4" actId="1076"/>
        <pc:sldMkLst>
          <pc:docMk/>
          <pc:sldMk cId="0" sldId="262"/>
        </pc:sldMkLst>
        <pc:graphicFrameChg chg="mod">
          <ac:chgData name="Subramanian Rajaganapathi" userId="b8f1907a-0f8c-40ca-bfd8-163cdf5230e8" providerId="ADAL" clId="{EE5AACF3-4F6E-40A4-AD4D-7ADE99AF79B1}" dt="2025-12-23T08:43:30.606" v="4" actId="1076"/>
          <ac:graphicFrameMkLst>
            <pc:docMk/>
            <pc:sldMk cId="0" sldId="262"/>
            <ac:graphicFrameMk id="3" creationId="{00000000-0000-0000-0000-000000000000}"/>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hyperlink" Target="https://youtu.be/a77p1Dx0JHQ"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hyperlink" Target="https://weekdone.com/resources/templates/progress-report-templates"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sv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youtu.be/yQTje_GYhb4?si=PwUkjgc4BAG8bvWN"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0.sv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sv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youtube.com/watch?v=yQTje_GYhb4" TargetMode="External"/><Relationship Id="rId5" Type="http://schemas.openxmlformats.org/officeDocument/2006/relationships/image" Target="../media/image24.png"/><Relationship Id="rId4" Type="http://schemas.openxmlformats.org/officeDocument/2006/relationships/image" Target="../media/image22.sv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08763" y="1666891"/>
            <a:ext cx="11870475" cy="3476609"/>
          </a:xfrm>
          <a:custGeom>
            <a:avLst/>
            <a:gdLst/>
            <a:ahLst/>
            <a:cxnLst/>
            <a:rect l="l" t="t" r="r" b="b"/>
            <a:pathLst>
              <a:path w="11870475" h="3476609">
                <a:moveTo>
                  <a:pt x="0" y="0"/>
                </a:moveTo>
                <a:lnTo>
                  <a:pt x="11870474" y="0"/>
                </a:lnTo>
                <a:lnTo>
                  <a:pt x="11870474" y="3476609"/>
                </a:lnTo>
                <a:lnTo>
                  <a:pt x="0" y="3476609"/>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233548" y="5981700"/>
            <a:ext cx="9820904" cy="863633"/>
          </a:xfrm>
          <a:prstGeom prst="rect">
            <a:avLst/>
          </a:prstGeom>
        </p:spPr>
        <p:txBody>
          <a:bodyPr wrap="square" lIns="0" tIns="0" rIns="0" bIns="0" rtlCol="0" anchor="t">
            <a:spAutoFit/>
          </a:bodyPr>
          <a:lstStyle/>
          <a:p>
            <a:pPr algn="ctr">
              <a:lnSpc>
                <a:spcPts val="7000"/>
              </a:lnSpc>
              <a:spcBef>
                <a:spcPct val="0"/>
              </a:spcBef>
            </a:pPr>
            <a:r>
              <a:rPr lang="en-US" sz="5000" b="1">
                <a:solidFill>
                  <a:srgbClr val="000000"/>
                </a:solidFill>
                <a:latin typeface="Canva Sans Bold"/>
                <a:ea typeface="Canva Sans Bold"/>
                <a:cs typeface="Canva Sans Bold"/>
                <a:sym typeface="Canva Sans Bold"/>
              </a:rPr>
              <a:t>Day 9 - Weekly Status Reports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416842" y="2966480"/>
            <a:ext cx="11320924" cy="5329555"/>
          </a:xfrm>
          <a:prstGeom prst="rect">
            <a:avLst/>
          </a:prstGeom>
        </p:spPr>
        <p:txBody>
          <a:bodyPr lIns="0" tIns="0" rIns="0" bIns="0" rtlCol="0" anchor="t">
            <a:spAutoFit/>
          </a:bodyPr>
          <a:lstStyle/>
          <a:p>
            <a:pPr algn="l">
              <a:lnSpc>
                <a:spcPts val="5284"/>
              </a:lnSpc>
            </a:pPr>
            <a:r>
              <a:rPr lang="en-US" sz="3499">
                <a:solidFill>
                  <a:srgbClr val="000000"/>
                </a:solidFill>
                <a:latin typeface="Poppins"/>
                <a:ea typeface="Poppins"/>
                <a:cs typeface="Poppins"/>
                <a:sym typeface="Poppins"/>
              </a:rPr>
              <a:t>A </a:t>
            </a:r>
            <a:r>
              <a:rPr lang="en-US" sz="3499" b="1">
                <a:solidFill>
                  <a:srgbClr val="000000"/>
                </a:solidFill>
                <a:latin typeface="Poppins Bold"/>
                <a:ea typeface="Poppins Bold"/>
                <a:cs typeface="Poppins Bold"/>
                <a:sym typeface="Poppins Bold"/>
              </a:rPr>
              <a:t>weekly status report </a:t>
            </a:r>
            <a:r>
              <a:rPr lang="en-US" sz="3499">
                <a:solidFill>
                  <a:srgbClr val="000000"/>
                </a:solidFill>
                <a:latin typeface="Poppins"/>
                <a:ea typeface="Poppins"/>
                <a:cs typeface="Poppins"/>
                <a:sym typeface="Poppins"/>
              </a:rPr>
              <a:t>is a concise update summarizing what was achieved, current progress, challenges faced, and plans for the next week, helping managers and teams stay aligned, track goals (KPIs) and address issues proactively through key sections like accomplishments, blockers and next steps, often using simple templates for clarity. </a:t>
            </a:r>
          </a:p>
        </p:txBody>
      </p:sp>
      <p:sp>
        <p:nvSpPr>
          <p:cNvPr id="4" name="Freeform 4"/>
          <p:cNvSpPr/>
          <p:nvPr/>
        </p:nvSpPr>
        <p:spPr>
          <a:xfrm>
            <a:off x="13473097" y="3746165"/>
            <a:ext cx="3389975" cy="3288276"/>
          </a:xfrm>
          <a:custGeom>
            <a:avLst/>
            <a:gdLst/>
            <a:ahLst/>
            <a:cxnLst/>
            <a:rect l="l" t="t" r="r" b="b"/>
            <a:pathLst>
              <a:path w="3389975" h="3288276">
                <a:moveTo>
                  <a:pt x="0" y="0"/>
                </a:moveTo>
                <a:lnTo>
                  <a:pt x="3389976" y="0"/>
                </a:lnTo>
                <a:lnTo>
                  <a:pt x="3389976" y="3288276"/>
                </a:lnTo>
                <a:lnTo>
                  <a:pt x="0" y="328827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1416842" y="1575848"/>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Weekly Status Report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028700" y="2586041"/>
            <a:ext cx="9550445" cy="5487279"/>
          </a:xfrm>
          <a:prstGeom prst="rect">
            <a:avLst/>
          </a:prstGeom>
        </p:spPr>
        <p:txBody>
          <a:bodyPr lIns="0" tIns="0" rIns="0" bIns="0" rtlCol="0" anchor="t">
            <a:spAutoFit/>
          </a:bodyPr>
          <a:lstStyle/>
          <a:p>
            <a:pPr marL="777237" lvl="1" indent="-388618" algn="l">
              <a:lnSpc>
                <a:spcPts val="5435"/>
              </a:lnSpc>
              <a:buFont typeface="Arial"/>
              <a:buChar char="•"/>
            </a:pPr>
            <a:r>
              <a:rPr lang="en-US" sz="3599">
                <a:solidFill>
                  <a:srgbClr val="000000"/>
                </a:solidFill>
                <a:latin typeface="Poppins"/>
                <a:ea typeface="Poppins"/>
                <a:cs typeface="Poppins"/>
                <a:sym typeface="Poppins"/>
              </a:rPr>
              <a:t>How confident are you in summarizing your entire week into one clear status update?</a:t>
            </a:r>
          </a:p>
          <a:p>
            <a:pPr marL="777237" lvl="1" indent="-388618" algn="l">
              <a:lnSpc>
                <a:spcPts val="5435"/>
              </a:lnSpc>
              <a:buFont typeface="Arial"/>
              <a:buChar char="•"/>
            </a:pPr>
            <a:r>
              <a:rPr lang="en-US" sz="3599">
                <a:solidFill>
                  <a:srgbClr val="000000"/>
                </a:solidFill>
                <a:latin typeface="Poppins"/>
                <a:ea typeface="Poppins"/>
                <a:cs typeface="Poppins"/>
                <a:sym typeface="Poppins"/>
              </a:rPr>
              <a:t>How clearly does your weekly update communicate progress and outcomes</a:t>
            </a:r>
          </a:p>
          <a:p>
            <a:pPr marL="777237" lvl="1" indent="-388618" algn="l">
              <a:lnSpc>
                <a:spcPts val="5435"/>
              </a:lnSpc>
              <a:buFont typeface="Arial"/>
              <a:buChar char="•"/>
            </a:pPr>
            <a:r>
              <a:rPr lang="en-US" sz="3599">
                <a:solidFill>
                  <a:srgbClr val="000000"/>
                </a:solidFill>
                <a:latin typeface="Poppins"/>
                <a:ea typeface="Poppins"/>
                <a:cs typeface="Poppins"/>
                <a:sym typeface="Poppins"/>
              </a:rPr>
              <a:t>Which part of your weekly update needs the most improvement?</a:t>
            </a:r>
          </a:p>
        </p:txBody>
      </p:sp>
      <p:sp>
        <p:nvSpPr>
          <p:cNvPr id="4" name="TextBox 4"/>
          <p:cNvSpPr txBox="1"/>
          <p:nvPr/>
        </p:nvSpPr>
        <p:spPr>
          <a:xfrm>
            <a:off x="1196163" y="8211870"/>
            <a:ext cx="15170298" cy="1251337"/>
          </a:xfrm>
          <a:prstGeom prst="rect">
            <a:avLst/>
          </a:prstGeom>
        </p:spPr>
        <p:txBody>
          <a:bodyPr lIns="0" tIns="0" rIns="0" bIns="0" rtlCol="0" anchor="t">
            <a:spAutoFit/>
          </a:bodyPr>
          <a:lstStyle/>
          <a:p>
            <a:pPr algn="just">
              <a:lnSpc>
                <a:spcPts val="4982"/>
              </a:lnSpc>
            </a:pPr>
            <a:r>
              <a:rPr lang="en-US" sz="3299" b="1">
                <a:solidFill>
                  <a:srgbClr val="000000"/>
                </a:solidFill>
                <a:latin typeface="Poppins Bold"/>
                <a:ea typeface="Poppins Bold"/>
                <a:cs typeface="Poppins Bold"/>
                <a:sym typeface="Poppins Bold"/>
              </a:rPr>
              <a:t>What one change will you apply next week to make your status update more effective?</a:t>
            </a:r>
          </a:p>
        </p:txBody>
      </p:sp>
      <p:sp>
        <p:nvSpPr>
          <p:cNvPr id="5" name="TextBox 5"/>
          <p:cNvSpPr txBox="1"/>
          <p:nvPr/>
        </p:nvSpPr>
        <p:spPr>
          <a:xfrm>
            <a:off x="1416842" y="1575848"/>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Quick Self-Reflection</a:t>
            </a:r>
          </a:p>
        </p:txBody>
      </p:sp>
      <p:sp>
        <p:nvSpPr>
          <p:cNvPr id="6" name="Freeform 6"/>
          <p:cNvSpPr/>
          <p:nvPr/>
        </p:nvSpPr>
        <p:spPr>
          <a:xfrm>
            <a:off x="11577805" y="5398238"/>
            <a:ext cx="3223951" cy="564191"/>
          </a:xfrm>
          <a:custGeom>
            <a:avLst/>
            <a:gdLst/>
            <a:ahLst/>
            <a:cxnLst/>
            <a:rect l="l" t="t" r="r" b="b"/>
            <a:pathLst>
              <a:path w="3223951" h="564191">
                <a:moveTo>
                  <a:pt x="0" y="0"/>
                </a:moveTo>
                <a:lnTo>
                  <a:pt x="3223951" y="0"/>
                </a:lnTo>
                <a:lnTo>
                  <a:pt x="3223951" y="564192"/>
                </a:lnTo>
                <a:lnTo>
                  <a:pt x="0" y="564192"/>
                </a:lnTo>
                <a:lnTo>
                  <a:pt x="0" y="0"/>
                </a:lnTo>
                <a:close/>
              </a:path>
            </a:pathLst>
          </a:custGeom>
          <a:blipFill>
            <a:blip r:embed="rId3"/>
            <a:stretch>
              <a:fillRect/>
            </a:stretch>
          </a:blipFill>
        </p:spPr>
        <p:txBody>
          <a:bodyPr/>
          <a:lstStyle/>
          <a:p>
            <a:endParaRPr lang="en-US"/>
          </a:p>
        </p:txBody>
      </p:sp>
      <p:sp>
        <p:nvSpPr>
          <p:cNvPr id="7" name="TextBox 7"/>
          <p:cNvSpPr txBox="1"/>
          <p:nvPr/>
        </p:nvSpPr>
        <p:spPr>
          <a:xfrm>
            <a:off x="10779391" y="7147177"/>
            <a:ext cx="4820779" cy="686911"/>
          </a:xfrm>
          <a:prstGeom prst="rect">
            <a:avLst/>
          </a:prstGeom>
        </p:spPr>
        <p:txBody>
          <a:bodyPr lIns="0" tIns="0" rIns="0" bIns="0" rtlCol="0" anchor="t">
            <a:spAutoFit/>
          </a:bodyPr>
          <a:lstStyle/>
          <a:p>
            <a:pPr algn="ctr">
              <a:lnSpc>
                <a:spcPts val="5435"/>
              </a:lnSpc>
            </a:pPr>
            <a:r>
              <a:rPr lang="en-US" sz="3599" u="sng">
                <a:solidFill>
                  <a:srgbClr val="000000"/>
                </a:solidFill>
                <a:latin typeface="Poppins"/>
                <a:ea typeface="Poppins"/>
                <a:cs typeface="Poppins"/>
                <a:sym typeface="Poppins"/>
              </a:rPr>
              <a:t>__________</a:t>
            </a:r>
          </a:p>
        </p:txBody>
      </p:sp>
      <p:sp>
        <p:nvSpPr>
          <p:cNvPr id="8" name="Freeform 8"/>
          <p:cNvSpPr/>
          <p:nvPr/>
        </p:nvSpPr>
        <p:spPr>
          <a:xfrm>
            <a:off x="11577805" y="3267192"/>
            <a:ext cx="3223951" cy="564191"/>
          </a:xfrm>
          <a:custGeom>
            <a:avLst/>
            <a:gdLst/>
            <a:ahLst/>
            <a:cxnLst/>
            <a:rect l="l" t="t" r="r" b="b"/>
            <a:pathLst>
              <a:path w="3223951" h="564191">
                <a:moveTo>
                  <a:pt x="0" y="0"/>
                </a:moveTo>
                <a:lnTo>
                  <a:pt x="3223951" y="0"/>
                </a:lnTo>
                <a:lnTo>
                  <a:pt x="3223951" y="564192"/>
                </a:lnTo>
                <a:lnTo>
                  <a:pt x="0" y="564192"/>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416842" y="2822232"/>
            <a:ext cx="15564068" cy="5613781"/>
          </a:xfrm>
          <a:prstGeom prst="rect">
            <a:avLst/>
          </a:prstGeom>
        </p:spPr>
        <p:txBody>
          <a:bodyPr lIns="0" tIns="0" rIns="0" bIns="0" rtlCol="0" anchor="t">
            <a:spAutoFit/>
          </a:bodyPr>
          <a:lstStyle/>
          <a:p>
            <a:pPr marL="694055" lvl="1" indent="-346710" algn="l">
              <a:lnSpc>
                <a:spcPts val="4855"/>
              </a:lnSpc>
              <a:buFont typeface="Arial"/>
              <a:buChar char="•"/>
            </a:pPr>
            <a:r>
              <a:rPr lang="en-US" sz="3215">
                <a:solidFill>
                  <a:srgbClr val="000000"/>
                </a:solidFill>
                <a:latin typeface="Poppins"/>
                <a:ea typeface="Poppins"/>
                <a:cs typeface="Poppins"/>
                <a:sym typeface="Poppins"/>
              </a:rPr>
              <a:t>Something that can become blunt, but it’s not a knife. It contains lead, but it’s not metallic.</a:t>
            </a:r>
            <a:endParaRPr lang="en-US"/>
          </a:p>
          <a:p>
            <a:pPr algn="l">
              <a:lnSpc>
                <a:spcPts val="4855"/>
              </a:lnSpc>
            </a:pPr>
            <a:r>
              <a:rPr lang="en-US" sz="3200">
                <a:solidFill>
                  <a:srgbClr val="000000"/>
                </a:solidFill>
                <a:latin typeface="Poppins"/>
                <a:ea typeface="Poppins"/>
                <a:cs typeface="Poppins"/>
                <a:sym typeface="Poppins"/>
              </a:rPr>
              <a:t>      </a:t>
            </a:r>
            <a:r>
              <a:rPr lang="en-US" sz="3200" b="1" i="1">
                <a:solidFill>
                  <a:srgbClr val="000000"/>
                </a:solidFill>
                <a:latin typeface="Poppins Bold Italics"/>
                <a:ea typeface="Poppins Bold Italics"/>
                <a:cs typeface="Poppins Bold Italics"/>
                <a:sym typeface="Poppins Bold Italics"/>
              </a:rPr>
              <a:t>Pick it up and Show us in the camera</a:t>
            </a:r>
            <a:endParaRPr lang="en-US" sz="3200" b="1" i="1">
              <a:solidFill>
                <a:srgbClr val="000000"/>
              </a:solidFill>
              <a:latin typeface="Poppins Bold Italics"/>
              <a:ea typeface="Poppins Bold Italics"/>
              <a:cs typeface="Poppins Bold Italics"/>
            </a:endParaRPr>
          </a:p>
          <a:p>
            <a:pPr marL="694055" lvl="1" indent="-346710">
              <a:lnSpc>
                <a:spcPts val="4855"/>
              </a:lnSpc>
              <a:buFont typeface="Arial"/>
              <a:buChar char="•"/>
            </a:pPr>
            <a:r>
              <a:rPr lang="en-US" sz="3200">
                <a:solidFill>
                  <a:srgbClr val="000000"/>
                </a:solidFill>
                <a:latin typeface="Poppins"/>
                <a:ea typeface="Poppins"/>
                <a:cs typeface="Poppins"/>
                <a:sym typeface="Poppins"/>
              </a:rPr>
              <a:t>I can be long or I can be short.</a:t>
            </a:r>
            <a:endParaRPr lang="en-US" sz="3200">
              <a:solidFill>
                <a:srgbClr val="000000"/>
              </a:solidFill>
              <a:latin typeface="Poppins"/>
              <a:ea typeface="Poppins"/>
              <a:cs typeface="Poppins"/>
            </a:endParaRPr>
          </a:p>
          <a:p>
            <a:pPr algn="l">
              <a:lnSpc>
                <a:spcPts val="4855"/>
              </a:lnSpc>
            </a:pPr>
            <a:r>
              <a:rPr lang="en-US" sz="3215">
                <a:solidFill>
                  <a:srgbClr val="000000"/>
                </a:solidFill>
                <a:latin typeface="Poppins"/>
                <a:ea typeface="Poppins"/>
                <a:cs typeface="Poppins"/>
                <a:sym typeface="Poppins"/>
              </a:rPr>
              <a:t>       I can be grown, and I can be bought.</a:t>
            </a:r>
          </a:p>
          <a:p>
            <a:pPr algn="l">
              <a:lnSpc>
                <a:spcPts val="4855"/>
              </a:lnSpc>
            </a:pPr>
            <a:r>
              <a:rPr lang="en-US" sz="3215">
                <a:solidFill>
                  <a:srgbClr val="000000"/>
                </a:solidFill>
                <a:latin typeface="Poppins"/>
                <a:ea typeface="Poppins"/>
                <a:cs typeface="Poppins"/>
                <a:sym typeface="Poppins"/>
              </a:rPr>
              <a:t>       I can be painted, or left bare.</a:t>
            </a:r>
          </a:p>
          <a:p>
            <a:pPr algn="l">
              <a:lnSpc>
                <a:spcPts val="4855"/>
              </a:lnSpc>
            </a:pPr>
            <a:r>
              <a:rPr lang="en-US" sz="3215">
                <a:solidFill>
                  <a:srgbClr val="000000"/>
                </a:solidFill>
                <a:latin typeface="Poppins"/>
                <a:ea typeface="Poppins"/>
                <a:cs typeface="Poppins"/>
                <a:sym typeface="Poppins"/>
              </a:rPr>
              <a:t>       I can be round, or square.</a:t>
            </a:r>
          </a:p>
          <a:p>
            <a:pPr algn="l">
              <a:lnSpc>
                <a:spcPts val="4855"/>
              </a:lnSpc>
            </a:pPr>
            <a:r>
              <a:rPr lang="en-US" sz="3215">
                <a:solidFill>
                  <a:srgbClr val="000000"/>
                </a:solidFill>
                <a:latin typeface="Poppins"/>
                <a:ea typeface="Poppins"/>
                <a:cs typeface="Poppins"/>
                <a:sym typeface="Poppins"/>
              </a:rPr>
              <a:t>       What am I?</a:t>
            </a:r>
          </a:p>
          <a:p>
            <a:pPr algn="l">
              <a:lnSpc>
                <a:spcPts val="4855"/>
              </a:lnSpc>
            </a:pPr>
            <a:r>
              <a:rPr lang="en-US" sz="3200">
                <a:solidFill>
                  <a:srgbClr val="000000"/>
                </a:solidFill>
                <a:latin typeface="Poppins"/>
                <a:ea typeface="Poppins"/>
                <a:cs typeface="Poppins"/>
                <a:sym typeface="Poppins"/>
              </a:rPr>
              <a:t>       </a:t>
            </a:r>
            <a:r>
              <a:rPr lang="en-US" sz="3200" b="1" i="1">
                <a:solidFill>
                  <a:srgbClr val="000000"/>
                </a:solidFill>
                <a:latin typeface="Poppins Bold Italics"/>
                <a:ea typeface="Poppins Bold Italics"/>
                <a:cs typeface="Poppins Bold Italics"/>
                <a:sym typeface="Poppins Bold Italics"/>
              </a:rPr>
              <a:t>Pick it up and Show us in the camera</a:t>
            </a:r>
            <a:endParaRPr lang="en-US" sz="3200" b="1" i="1">
              <a:solidFill>
                <a:srgbClr val="000000"/>
              </a:solidFill>
              <a:latin typeface="Poppins Bold Italics"/>
              <a:ea typeface="Poppins Bold Italics"/>
              <a:cs typeface="Poppins Bold Italics"/>
            </a:endParaRPr>
          </a:p>
        </p:txBody>
      </p:sp>
      <p:sp>
        <p:nvSpPr>
          <p:cNvPr id="4" name="Freeform 4"/>
          <p:cNvSpPr/>
          <p:nvPr/>
        </p:nvSpPr>
        <p:spPr>
          <a:xfrm>
            <a:off x="14714029" y="3873025"/>
            <a:ext cx="2266881" cy="4114800"/>
          </a:xfrm>
          <a:custGeom>
            <a:avLst/>
            <a:gdLst/>
            <a:ahLst/>
            <a:cxnLst/>
            <a:rect l="l" t="t" r="r" b="b"/>
            <a:pathLst>
              <a:path w="2266881" h="4114800">
                <a:moveTo>
                  <a:pt x="0" y="0"/>
                </a:moveTo>
                <a:lnTo>
                  <a:pt x="2266880" y="0"/>
                </a:lnTo>
                <a:lnTo>
                  <a:pt x="226688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1698551" y="1546904"/>
            <a:ext cx="8101931" cy="756585"/>
          </a:xfrm>
          <a:prstGeom prst="rect">
            <a:avLst/>
          </a:prstGeom>
        </p:spPr>
        <p:txBody>
          <a:bodyPr lIns="0" tIns="0" rIns="0" bIns="0" rtlCol="0" anchor="t">
            <a:spAutoFit/>
          </a:bodyPr>
          <a:lstStyle/>
          <a:p>
            <a:pPr algn="l">
              <a:lnSpc>
                <a:spcPts val="5991"/>
              </a:lnSpc>
            </a:pPr>
            <a:r>
              <a:rPr lang="en-US" sz="3967" b="1">
                <a:solidFill>
                  <a:srgbClr val="2F748E"/>
                </a:solidFill>
                <a:latin typeface="Poppins Bold"/>
                <a:ea typeface="Poppins Bold"/>
                <a:cs typeface="Poppins Bold"/>
                <a:sym typeface="Poppins Bold"/>
              </a:rPr>
              <a:t>Office - Treasure Hunt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416842" y="2822232"/>
            <a:ext cx="15564068" cy="4873495"/>
          </a:xfrm>
          <a:prstGeom prst="rect">
            <a:avLst/>
          </a:prstGeom>
        </p:spPr>
        <p:txBody>
          <a:bodyPr lIns="0" tIns="0" rIns="0" bIns="0" rtlCol="0" anchor="t">
            <a:spAutoFit/>
          </a:bodyPr>
          <a:lstStyle/>
          <a:p>
            <a:pPr marL="694265" lvl="1" indent="-347132" algn="l">
              <a:lnSpc>
                <a:spcPts val="4855"/>
              </a:lnSpc>
              <a:buFont typeface="Arial"/>
              <a:buChar char="•"/>
            </a:pPr>
            <a:r>
              <a:rPr lang="en-US" sz="3215">
                <a:solidFill>
                  <a:srgbClr val="000000"/>
                </a:solidFill>
                <a:latin typeface="Poppins"/>
                <a:ea typeface="Poppins"/>
                <a:cs typeface="Poppins"/>
                <a:sym typeface="Poppins"/>
              </a:rPr>
              <a:t>I sit on your desk and follow your hand.</a:t>
            </a:r>
          </a:p>
          <a:p>
            <a:pPr algn="l">
              <a:lnSpc>
                <a:spcPts val="4855"/>
              </a:lnSpc>
            </a:pPr>
            <a:r>
              <a:rPr lang="en-US" sz="3215">
                <a:solidFill>
                  <a:srgbClr val="000000"/>
                </a:solidFill>
                <a:latin typeface="Poppins"/>
                <a:ea typeface="Poppins"/>
                <a:cs typeface="Poppins"/>
                <a:sym typeface="Poppins"/>
              </a:rPr>
              <a:t>      I help you move, but I never stand.</a:t>
            </a:r>
          </a:p>
          <a:p>
            <a:pPr algn="l">
              <a:lnSpc>
                <a:spcPts val="4855"/>
              </a:lnSpc>
            </a:pPr>
            <a:r>
              <a:rPr lang="en-US" sz="3215">
                <a:solidFill>
                  <a:srgbClr val="000000"/>
                </a:solidFill>
                <a:latin typeface="Poppins"/>
                <a:ea typeface="Poppins"/>
                <a:cs typeface="Poppins"/>
                <a:sym typeface="Poppins"/>
              </a:rPr>
              <a:t>      I have a tail, but I’m not alive.</a:t>
            </a:r>
          </a:p>
          <a:p>
            <a:pPr algn="l">
              <a:lnSpc>
                <a:spcPts val="4855"/>
              </a:lnSpc>
            </a:pPr>
            <a:r>
              <a:rPr lang="en-US" sz="3215">
                <a:solidFill>
                  <a:srgbClr val="000000"/>
                </a:solidFill>
                <a:latin typeface="Poppins"/>
                <a:ea typeface="Poppins"/>
                <a:cs typeface="Poppins"/>
                <a:sym typeface="Poppins"/>
              </a:rPr>
              <a:t>      </a:t>
            </a:r>
            <a:r>
              <a:rPr lang="en-US" sz="3215" b="1" i="1">
                <a:solidFill>
                  <a:srgbClr val="000000"/>
                </a:solidFill>
                <a:latin typeface="Poppins Bold Italics"/>
                <a:ea typeface="Poppins Bold Italics"/>
                <a:cs typeface="Poppins Bold Italics"/>
                <a:sym typeface="Poppins Bold Italics"/>
              </a:rPr>
              <a:t>Pick it up and Show us in the camera</a:t>
            </a:r>
          </a:p>
          <a:p>
            <a:pPr marL="694265" lvl="1" indent="-347132" algn="l">
              <a:lnSpc>
                <a:spcPts val="4855"/>
              </a:lnSpc>
              <a:buFont typeface="Arial"/>
              <a:buChar char="•"/>
            </a:pPr>
            <a:r>
              <a:rPr lang="en-US" sz="3215">
                <a:solidFill>
                  <a:srgbClr val="000000"/>
                </a:solidFill>
                <a:latin typeface="Poppins"/>
                <a:ea typeface="Poppins"/>
                <a:cs typeface="Poppins"/>
                <a:sym typeface="Poppins"/>
              </a:rPr>
              <a:t>I sit in your hand but control things far away.</a:t>
            </a:r>
          </a:p>
          <a:p>
            <a:pPr algn="l">
              <a:lnSpc>
                <a:spcPts val="4855"/>
              </a:lnSpc>
            </a:pPr>
            <a:r>
              <a:rPr lang="en-US" sz="3215">
                <a:solidFill>
                  <a:srgbClr val="000000"/>
                </a:solidFill>
                <a:latin typeface="Poppins"/>
                <a:ea typeface="Poppins"/>
                <a:cs typeface="Poppins"/>
                <a:sym typeface="Poppins"/>
              </a:rPr>
              <a:t>      I help you switch, but I never stay.</a:t>
            </a:r>
          </a:p>
          <a:p>
            <a:pPr algn="l">
              <a:lnSpc>
                <a:spcPts val="4855"/>
              </a:lnSpc>
            </a:pPr>
            <a:r>
              <a:rPr lang="en-US" sz="3215">
                <a:solidFill>
                  <a:srgbClr val="000000"/>
                </a:solidFill>
                <a:latin typeface="Poppins"/>
                <a:ea typeface="Poppins"/>
                <a:cs typeface="Poppins"/>
                <a:sym typeface="Poppins"/>
              </a:rPr>
              <a:t>      Buttons are my language, not my voice.</a:t>
            </a:r>
          </a:p>
          <a:p>
            <a:pPr algn="l">
              <a:lnSpc>
                <a:spcPts val="4855"/>
              </a:lnSpc>
            </a:pPr>
            <a:r>
              <a:rPr lang="en-US" sz="3215">
                <a:solidFill>
                  <a:srgbClr val="000000"/>
                </a:solidFill>
                <a:latin typeface="Poppins"/>
                <a:ea typeface="Poppins"/>
                <a:cs typeface="Poppins"/>
                <a:sym typeface="Poppins"/>
              </a:rPr>
              <a:t>      </a:t>
            </a:r>
            <a:r>
              <a:rPr lang="en-US" sz="3215" b="1" i="1">
                <a:solidFill>
                  <a:srgbClr val="000000"/>
                </a:solidFill>
                <a:latin typeface="Poppins Bold Italics"/>
                <a:ea typeface="Poppins Bold Italics"/>
                <a:cs typeface="Poppins Bold Italics"/>
                <a:sym typeface="Poppins Bold Italics"/>
              </a:rPr>
              <a:t>Pick it up and Show us in the camera</a:t>
            </a:r>
          </a:p>
        </p:txBody>
      </p:sp>
      <p:sp>
        <p:nvSpPr>
          <p:cNvPr id="4" name="TextBox 4"/>
          <p:cNvSpPr txBox="1"/>
          <p:nvPr/>
        </p:nvSpPr>
        <p:spPr>
          <a:xfrm>
            <a:off x="1698551" y="1546904"/>
            <a:ext cx="8101931" cy="756585"/>
          </a:xfrm>
          <a:prstGeom prst="rect">
            <a:avLst/>
          </a:prstGeom>
        </p:spPr>
        <p:txBody>
          <a:bodyPr lIns="0" tIns="0" rIns="0" bIns="0" rtlCol="0" anchor="t">
            <a:spAutoFit/>
          </a:bodyPr>
          <a:lstStyle/>
          <a:p>
            <a:pPr algn="l">
              <a:lnSpc>
                <a:spcPts val="5991"/>
              </a:lnSpc>
            </a:pPr>
            <a:r>
              <a:rPr lang="en-US" sz="3967" b="1">
                <a:solidFill>
                  <a:srgbClr val="2F748E"/>
                </a:solidFill>
                <a:latin typeface="Poppins Bold"/>
                <a:ea typeface="Poppins Bold"/>
                <a:cs typeface="Poppins Bold"/>
                <a:sym typeface="Poppins Bold"/>
              </a:rPr>
              <a:t>Office - Treasure Hunt</a:t>
            </a:r>
          </a:p>
        </p:txBody>
      </p:sp>
      <p:sp>
        <p:nvSpPr>
          <p:cNvPr id="5" name="Freeform 5"/>
          <p:cNvSpPr/>
          <p:nvPr/>
        </p:nvSpPr>
        <p:spPr>
          <a:xfrm>
            <a:off x="13461715" y="3263491"/>
            <a:ext cx="2252853" cy="4114800"/>
          </a:xfrm>
          <a:custGeom>
            <a:avLst/>
            <a:gdLst/>
            <a:ahLst/>
            <a:cxnLst/>
            <a:rect l="l" t="t" r="r" b="b"/>
            <a:pathLst>
              <a:path w="2252853" h="4114800">
                <a:moveTo>
                  <a:pt x="0" y="0"/>
                </a:moveTo>
                <a:lnTo>
                  <a:pt x="2252853" y="0"/>
                </a:lnTo>
                <a:lnTo>
                  <a:pt x="2252853"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1584304" y="2877440"/>
            <a:ext cx="15193926" cy="4532121"/>
            <a:chOff x="0" y="0"/>
            <a:chExt cx="20258567" cy="6042828"/>
          </a:xfrm>
        </p:grpSpPr>
        <p:sp>
          <p:nvSpPr>
            <p:cNvPr id="4" name="Freeform 4"/>
            <p:cNvSpPr/>
            <p:nvPr/>
          </p:nvSpPr>
          <p:spPr>
            <a:xfrm>
              <a:off x="0" y="0"/>
              <a:ext cx="6042828" cy="6042828"/>
            </a:xfrm>
            <a:custGeom>
              <a:avLst/>
              <a:gdLst/>
              <a:ahLst/>
              <a:cxnLst/>
              <a:rect l="l" t="t" r="r" b="b"/>
              <a:pathLst>
                <a:path w="6042828" h="6042828">
                  <a:moveTo>
                    <a:pt x="0" y="0"/>
                  </a:moveTo>
                  <a:lnTo>
                    <a:pt x="6042828" y="0"/>
                  </a:lnTo>
                  <a:lnTo>
                    <a:pt x="6042828" y="6042828"/>
                  </a:lnTo>
                  <a:lnTo>
                    <a:pt x="0" y="60428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7105918" y="0"/>
              <a:ext cx="6042828" cy="6042828"/>
            </a:xfrm>
            <a:custGeom>
              <a:avLst/>
              <a:gdLst/>
              <a:ahLst/>
              <a:cxnLst/>
              <a:rect l="l" t="t" r="r" b="b"/>
              <a:pathLst>
                <a:path w="6042828" h="6042828">
                  <a:moveTo>
                    <a:pt x="0" y="0"/>
                  </a:moveTo>
                  <a:lnTo>
                    <a:pt x="6042828" y="0"/>
                  </a:lnTo>
                  <a:lnTo>
                    <a:pt x="6042828" y="6042828"/>
                  </a:lnTo>
                  <a:lnTo>
                    <a:pt x="0" y="60428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4215740" y="0"/>
              <a:ext cx="6042828" cy="6042828"/>
            </a:xfrm>
            <a:custGeom>
              <a:avLst/>
              <a:gdLst/>
              <a:ahLst/>
              <a:cxnLst/>
              <a:rect l="l" t="t" r="r" b="b"/>
              <a:pathLst>
                <a:path w="6042828" h="6042828">
                  <a:moveTo>
                    <a:pt x="0" y="0"/>
                  </a:moveTo>
                  <a:lnTo>
                    <a:pt x="6042827" y="0"/>
                  </a:lnTo>
                  <a:lnTo>
                    <a:pt x="6042827" y="6042828"/>
                  </a:lnTo>
                  <a:lnTo>
                    <a:pt x="0" y="60428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598910" y="221199"/>
              <a:ext cx="4842433" cy="5505181"/>
            </a:xfrm>
            <a:prstGeom prst="rect">
              <a:avLst/>
            </a:prstGeom>
          </p:spPr>
          <p:txBody>
            <a:bodyPr lIns="0" tIns="0" rIns="0" bIns="0" rtlCol="0" anchor="t">
              <a:spAutoFit/>
            </a:bodyPr>
            <a:lstStyle/>
            <a:p>
              <a:pPr algn="l">
                <a:lnSpc>
                  <a:spcPts val="3695"/>
                </a:lnSpc>
              </a:pPr>
              <a:r>
                <a:rPr lang="en-US" sz="2447" b="1">
                  <a:solidFill>
                    <a:srgbClr val="000000"/>
                  </a:solidFill>
                  <a:latin typeface="Poppins Bold"/>
                  <a:ea typeface="Poppins Bold"/>
                  <a:cs typeface="Poppins Bold"/>
                  <a:sym typeface="Poppins Bold"/>
                </a:rPr>
                <a:t>🟢 PLAN </a:t>
              </a:r>
              <a:r>
                <a:rPr lang="en-US" sz="2447">
                  <a:solidFill>
                    <a:srgbClr val="000000"/>
                  </a:solidFill>
                  <a:latin typeface="Poppins"/>
                  <a:ea typeface="Poppins"/>
                  <a:cs typeface="Poppins"/>
                  <a:sym typeface="Poppins"/>
                </a:rPr>
                <a:t>(What was planned for the week)</a:t>
              </a:r>
            </a:p>
            <a:p>
              <a:pPr marL="528320" lvl="1" indent="-264160" algn="l">
                <a:lnSpc>
                  <a:spcPts val="3695"/>
                </a:lnSpc>
                <a:buFont typeface="Arial"/>
                <a:buChar char="•"/>
              </a:pPr>
              <a:r>
                <a:rPr lang="en-US" sz="2447">
                  <a:solidFill>
                    <a:srgbClr val="000000"/>
                  </a:solidFill>
                  <a:latin typeface="Poppins"/>
                  <a:ea typeface="Poppins"/>
                  <a:cs typeface="Poppins"/>
                  <a:sym typeface="Poppins"/>
                </a:rPr>
                <a:t>Key goals and deliverables planned at the start of the week</a:t>
              </a:r>
            </a:p>
            <a:p>
              <a:pPr marL="528320" lvl="1" indent="-264160" algn="l">
                <a:lnSpc>
                  <a:spcPts val="3695"/>
                </a:lnSpc>
                <a:buFont typeface="Arial"/>
                <a:buChar char="•"/>
              </a:pPr>
              <a:r>
                <a:rPr lang="en-US" sz="2447">
                  <a:solidFill>
                    <a:srgbClr val="000000"/>
                  </a:solidFill>
                  <a:latin typeface="Poppins"/>
                  <a:ea typeface="Poppins"/>
                  <a:cs typeface="Poppins"/>
                  <a:sym typeface="Poppins"/>
                </a:rPr>
                <a:t>Milestones or targets agreed with stakeholders</a:t>
              </a:r>
            </a:p>
          </p:txBody>
        </p:sp>
        <p:sp>
          <p:nvSpPr>
            <p:cNvPr id="8" name="TextBox 8"/>
            <p:cNvSpPr txBox="1"/>
            <p:nvPr/>
          </p:nvSpPr>
          <p:spPr>
            <a:xfrm>
              <a:off x="7706116" y="343981"/>
              <a:ext cx="4842433" cy="4889804"/>
            </a:xfrm>
            <a:prstGeom prst="rect">
              <a:avLst/>
            </a:prstGeom>
          </p:spPr>
          <p:txBody>
            <a:bodyPr lIns="0" tIns="0" rIns="0" bIns="0" rtlCol="0" anchor="t">
              <a:spAutoFit/>
            </a:bodyPr>
            <a:lstStyle/>
            <a:p>
              <a:pPr algn="l">
                <a:lnSpc>
                  <a:spcPts val="3695"/>
                </a:lnSpc>
              </a:pPr>
              <a:r>
                <a:rPr lang="en-US" sz="2447" b="1">
                  <a:solidFill>
                    <a:srgbClr val="000000"/>
                  </a:solidFill>
                  <a:latin typeface="Poppins Bold"/>
                  <a:ea typeface="Poppins Bold"/>
                  <a:cs typeface="Poppins Bold"/>
                  <a:sym typeface="Poppins Bold"/>
                </a:rPr>
                <a:t>🔵 PROGRESS </a:t>
              </a:r>
              <a:r>
                <a:rPr lang="en-US" sz="2447">
                  <a:solidFill>
                    <a:srgbClr val="000000"/>
                  </a:solidFill>
                  <a:latin typeface="Poppins"/>
                  <a:ea typeface="Poppins"/>
                  <a:cs typeface="Poppins"/>
                  <a:sym typeface="Poppins"/>
                </a:rPr>
                <a:t>(What was achieved)</a:t>
              </a:r>
            </a:p>
            <a:p>
              <a:pPr marL="528320" lvl="1" indent="-264160" algn="l">
                <a:lnSpc>
                  <a:spcPts val="3695"/>
                </a:lnSpc>
                <a:buFont typeface="Arial"/>
                <a:buChar char="•"/>
              </a:pPr>
              <a:r>
                <a:rPr lang="en-US" sz="2447">
                  <a:solidFill>
                    <a:srgbClr val="000000"/>
                  </a:solidFill>
                  <a:latin typeface="Poppins"/>
                  <a:ea typeface="Poppins"/>
                  <a:cs typeface="Poppins"/>
                  <a:sym typeface="Poppins"/>
                </a:rPr>
                <a:t>Major tasks completed</a:t>
              </a:r>
            </a:p>
            <a:p>
              <a:pPr marL="528320" lvl="1" indent="-264160" algn="l">
                <a:lnSpc>
                  <a:spcPts val="3695"/>
                </a:lnSpc>
                <a:buFont typeface="Arial"/>
                <a:buChar char="•"/>
              </a:pPr>
              <a:r>
                <a:rPr lang="en-US" sz="2447">
                  <a:solidFill>
                    <a:srgbClr val="000000"/>
                  </a:solidFill>
                  <a:latin typeface="Poppins"/>
                  <a:ea typeface="Poppins"/>
                  <a:cs typeface="Poppins"/>
                  <a:sym typeface="Poppins"/>
                </a:rPr>
                <a:t>Milestones achieved</a:t>
              </a:r>
            </a:p>
            <a:p>
              <a:pPr marL="528320" lvl="1" indent="-264160" algn="l">
                <a:lnSpc>
                  <a:spcPts val="3695"/>
                </a:lnSpc>
                <a:buFont typeface="Arial"/>
                <a:buChar char="•"/>
              </a:pPr>
              <a:r>
                <a:rPr lang="en-US" sz="2447">
                  <a:solidFill>
                    <a:srgbClr val="000000"/>
                  </a:solidFill>
                  <a:latin typeface="Poppins"/>
                  <a:ea typeface="Poppins"/>
                  <a:cs typeface="Poppins"/>
                  <a:sym typeface="Poppins"/>
                </a:rPr>
                <a:t>Value delivered during the week</a:t>
              </a:r>
            </a:p>
          </p:txBody>
        </p:sp>
        <p:sp>
          <p:nvSpPr>
            <p:cNvPr id="9" name="TextBox 9"/>
            <p:cNvSpPr txBox="1"/>
            <p:nvPr/>
          </p:nvSpPr>
          <p:spPr>
            <a:xfrm>
              <a:off x="14815937" y="343981"/>
              <a:ext cx="4842433" cy="4889804"/>
            </a:xfrm>
            <a:prstGeom prst="rect">
              <a:avLst/>
            </a:prstGeom>
          </p:spPr>
          <p:txBody>
            <a:bodyPr lIns="0" tIns="0" rIns="0" bIns="0" rtlCol="0" anchor="t">
              <a:spAutoFit/>
            </a:bodyPr>
            <a:lstStyle/>
            <a:p>
              <a:pPr algn="l">
                <a:lnSpc>
                  <a:spcPts val="3695"/>
                </a:lnSpc>
              </a:pPr>
              <a:r>
                <a:rPr lang="en-US" sz="2447" b="1">
                  <a:solidFill>
                    <a:srgbClr val="000000"/>
                  </a:solidFill>
                  <a:latin typeface="Poppins Bold"/>
                  <a:ea typeface="Poppins Bold"/>
                  <a:cs typeface="Poppins Bold"/>
                  <a:sym typeface="Poppins Bold"/>
                </a:rPr>
                <a:t>🔴 PROBLEMS</a:t>
              </a:r>
              <a:r>
                <a:rPr lang="en-US" sz="2447">
                  <a:solidFill>
                    <a:srgbClr val="000000"/>
                  </a:solidFill>
                  <a:latin typeface="Poppins"/>
                  <a:ea typeface="Poppins"/>
                  <a:cs typeface="Poppins"/>
                  <a:sym typeface="Poppins"/>
                </a:rPr>
                <a:t> (What needs attention)</a:t>
              </a:r>
            </a:p>
            <a:p>
              <a:pPr marL="528320" lvl="1" indent="-264160" algn="l">
                <a:lnSpc>
                  <a:spcPts val="3695"/>
                </a:lnSpc>
                <a:buFont typeface="Arial"/>
                <a:buChar char="•"/>
              </a:pPr>
              <a:r>
                <a:rPr lang="en-US" sz="2447">
                  <a:solidFill>
                    <a:srgbClr val="000000"/>
                  </a:solidFill>
                  <a:latin typeface="Poppins"/>
                  <a:ea typeface="Poppins"/>
                  <a:cs typeface="Poppins"/>
                  <a:sym typeface="Poppins"/>
                </a:rPr>
                <a:t>Challenges, blockers, or risks</a:t>
              </a:r>
            </a:p>
            <a:p>
              <a:pPr marL="528320" lvl="1" indent="-264160" algn="l">
                <a:lnSpc>
                  <a:spcPts val="3695"/>
                </a:lnSpc>
                <a:buFont typeface="Arial"/>
                <a:buChar char="•"/>
              </a:pPr>
              <a:r>
                <a:rPr lang="en-US" sz="2447">
                  <a:solidFill>
                    <a:srgbClr val="000000"/>
                  </a:solidFill>
                  <a:latin typeface="Poppins"/>
                  <a:ea typeface="Poppins"/>
                  <a:cs typeface="Poppins"/>
                  <a:sym typeface="Poppins"/>
                </a:rPr>
                <a:t>Dependencies or delays</a:t>
              </a:r>
            </a:p>
            <a:p>
              <a:pPr marL="528320" lvl="1" indent="-264160" algn="l">
                <a:lnSpc>
                  <a:spcPts val="3695"/>
                </a:lnSpc>
                <a:buFont typeface="Arial"/>
                <a:buChar char="•"/>
              </a:pPr>
              <a:r>
                <a:rPr lang="en-US" sz="2447">
                  <a:solidFill>
                    <a:srgbClr val="000000"/>
                  </a:solidFill>
                  <a:latin typeface="Poppins"/>
                  <a:ea typeface="Poppins"/>
                  <a:cs typeface="Poppins"/>
                  <a:sym typeface="Poppins"/>
                </a:rPr>
                <a:t>Support or decisions required</a:t>
              </a:r>
            </a:p>
          </p:txBody>
        </p:sp>
      </p:grpSp>
      <p:sp>
        <p:nvSpPr>
          <p:cNvPr id="10" name="Freeform 10"/>
          <p:cNvSpPr/>
          <p:nvPr/>
        </p:nvSpPr>
        <p:spPr>
          <a:xfrm>
            <a:off x="5976347" y="4889719"/>
            <a:ext cx="806818" cy="507562"/>
          </a:xfrm>
          <a:custGeom>
            <a:avLst/>
            <a:gdLst/>
            <a:ahLst/>
            <a:cxnLst/>
            <a:rect l="l" t="t" r="r" b="b"/>
            <a:pathLst>
              <a:path w="806818" h="507562">
                <a:moveTo>
                  <a:pt x="0" y="0"/>
                </a:moveTo>
                <a:lnTo>
                  <a:pt x="806818" y="0"/>
                </a:lnTo>
                <a:lnTo>
                  <a:pt x="806818" y="507562"/>
                </a:lnTo>
                <a:lnTo>
                  <a:pt x="0" y="50756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1" name="TextBox 11"/>
          <p:cNvSpPr txBox="1"/>
          <p:nvPr/>
        </p:nvSpPr>
        <p:spPr>
          <a:xfrm>
            <a:off x="1467477" y="1368763"/>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Weekly Status Update - PPP </a:t>
            </a:r>
          </a:p>
        </p:txBody>
      </p:sp>
      <p:sp>
        <p:nvSpPr>
          <p:cNvPr id="12" name="Freeform 12"/>
          <p:cNvSpPr/>
          <p:nvPr/>
        </p:nvSpPr>
        <p:spPr>
          <a:xfrm>
            <a:off x="11253039" y="4889719"/>
            <a:ext cx="806818" cy="507562"/>
          </a:xfrm>
          <a:custGeom>
            <a:avLst/>
            <a:gdLst/>
            <a:ahLst/>
            <a:cxnLst/>
            <a:rect l="l" t="t" r="r" b="b"/>
            <a:pathLst>
              <a:path w="806818" h="507562">
                <a:moveTo>
                  <a:pt x="0" y="0"/>
                </a:moveTo>
                <a:lnTo>
                  <a:pt x="806818" y="0"/>
                </a:lnTo>
                <a:lnTo>
                  <a:pt x="806818" y="507562"/>
                </a:lnTo>
                <a:lnTo>
                  <a:pt x="0" y="50756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13" name="Group 13"/>
          <p:cNvGrpSpPr/>
          <p:nvPr/>
        </p:nvGrpSpPr>
        <p:grpSpPr>
          <a:xfrm>
            <a:off x="1584304" y="7981060"/>
            <a:ext cx="15193926" cy="463862"/>
            <a:chOff x="0" y="0"/>
            <a:chExt cx="20258567" cy="618482"/>
          </a:xfrm>
        </p:grpSpPr>
        <p:sp>
          <p:nvSpPr>
            <p:cNvPr id="14" name="TextBox 14"/>
            <p:cNvSpPr txBox="1"/>
            <p:nvPr/>
          </p:nvSpPr>
          <p:spPr>
            <a:xfrm>
              <a:off x="0" y="-122639"/>
              <a:ext cx="8471413" cy="741121"/>
            </a:xfrm>
            <a:prstGeom prst="rect">
              <a:avLst/>
            </a:prstGeom>
          </p:spPr>
          <p:txBody>
            <a:bodyPr lIns="0" tIns="0" rIns="0" bIns="0" rtlCol="0" anchor="t">
              <a:spAutoFit/>
            </a:bodyPr>
            <a:lstStyle/>
            <a:p>
              <a:pPr algn="just">
                <a:lnSpc>
                  <a:spcPts val="4625"/>
                </a:lnSpc>
              </a:pPr>
              <a:r>
                <a:rPr lang="en-US" sz="3062" u="sng">
                  <a:solidFill>
                    <a:srgbClr val="000000"/>
                  </a:solidFill>
                  <a:latin typeface="Poppins"/>
                  <a:ea typeface="Poppins"/>
                  <a:cs typeface="Poppins"/>
                  <a:sym typeface="Poppins"/>
                  <a:hlinkClick r:id="rId7" tooltip="https://youtu.be/a77p1Dx0JHQ"/>
                </a:rPr>
                <a:t>https://youtu.be/a77p1Dx0JHQ</a:t>
              </a:r>
            </a:p>
          </p:txBody>
        </p:sp>
        <p:sp>
          <p:nvSpPr>
            <p:cNvPr id="15" name="TextBox 15"/>
            <p:cNvSpPr txBox="1"/>
            <p:nvPr/>
          </p:nvSpPr>
          <p:spPr>
            <a:xfrm>
              <a:off x="11787155" y="-123825"/>
              <a:ext cx="8471413" cy="737827"/>
            </a:xfrm>
            <a:prstGeom prst="rect">
              <a:avLst/>
            </a:prstGeom>
          </p:spPr>
          <p:txBody>
            <a:bodyPr lIns="0" tIns="0" rIns="0" bIns="0" rtlCol="0" anchor="t">
              <a:spAutoFit/>
            </a:bodyPr>
            <a:lstStyle/>
            <a:p>
              <a:pPr algn="r">
                <a:lnSpc>
                  <a:spcPts val="4625"/>
                </a:lnSpc>
              </a:pPr>
              <a:r>
                <a:rPr lang="en-US" sz="3062">
                  <a:solidFill>
                    <a:srgbClr val="000000"/>
                  </a:solidFill>
                  <a:latin typeface="Poppins"/>
                  <a:ea typeface="Poppins"/>
                  <a:cs typeface="Poppins"/>
                  <a:sym typeface="Poppins"/>
                </a:rPr>
                <a:t>2 Minutes Video</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graphicFrame>
        <p:nvGraphicFramePr>
          <p:cNvPr id="3" name="Object 3"/>
          <p:cNvGraphicFramePr/>
          <p:nvPr>
            <p:extLst>
              <p:ext uri="{D42A27DB-BD31-4B8C-83A1-F6EECF244321}">
                <p14:modId xmlns:p14="http://schemas.microsoft.com/office/powerpoint/2010/main" val="972531881"/>
              </p:ext>
            </p:extLst>
          </p:nvPr>
        </p:nvGraphicFramePr>
        <p:xfrm>
          <a:off x="311021" y="2133936"/>
          <a:ext cx="17665958" cy="6367772"/>
        </p:xfrm>
        <a:graphic>
          <a:graphicData uri="http://schemas.openxmlformats.org/presentationml/2006/ole">
            <mc:AlternateContent xmlns:mc="http://schemas.openxmlformats.org/markup-compatibility/2006">
              <mc:Choice xmlns:v="urn:schemas-microsoft-com:vml" Requires="v">
                <p:oleObj name="Worksheet" r:id="rId3" imgW="19469100" imgH="9118600" progId="Excel.Sheet.12">
                  <p:embed/>
                </p:oleObj>
              </mc:Choice>
              <mc:Fallback>
                <p:oleObj name="Worksheet" r:id="rId3" imgW="19469100" imgH="9118600" progId="Excel.Sheet.12">
                  <p:embed/>
                  <p:pic>
                    <p:nvPicPr>
                      <p:cNvPr id="3" name="Object 3"/>
                      <p:cNvPicPr/>
                      <p:nvPr/>
                    </p:nvPicPr>
                    <p:blipFill>
                      <a:blip r:embed="rId4"/>
                      <a:stretch>
                        <a:fillRect/>
                      </a:stretch>
                    </p:blipFill>
                    <p:spPr>
                      <a:xfrm>
                        <a:off x="311021" y="2133936"/>
                        <a:ext cx="17665958" cy="6367772"/>
                      </a:xfrm>
                      <a:prstGeom prst="rect">
                        <a:avLst/>
                      </a:prstGeom>
                    </p:spPr>
                  </p:pic>
                </p:oleObj>
              </mc:Fallback>
            </mc:AlternateContent>
          </a:graphicData>
        </a:graphic>
      </p:graphicFrame>
      <p:sp>
        <p:nvSpPr>
          <p:cNvPr id="4" name="TextBox 4"/>
          <p:cNvSpPr txBox="1"/>
          <p:nvPr/>
        </p:nvSpPr>
        <p:spPr>
          <a:xfrm>
            <a:off x="1435358" y="1444963"/>
            <a:ext cx="10006688" cy="674129"/>
          </a:xfrm>
          <a:prstGeom prst="rect">
            <a:avLst/>
          </a:prstGeom>
        </p:spPr>
        <p:txBody>
          <a:bodyPr lIns="0" tIns="0" rIns="0" bIns="0" rtlCol="0" anchor="t">
            <a:spAutoFit/>
          </a:bodyPr>
          <a:lstStyle/>
          <a:p>
            <a:pPr algn="l">
              <a:lnSpc>
                <a:spcPts val="5532"/>
              </a:lnSpc>
              <a:spcBef>
                <a:spcPct val="0"/>
              </a:spcBef>
            </a:pPr>
            <a:r>
              <a:rPr lang="en-US" sz="3951" b="1">
                <a:solidFill>
                  <a:srgbClr val="2F748E"/>
                </a:solidFill>
                <a:latin typeface="Canva Sans Bold"/>
                <a:ea typeface="Canva Sans Bold"/>
                <a:cs typeface="Canva Sans Bold"/>
                <a:sym typeface="Canva Sans Bold"/>
              </a:rPr>
              <a:t>Elements of Weekly Status Reports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Freeform 3"/>
          <p:cNvSpPr/>
          <p:nvPr/>
        </p:nvSpPr>
        <p:spPr>
          <a:xfrm>
            <a:off x="15552205" y="8564026"/>
            <a:ext cx="1216949" cy="1208099"/>
          </a:xfrm>
          <a:custGeom>
            <a:avLst/>
            <a:gdLst/>
            <a:ahLst/>
            <a:cxnLst/>
            <a:rect l="l" t="t" r="r" b="b"/>
            <a:pathLst>
              <a:path w="1216949" h="1208099">
                <a:moveTo>
                  <a:pt x="0" y="0"/>
                </a:moveTo>
                <a:lnTo>
                  <a:pt x="1216949" y="0"/>
                </a:lnTo>
                <a:lnTo>
                  <a:pt x="1216949" y="1208099"/>
                </a:lnTo>
                <a:lnTo>
                  <a:pt x="0" y="120809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1372333" y="2428323"/>
            <a:ext cx="7407511" cy="4982043"/>
          </a:xfrm>
          <a:custGeom>
            <a:avLst/>
            <a:gdLst/>
            <a:ahLst/>
            <a:cxnLst/>
            <a:rect l="l" t="t" r="r" b="b"/>
            <a:pathLst>
              <a:path w="7407511" h="4982043">
                <a:moveTo>
                  <a:pt x="0" y="0"/>
                </a:moveTo>
                <a:lnTo>
                  <a:pt x="7407511" y="0"/>
                </a:lnTo>
                <a:lnTo>
                  <a:pt x="7407511" y="4982043"/>
                </a:lnTo>
                <a:lnTo>
                  <a:pt x="0" y="4982043"/>
                </a:lnTo>
                <a:lnTo>
                  <a:pt x="0" y="0"/>
                </a:lnTo>
                <a:close/>
              </a:path>
            </a:pathLst>
          </a:custGeom>
          <a:blipFill>
            <a:blip r:embed="rId5"/>
            <a:stretch>
              <a:fillRect/>
            </a:stretch>
          </a:blipFill>
        </p:spPr>
        <p:txBody>
          <a:bodyPr/>
          <a:lstStyle/>
          <a:p>
            <a:endParaRPr lang="en-US"/>
          </a:p>
        </p:txBody>
      </p:sp>
      <p:sp>
        <p:nvSpPr>
          <p:cNvPr id="5" name="Freeform 5"/>
          <p:cNvSpPr/>
          <p:nvPr/>
        </p:nvSpPr>
        <p:spPr>
          <a:xfrm>
            <a:off x="8909614" y="2428323"/>
            <a:ext cx="7859540" cy="5069403"/>
          </a:xfrm>
          <a:custGeom>
            <a:avLst/>
            <a:gdLst/>
            <a:ahLst/>
            <a:cxnLst/>
            <a:rect l="l" t="t" r="r" b="b"/>
            <a:pathLst>
              <a:path w="7859540" h="5069403">
                <a:moveTo>
                  <a:pt x="0" y="0"/>
                </a:moveTo>
                <a:lnTo>
                  <a:pt x="7859540" y="0"/>
                </a:lnTo>
                <a:lnTo>
                  <a:pt x="7859540" y="5069403"/>
                </a:lnTo>
                <a:lnTo>
                  <a:pt x="0" y="5069403"/>
                </a:lnTo>
                <a:lnTo>
                  <a:pt x="0" y="0"/>
                </a:lnTo>
                <a:close/>
              </a:path>
            </a:pathLst>
          </a:custGeom>
          <a:blipFill>
            <a:blip r:embed="rId6"/>
            <a:stretch>
              <a:fillRect/>
            </a:stretch>
          </a:blipFill>
        </p:spPr>
        <p:txBody>
          <a:bodyPr/>
          <a:lstStyle/>
          <a:p>
            <a:endParaRPr lang="en-US"/>
          </a:p>
        </p:txBody>
      </p:sp>
      <p:sp>
        <p:nvSpPr>
          <p:cNvPr id="6" name="TextBox 6"/>
          <p:cNvSpPr txBox="1"/>
          <p:nvPr/>
        </p:nvSpPr>
        <p:spPr>
          <a:xfrm>
            <a:off x="1372333" y="1056009"/>
            <a:ext cx="9288031" cy="771458"/>
          </a:xfrm>
          <a:prstGeom prst="rect">
            <a:avLst/>
          </a:prstGeom>
        </p:spPr>
        <p:txBody>
          <a:bodyPr lIns="0" tIns="0" rIns="0" bIns="0" rtlCol="0" anchor="t">
            <a:spAutoFit/>
          </a:bodyPr>
          <a:lstStyle/>
          <a:p>
            <a:pPr algn="l">
              <a:lnSpc>
                <a:spcPts val="6300"/>
              </a:lnSpc>
              <a:spcBef>
                <a:spcPct val="0"/>
              </a:spcBef>
            </a:pPr>
            <a:r>
              <a:rPr lang="en-US" sz="4500" b="1">
                <a:solidFill>
                  <a:srgbClr val="2F748E"/>
                </a:solidFill>
                <a:latin typeface="Canva Sans Bold"/>
                <a:ea typeface="Canva Sans Bold"/>
                <a:cs typeface="Canva Sans Bold"/>
                <a:sym typeface="Canva Sans Bold"/>
              </a:rPr>
              <a:t>Weekly Status Report - Template</a:t>
            </a:r>
          </a:p>
        </p:txBody>
      </p:sp>
      <p:sp>
        <p:nvSpPr>
          <p:cNvPr id="7" name="TextBox 7"/>
          <p:cNvSpPr txBox="1"/>
          <p:nvPr/>
        </p:nvSpPr>
        <p:spPr>
          <a:xfrm>
            <a:off x="2401548" y="7516776"/>
            <a:ext cx="13759131" cy="1047250"/>
          </a:xfrm>
          <a:prstGeom prst="rect">
            <a:avLst/>
          </a:prstGeom>
        </p:spPr>
        <p:txBody>
          <a:bodyPr lIns="0" tIns="0" rIns="0" bIns="0" rtlCol="0" anchor="t">
            <a:spAutoFit/>
          </a:bodyPr>
          <a:lstStyle/>
          <a:p>
            <a:pPr algn="l">
              <a:lnSpc>
                <a:spcPts val="4177"/>
              </a:lnSpc>
            </a:pPr>
            <a:r>
              <a:rPr lang="en-US" sz="2766" b="1">
                <a:solidFill>
                  <a:srgbClr val="000000"/>
                </a:solidFill>
                <a:latin typeface="Poppins Bold"/>
                <a:ea typeface="Poppins Bold"/>
                <a:cs typeface="Poppins Bold"/>
                <a:sym typeface="Poppins Bold"/>
              </a:rPr>
              <a:t>Refer the Template:</a:t>
            </a:r>
          </a:p>
          <a:p>
            <a:pPr algn="l">
              <a:lnSpc>
                <a:spcPts val="4177"/>
              </a:lnSpc>
            </a:pPr>
            <a:r>
              <a:rPr lang="en-US" sz="2766" u="sng">
                <a:solidFill>
                  <a:srgbClr val="000000"/>
                </a:solidFill>
                <a:latin typeface="Poppins"/>
                <a:ea typeface="Poppins"/>
                <a:cs typeface="Poppins"/>
                <a:sym typeface="Poppins"/>
                <a:hlinkClick r:id="rId7" tooltip="https://weekdone.com/resources/templates/progress-report-templates"/>
              </a:rPr>
              <a:t>https://weekdone.com/resources/templates/progress-report-templates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Freeform 3"/>
          <p:cNvSpPr/>
          <p:nvPr/>
        </p:nvSpPr>
        <p:spPr>
          <a:xfrm rot="591104">
            <a:off x="13410722" y="6181444"/>
            <a:ext cx="2354838" cy="2472271"/>
          </a:xfrm>
          <a:custGeom>
            <a:avLst/>
            <a:gdLst/>
            <a:ahLst/>
            <a:cxnLst/>
            <a:rect l="l" t="t" r="r" b="b"/>
            <a:pathLst>
              <a:path w="2354838" h="2472271">
                <a:moveTo>
                  <a:pt x="0" y="0"/>
                </a:moveTo>
                <a:lnTo>
                  <a:pt x="2354838" y="0"/>
                </a:lnTo>
                <a:lnTo>
                  <a:pt x="2354838" y="2472271"/>
                </a:lnTo>
                <a:lnTo>
                  <a:pt x="0" y="2472271"/>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191658" y="933450"/>
            <a:ext cx="10402463" cy="1659099"/>
          </a:xfrm>
          <a:prstGeom prst="rect">
            <a:avLst/>
          </a:prstGeom>
        </p:spPr>
        <p:txBody>
          <a:bodyPr lIns="0" tIns="0" rIns="0" bIns="0" rtlCol="0" anchor="t">
            <a:spAutoFit/>
          </a:bodyPr>
          <a:lstStyle/>
          <a:p>
            <a:pPr algn="l">
              <a:lnSpc>
                <a:spcPts val="6631"/>
              </a:lnSpc>
              <a:spcBef>
                <a:spcPct val="0"/>
              </a:spcBef>
            </a:pPr>
            <a:r>
              <a:rPr lang="en-US" sz="4736" b="1">
                <a:solidFill>
                  <a:srgbClr val="2F748E"/>
                </a:solidFill>
                <a:latin typeface="Canva Sans Bold"/>
                <a:ea typeface="Canva Sans Bold"/>
                <a:cs typeface="Canva Sans Bold"/>
                <a:sym typeface="Canva Sans Bold"/>
              </a:rPr>
              <a:t>How to make Weekly Progress/Status Reports?</a:t>
            </a:r>
          </a:p>
        </p:txBody>
      </p:sp>
      <p:sp>
        <p:nvSpPr>
          <p:cNvPr id="5" name="TextBox 5"/>
          <p:cNvSpPr txBox="1"/>
          <p:nvPr/>
        </p:nvSpPr>
        <p:spPr>
          <a:xfrm>
            <a:off x="1028700" y="3640372"/>
            <a:ext cx="8428551" cy="1481095"/>
          </a:xfrm>
          <a:prstGeom prst="rect">
            <a:avLst/>
          </a:prstGeom>
        </p:spPr>
        <p:txBody>
          <a:bodyPr lIns="0" tIns="0" rIns="0" bIns="0" rtlCol="0" anchor="t">
            <a:spAutoFit/>
          </a:bodyPr>
          <a:lstStyle/>
          <a:p>
            <a:pPr algn="ctr">
              <a:lnSpc>
                <a:spcPts val="5872"/>
              </a:lnSpc>
            </a:pPr>
            <a:r>
              <a:rPr lang="en-US" sz="3889" u="sng">
                <a:solidFill>
                  <a:srgbClr val="020202"/>
                </a:solidFill>
                <a:latin typeface="Poppins"/>
                <a:ea typeface="Poppins"/>
                <a:cs typeface="Poppins"/>
                <a:sym typeface="Poppins"/>
                <a:hlinkClick r:id="rId4" tooltip="https://youtu.be/yQTje_GYhb4?si=PwUkjgc4BAG8bvWN"/>
              </a:rPr>
              <a:t>https://youtu.be/yQTje_GYhb4?si=PwUkjgc4BAG8bvWN</a:t>
            </a:r>
          </a:p>
        </p:txBody>
      </p:sp>
      <p:sp>
        <p:nvSpPr>
          <p:cNvPr id="6" name="TextBox 6"/>
          <p:cNvSpPr txBox="1"/>
          <p:nvPr/>
        </p:nvSpPr>
        <p:spPr>
          <a:xfrm>
            <a:off x="9980965" y="4019295"/>
            <a:ext cx="9214353" cy="723248"/>
          </a:xfrm>
          <a:prstGeom prst="rect">
            <a:avLst/>
          </a:prstGeom>
        </p:spPr>
        <p:txBody>
          <a:bodyPr lIns="0" tIns="0" rIns="0" bIns="0" rtlCol="0" anchor="t">
            <a:spAutoFit/>
          </a:bodyPr>
          <a:lstStyle/>
          <a:p>
            <a:pPr algn="ctr">
              <a:lnSpc>
                <a:spcPts val="5703"/>
              </a:lnSpc>
            </a:pPr>
            <a:r>
              <a:rPr lang="en-US" sz="3777">
                <a:solidFill>
                  <a:srgbClr val="020202"/>
                </a:solidFill>
                <a:latin typeface="Poppins"/>
                <a:ea typeface="Poppins"/>
                <a:cs typeface="Poppins"/>
                <a:sym typeface="Poppins"/>
              </a:rPr>
              <a:t>14 Minutes Video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Freeform 3"/>
          <p:cNvSpPr/>
          <p:nvPr/>
        </p:nvSpPr>
        <p:spPr>
          <a:xfrm>
            <a:off x="12071170" y="3334532"/>
            <a:ext cx="4193427" cy="4114800"/>
          </a:xfrm>
          <a:custGeom>
            <a:avLst/>
            <a:gdLst/>
            <a:ahLst/>
            <a:cxnLst/>
            <a:rect l="l" t="t" r="r" b="b"/>
            <a:pathLst>
              <a:path w="4193427" h="4114800">
                <a:moveTo>
                  <a:pt x="0" y="0"/>
                </a:moveTo>
                <a:lnTo>
                  <a:pt x="4193427" y="0"/>
                </a:lnTo>
                <a:lnTo>
                  <a:pt x="4193427"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1925034" y="2552714"/>
            <a:ext cx="9086858" cy="5611760"/>
          </a:xfrm>
          <a:prstGeom prst="rect">
            <a:avLst/>
          </a:prstGeom>
        </p:spPr>
        <p:txBody>
          <a:bodyPr lIns="0" tIns="0" rIns="0" bIns="0" rtlCol="0" anchor="t">
            <a:spAutoFit/>
          </a:bodyPr>
          <a:lstStyle/>
          <a:p>
            <a:pPr marL="762292" lvl="1" indent="-381146" algn="l">
              <a:lnSpc>
                <a:spcPts val="4943"/>
              </a:lnSpc>
              <a:buFont typeface="Arial"/>
              <a:buChar char="•"/>
            </a:pPr>
            <a:r>
              <a:rPr lang="en-US" sz="3530">
                <a:solidFill>
                  <a:srgbClr val="000000"/>
                </a:solidFill>
                <a:latin typeface="Canva Sans"/>
                <a:ea typeface="Canva Sans"/>
                <a:cs typeface="Canva Sans"/>
                <a:sym typeface="Canva Sans"/>
              </a:rPr>
              <a:t>Summary - SUM-muh-ree</a:t>
            </a:r>
          </a:p>
          <a:p>
            <a:pPr marL="762292" lvl="1" indent="-381146" algn="l">
              <a:lnSpc>
                <a:spcPts val="4943"/>
              </a:lnSpc>
              <a:buFont typeface="Arial"/>
              <a:buChar char="•"/>
            </a:pPr>
            <a:r>
              <a:rPr lang="en-US" sz="3530">
                <a:solidFill>
                  <a:srgbClr val="000000"/>
                </a:solidFill>
                <a:latin typeface="Canva Sans"/>
                <a:ea typeface="Canva Sans"/>
                <a:cs typeface="Canva Sans"/>
                <a:sym typeface="Canva Sans"/>
              </a:rPr>
              <a:t>Outcome - OUT-kum</a:t>
            </a:r>
          </a:p>
          <a:p>
            <a:pPr marL="762292" lvl="1" indent="-381146" algn="l">
              <a:lnSpc>
                <a:spcPts val="4943"/>
              </a:lnSpc>
              <a:buFont typeface="Arial"/>
              <a:buChar char="•"/>
            </a:pPr>
            <a:r>
              <a:rPr lang="en-US" sz="3530">
                <a:solidFill>
                  <a:srgbClr val="000000"/>
                </a:solidFill>
                <a:latin typeface="Canva Sans"/>
                <a:ea typeface="Canva Sans"/>
                <a:cs typeface="Canva Sans"/>
                <a:sym typeface="Canva Sans"/>
              </a:rPr>
              <a:t>Alignment - uh-LINE-ment</a:t>
            </a:r>
          </a:p>
          <a:p>
            <a:pPr marL="762292" lvl="1" indent="-381146" algn="l">
              <a:lnSpc>
                <a:spcPts val="4943"/>
              </a:lnSpc>
              <a:buFont typeface="Arial"/>
              <a:buChar char="•"/>
            </a:pPr>
            <a:r>
              <a:rPr lang="en-US" sz="3530">
                <a:solidFill>
                  <a:srgbClr val="000000"/>
                </a:solidFill>
                <a:latin typeface="Canva Sans"/>
                <a:ea typeface="Canva Sans"/>
                <a:cs typeface="Canva Sans"/>
                <a:sym typeface="Canva Sans"/>
              </a:rPr>
              <a:t>Mitigation - mit-i-GAY-shun</a:t>
            </a:r>
          </a:p>
          <a:p>
            <a:pPr marL="762292" lvl="1" indent="-381146" algn="l">
              <a:lnSpc>
                <a:spcPts val="4943"/>
              </a:lnSpc>
              <a:buFont typeface="Arial"/>
              <a:buChar char="•"/>
            </a:pPr>
            <a:r>
              <a:rPr lang="en-US" sz="3530">
                <a:solidFill>
                  <a:srgbClr val="000000"/>
                </a:solidFill>
                <a:latin typeface="Canva Sans"/>
                <a:ea typeface="Canva Sans"/>
                <a:cs typeface="Canva Sans"/>
                <a:sym typeface="Canva Sans"/>
              </a:rPr>
              <a:t>Forecast - FOR-kast</a:t>
            </a:r>
          </a:p>
          <a:p>
            <a:pPr marL="762292" lvl="1" indent="-381146" algn="l">
              <a:lnSpc>
                <a:spcPts val="4943"/>
              </a:lnSpc>
              <a:buFont typeface="Arial"/>
              <a:buChar char="•"/>
            </a:pPr>
            <a:r>
              <a:rPr lang="en-US" sz="3530">
                <a:solidFill>
                  <a:srgbClr val="000000"/>
                </a:solidFill>
                <a:latin typeface="Canva Sans"/>
                <a:ea typeface="Canva Sans"/>
                <a:cs typeface="Canva Sans"/>
                <a:sym typeface="Canva Sans"/>
              </a:rPr>
              <a:t>Escalation - es-kuh-LAY-shun</a:t>
            </a:r>
          </a:p>
          <a:p>
            <a:pPr marL="762292" lvl="1" indent="-381146" algn="l">
              <a:lnSpc>
                <a:spcPts val="4943"/>
              </a:lnSpc>
              <a:buFont typeface="Arial"/>
              <a:buChar char="•"/>
            </a:pPr>
            <a:r>
              <a:rPr lang="en-US" sz="3530">
                <a:solidFill>
                  <a:srgbClr val="000000"/>
                </a:solidFill>
                <a:latin typeface="Canva Sans"/>
                <a:ea typeface="Canva Sans"/>
                <a:cs typeface="Canva Sans"/>
                <a:sym typeface="Canva Sans"/>
              </a:rPr>
              <a:t>Decision - di-SI-zhun</a:t>
            </a:r>
          </a:p>
          <a:p>
            <a:pPr marL="762292" lvl="1" indent="-381146" algn="l">
              <a:lnSpc>
                <a:spcPts val="4943"/>
              </a:lnSpc>
              <a:buFont typeface="Arial"/>
              <a:buChar char="•"/>
            </a:pPr>
            <a:r>
              <a:rPr lang="en-US" sz="3530">
                <a:solidFill>
                  <a:srgbClr val="000000"/>
                </a:solidFill>
                <a:latin typeface="Canva Sans"/>
                <a:ea typeface="Canva Sans"/>
                <a:cs typeface="Canva Sans"/>
                <a:sym typeface="Canva Sans"/>
              </a:rPr>
              <a:t>Achievement - uh-CHEEV-ment</a:t>
            </a:r>
          </a:p>
          <a:p>
            <a:pPr marL="762292" lvl="1" indent="-381146" algn="l">
              <a:lnSpc>
                <a:spcPts val="4943"/>
              </a:lnSpc>
              <a:buFont typeface="Arial"/>
              <a:buChar char="•"/>
            </a:pPr>
            <a:r>
              <a:rPr lang="en-US" sz="3530">
                <a:solidFill>
                  <a:srgbClr val="000000"/>
                </a:solidFill>
                <a:latin typeface="Canva Sans"/>
                <a:ea typeface="Canva Sans"/>
                <a:cs typeface="Canva Sans"/>
                <a:sym typeface="Canva Sans"/>
              </a:rPr>
              <a:t>Deviation - dee-vee-AY-shun</a:t>
            </a:r>
          </a:p>
        </p:txBody>
      </p:sp>
      <p:sp>
        <p:nvSpPr>
          <p:cNvPr id="5" name="TextBox 5"/>
          <p:cNvSpPr txBox="1"/>
          <p:nvPr/>
        </p:nvSpPr>
        <p:spPr>
          <a:xfrm>
            <a:off x="1028700" y="1105656"/>
            <a:ext cx="6833171" cy="745289"/>
          </a:xfrm>
          <a:prstGeom prst="rect">
            <a:avLst/>
          </a:prstGeom>
        </p:spPr>
        <p:txBody>
          <a:bodyPr lIns="0" tIns="0" rIns="0" bIns="0" rtlCol="0" anchor="t">
            <a:spAutoFit/>
          </a:bodyPr>
          <a:lstStyle/>
          <a:p>
            <a:pPr algn="ctr">
              <a:lnSpc>
                <a:spcPts val="6084"/>
              </a:lnSpc>
              <a:spcBef>
                <a:spcPct val="0"/>
              </a:spcBef>
            </a:pPr>
            <a:r>
              <a:rPr lang="en-US" sz="4345" b="1">
                <a:solidFill>
                  <a:srgbClr val="2F748E"/>
                </a:solidFill>
                <a:latin typeface="Canva Sans Bold"/>
                <a:ea typeface="Canva Sans Bold"/>
                <a:cs typeface="Canva Sans Bold"/>
                <a:sym typeface="Canva Sans Bold"/>
              </a:rPr>
              <a:t>Pronunciation Tip: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Freeform 3"/>
          <p:cNvSpPr/>
          <p:nvPr/>
        </p:nvSpPr>
        <p:spPr>
          <a:xfrm>
            <a:off x="734022" y="645329"/>
            <a:ext cx="2995998" cy="1730189"/>
          </a:xfrm>
          <a:custGeom>
            <a:avLst/>
            <a:gdLst/>
            <a:ahLst/>
            <a:cxnLst/>
            <a:rect l="l" t="t" r="r" b="b"/>
            <a:pathLst>
              <a:path w="2995998" h="1730189">
                <a:moveTo>
                  <a:pt x="0" y="0"/>
                </a:moveTo>
                <a:lnTo>
                  <a:pt x="2995999" y="0"/>
                </a:lnTo>
                <a:lnTo>
                  <a:pt x="2995999" y="1730189"/>
                </a:lnTo>
                <a:lnTo>
                  <a:pt x="0" y="17301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1028700" y="2443226"/>
            <a:ext cx="14792196" cy="7421713"/>
          </a:xfrm>
          <a:prstGeom prst="rect">
            <a:avLst/>
          </a:prstGeom>
        </p:spPr>
        <p:txBody>
          <a:bodyPr lIns="0" tIns="0" rIns="0" bIns="0" rtlCol="0" anchor="t">
            <a:spAutoFit/>
          </a:bodyPr>
          <a:lstStyle/>
          <a:p>
            <a:pPr algn="l">
              <a:lnSpc>
                <a:spcPts val="3932"/>
              </a:lnSpc>
            </a:pPr>
            <a:r>
              <a:rPr lang="en-US" sz="2604" b="1">
                <a:solidFill>
                  <a:srgbClr val="000000"/>
                </a:solidFill>
                <a:latin typeface="Poppins Bold"/>
                <a:ea typeface="Poppins Bold"/>
                <a:cs typeface="Poppins Bold"/>
                <a:sym typeface="Poppins Bold"/>
              </a:rPr>
              <a:t>🎯 Objective - </a:t>
            </a:r>
            <a:r>
              <a:rPr lang="en-US" sz="2604">
                <a:solidFill>
                  <a:srgbClr val="000000"/>
                </a:solidFill>
                <a:latin typeface="Poppins"/>
                <a:ea typeface="Poppins"/>
                <a:cs typeface="Poppins"/>
                <a:sym typeface="Poppins"/>
              </a:rPr>
              <a:t>Practice creating a clear, business-focused weekly status report.</a:t>
            </a:r>
          </a:p>
          <a:p>
            <a:pPr algn="l">
              <a:lnSpc>
                <a:spcPts val="3932"/>
              </a:lnSpc>
            </a:pPr>
            <a:r>
              <a:rPr lang="en-US" sz="2604" b="1">
                <a:solidFill>
                  <a:srgbClr val="000000"/>
                </a:solidFill>
                <a:latin typeface="Poppins Bold"/>
                <a:ea typeface="Poppins Bold"/>
                <a:cs typeface="Poppins Bold"/>
                <a:sym typeface="Poppins Bold"/>
              </a:rPr>
              <a:t>📌 Task - </a:t>
            </a:r>
            <a:r>
              <a:rPr lang="en-US" sz="2604">
                <a:solidFill>
                  <a:srgbClr val="000000"/>
                </a:solidFill>
                <a:latin typeface="Poppins"/>
                <a:ea typeface="Poppins"/>
                <a:cs typeface="Poppins"/>
                <a:sym typeface="Poppins"/>
              </a:rPr>
              <a:t>Prepare one Weekly Status Report for:</a:t>
            </a:r>
          </a:p>
          <a:p>
            <a:pPr marL="562320" lvl="1" indent="-281160" algn="l">
              <a:lnSpc>
                <a:spcPts val="3932"/>
              </a:lnSpc>
              <a:buFont typeface="Arial"/>
              <a:buChar char="•"/>
            </a:pPr>
            <a:r>
              <a:rPr lang="en-US" sz="2604">
                <a:solidFill>
                  <a:srgbClr val="000000"/>
                </a:solidFill>
                <a:latin typeface="Poppins"/>
                <a:ea typeface="Poppins"/>
                <a:cs typeface="Poppins"/>
                <a:sym typeface="Poppins"/>
              </a:rPr>
              <a:t>Your current project</a:t>
            </a:r>
          </a:p>
          <a:p>
            <a:pPr marL="562320" lvl="1" indent="-281160" algn="l">
              <a:lnSpc>
                <a:spcPts val="3932"/>
              </a:lnSpc>
              <a:buFont typeface="Arial"/>
              <a:buChar char="•"/>
            </a:pPr>
            <a:r>
              <a:rPr lang="en-US" sz="2604">
                <a:solidFill>
                  <a:srgbClr val="000000"/>
                </a:solidFill>
                <a:latin typeface="Poppins"/>
                <a:ea typeface="Poppins"/>
                <a:cs typeface="Poppins"/>
                <a:sym typeface="Poppins"/>
              </a:rPr>
              <a:t>Your role</a:t>
            </a:r>
          </a:p>
          <a:p>
            <a:pPr marL="562320" lvl="1" indent="-281160" algn="l">
              <a:lnSpc>
                <a:spcPts val="3932"/>
              </a:lnSpc>
              <a:buFont typeface="Arial"/>
              <a:buChar char="•"/>
            </a:pPr>
            <a:r>
              <a:rPr lang="en-US" sz="2604">
                <a:solidFill>
                  <a:srgbClr val="000000"/>
                </a:solidFill>
                <a:latin typeface="Poppins"/>
                <a:ea typeface="Poppins"/>
                <a:cs typeface="Poppins"/>
                <a:sym typeface="Poppins"/>
              </a:rPr>
              <a:t>Your stakeholders (Manager / Client)</a:t>
            </a:r>
          </a:p>
          <a:p>
            <a:pPr algn="l">
              <a:lnSpc>
                <a:spcPts val="3932"/>
              </a:lnSpc>
            </a:pPr>
            <a:r>
              <a:rPr lang="en-US" sz="2604" b="1">
                <a:solidFill>
                  <a:srgbClr val="000000"/>
                </a:solidFill>
                <a:latin typeface="Poppins Bold"/>
                <a:ea typeface="Poppins Bold"/>
                <a:cs typeface="Poppins Bold"/>
                <a:sym typeface="Poppins Bold"/>
              </a:rPr>
              <a:t>📝 Include:</a:t>
            </a:r>
          </a:p>
          <a:p>
            <a:pPr marL="562320" lvl="1" indent="-281160" algn="l">
              <a:lnSpc>
                <a:spcPts val="3932"/>
              </a:lnSpc>
              <a:buFont typeface="Arial"/>
              <a:buChar char="•"/>
            </a:pPr>
            <a:r>
              <a:rPr lang="en-US" sz="2604">
                <a:solidFill>
                  <a:srgbClr val="000000"/>
                </a:solidFill>
                <a:latin typeface="Poppins"/>
                <a:ea typeface="Poppins"/>
                <a:cs typeface="Poppins"/>
                <a:sym typeface="Poppins"/>
              </a:rPr>
              <a:t>Weekly Summary</a:t>
            </a:r>
          </a:p>
          <a:p>
            <a:pPr marL="562320" lvl="1" indent="-281160" algn="l">
              <a:lnSpc>
                <a:spcPts val="3932"/>
              </a:lnSpc>
              <a:buFont typeface="Arial"/>
              <a:buChar char="•"/>
            </a:pPr>
            <a:r>
              <a:rPr lang="en-US" sz="2604">
                <a:solidFill>
                  <a:srgbClr val="000000"/>
                </a:solidFill>
                <a:latin typeface="Poppins"/>
                <a:ea typeface="Poppins"/>
                <a:cs typeface="Poppins"/>
                <a:sym typeface="Poppins"/>
              </a:rPr>
              <a:t>Key Achievements</a:t>
            </a:r>
          </a:p>
          <a:p>
            <a:pPr marL="562320" lvl="1" indent="-281160" algn="l">
              <a:lnSpc>
                <a:spcPts val="3932"/>
              </a:lnSpc>
              <a:buFont typeface="Arial"/>
              <a:buChar char="•"/>
            </a:pPr>
            <a:r>
              <a:rPr lang="en-US" sz="2604">
                <a:solidFill>
                  <a:srgbClr val="000000"/>
                </a:solidFill>
                <a:latin typeface="Poppins"/>
                <a:ea typeface="Poppins"/>
                <a:cs typeface="Poppins"/>
                <a:sym typeface="Poppins"/>
              </a:rPr>
              <a:t>Progress vs Plan</a:t>
            </a:r>
          </a:p>
          <a:p>
            <a:pPr marL="562320" lvl="1" indent="-281160" algn="l">
              <a:lnSpc>
                <a:spcPts val="3932"/>
              </a:lnSpc>
              <a:buFont typeface="Arial"/>
              <a:buChar char="•"/>
            </a:pPr>
            <a:r>
              <a:rPr lang="en-US" sz="2604">
                <a:solidFill>
                  <a:srgbClr val="000000"/>
                </a:solidFill>
                <a:latin typeface="Poppins"/>
                <a:ea typeface="Poppins"/>
                <a:cs typeface="Poppins"/>
                <a:sym typeface="Poppins"/>
              </a:rPr>
              <a:t>Risks / Challenges</a:t>
            </a:r>
          </a:p>
          <a:p>
            <a:pPr marL="562320" lvl="1" indent="-281160" algn="l">
              <a:lnSpc>
                <a:spcPts val="3932"/>
              </a:lnSpc>
              <a:buFont typeface="Arial"/>
              <a:buChar char="•"/>
            </a:pPr>
            <a:r>
              <a:rPr lang="en-US" sz="2604">
                <a:solidFill>
                  <a:srgbClr val="000000"/>
                </a:solidFill>
                <a:latin typeface="Poppins"/>
                <a:ea typeface="Poppins"/>
                <a:cs typeface="Poppins"/>
                <a:sym typeface="Poppins"/>
              </a:rPr>
              <a:t>Next Week’s Plan</a:t>
            </a:r>
          </a:p>
          <a:p>
            <a:pPr marL="562320" lvl="1" indent="-281160" algn="l">
              <a:lnSpc>
                <a:spcPts val="3932"/>
              </a:lnSpc>
              <a:buFont typeface="Arial"/>
              <a:buChar char="•"/>
            </a:pPr>
            <a:r>
              <a:rPr lang="en-US" sz="2604">
                <a:solidFill>
                  <a:srgbClr val="000000"/>
                </a:solidFill>
                <a:latin typeface="Poppins"/>
                <a:ea typeface="Poppins"/>
                <a:cs typeface="Poppins"/>
                <a:sym typeface="Poppins"/>
              </a:rPr>
              <a:t>Support / Decisions Needed</a:t>
            </a:r>
          </a:p>
          <a:p>
            <a:pPr algn="l">
              <a:lnSpc>
                <a:spcPts val="3932"/>
              </a:lnSpc>
            </a:pPr>
            <a:r>
              <a:rPr lang="en-US" sz="2604" b="1">
                <a:solidFill>
                  <a:srgbClr val="000000"/>
                </a:solidFill>
                <a:latin typeface="Poppins Bold"/>
                <a:ea typeface="Poppins Bold"/>
                <a:cs typeface="Poppins Bold"/>
                <a:sym typeface="Poppins Bold"/>
              </a:rPr>
              <a:t>🧠 Reflection (3–4 lines) -</a:t>
            </a:r>
            <a:r>
              <a:rPr lang="en-US" sz="2604">
                <a:solidFill>
                  <a:srgbClr val="000000"/>
                </a:solidFill>
                <a:latin typeface="Poppins"/>
                <a:ea typeface="Poppins"/>
                <a:cs typeface="Poppins"/>
                <a:sym typeface="Poppins"/>
              </a:rPr>
              <a:t> Explain why this report is effective and how it helps stakeholders.</a:t>
            </a:r>
          </a:p>
          <a:p>
            <a:pPr algn="l">
              <a:lnSpc>
                <a:spcPts val="3932"/>
              </a:lnSpc>
            </a:pPr>
            <a:r>
              <a:rPr lang="en-US" sz="2604" b="1">
                <a:solidFill>
                  <a:srgbClr val="000000"/>
                </a:solidFill>
                <a:latin typeface="Poppins Bold"/>
                <a:ea typeface="Poppins Bold"/>
                <a:cs typeface="Poppins Bold"/>
                <a:sym typeface="Poppins Bold"/>
              </a:rPr>
              <a:t>📄 Format: </a:t>
            </a:r>
            <a:r>
              <a:rPr lang="en-US" sz="2604">
                <a:solidFill>
                  <a:srgbClr val="000000"/>
                </a:solidFill>
                <a:latin typeface="Poppins"/>
                <a:ea typeface="Poppins"/>
                <a:cs typeface="Poppins"/>
                <a:sym typeface="Poppins"/>
              </a:rPr>
              <a:t>Word / Excel / PPT (Use real content)</a:t>
            </a:r>
          </a:p>
        </p:txBody>
      </p:sp>
      <p:sp>
        <p:nvSpPr>
          <p:cNvPr id="5" name="Freeform 5"/>
          <p:cNvSpPr/>
          <p:nvPr/>
        </p:nvSpPr>
        <p:spPr>
          <a:xfrm>
            <a:off x="11916982" y="3790676"/>
            <a:ext cx="5342318" cy="3539285"/>
          </a:xfrm>
          <a:custGeom>
            <a:avLst/>
            <a:gdLst/>
            <a:ahLst/>
            <a:cxnLst/>
            <a:rect l="l" t="t" r="r" b="b"/>
            <a:pathLst>
              <a:path w="5342318" h="3539285">
                <a:moveTo>
                  <a:pt x="0" y="0"/>
                </a:moveTo>
                <a:lnTo>
                  <a:pt x="5342318" y="0"/>
                </a:lnTo>
                <a:lnTo>
                  <a:pt x="5342318" y="3539286"/>
                </a:lnTo>
                <a:lnTo>
                  <a:pt x="0" y="3539286"/>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3331690" y="804271"/>
            <a:ext cx="8585293" cy="1499218"/>
          </a:xfrm>
          <a:prstGeom prst="rect">
            <a:avLst/>
          </a:prstGeom>
        </p:spPr>
        <p:txBody>
          <a:bodyPr lIns="0" tIns="0" rIns="0" bIns="0" rtlCol="0" anchor="t">
            <a:spAutoFit/>
          </a:bodyPr>
          <a:lstStyle/>
          <a:p>
            <a:pPr algn="ctr">
              <a:lnSpc>
                <a:spcPts val="5913"/>
              </a:lnSpc>
            </a:pPr>
            <a:r>
              <a:rPr lang="en-US" sz="3916" b="1">
                <a:solidFill>
                  <a:srgbClr val="0C3645"/>
                </a:solidFill>
                <a:latin typeface="Poppins Bold"/>
                <a:ea typeface="Poppins Bold"/>
                <a:cs typeface="Poppins Bold"/>
                <a:sym typeface="Poppins Bold"/>
              </a:rPr>
              <a:t>Assessment 1: Weekly Status Report Creation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Freeform 3"/>
          <p:cNvSpPr/>
          <p:nvPr/>
        </p:nvSpPr>
        <p:spPr>
          <a:xfrm>
            <a:off x="734022" y="837014"/>
            <a:ext cx="2995998" cy="1730189"/>
          </a:xfrm>
          <a:custGeom>
            <a:avLst/>
            <a:gdLst/>
            <a:ahLst/>
            <a:cxnLst/>
            <a:rect l="l" t="t" r="r" b="b"/>
            <a:pathLst>
              <a:path w="2995998" h="1730189">
                <a:moveTo>
                  <a:pt x="0" y="0"/>
                </a:moveTo>
                <a:lnTo>
                  <a:pt x="2995999" y="0"/>
                </a:lnTo>
                <a:lnTo>
                  <a:pt x="2995999" y="1730189"/>
                </a:lnTo>
                <a:lnTo>
                  <a:pt x="0" y="17301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13002367" y="3689446"/>
            <a:ext cx="3924349" cy="3458333"/>
          </a:xfrm>
          <a:custGeom>
            <a:avLst/>
            <a:gdLst/>
            <a:ahLst/>
            <a:cxnLst/>
            <a:rect l="l" t="t" r="r" b="b"/>
            <a:pathLst>
              <a:path w="3924349" h="3458333">
                <a:moveTo>
                  <a:pt x="0" y="0"/>
                </a:moveTo>
                <a:lnTo>
                  <a:pt x="3924349" y="0"/>
                </a:lnTo>
                <a:lnTo>
                  <a:pt x="3924349" y="3458333"/>
                </a:lnTo>
                <a:lnTo>
                  <a:pt x="0" y="3458333"/>
                </a:lnTo>
                <a:lnTo>
                  <a:pt x="0" y="0"/>
                </a:lnTo>
                <a:close/>
              </a:path>
            </a:pathLst>
          </a:custGeom>
          <a:blipFill>
            <a:blip r:embed="rId5"/>
            <a:stretch>
              <a:fillRect/>
            </a:stretch>
          </a:blipFill>
        </p:spPr>
        <p:txBody>
          <a:bodyPr/>
          <a:lstStyle/>
          <a:p>
            <a:endParaRPr lang="en-US"/>
          </a:p>
        </p:txBody>
      </p:sp>
      <p:sp>
        <p:nvSpPr>
          <p:cNvPr id="5" name="TextBox 5"/>
          <p:cNvSpPr txBox="1"/>
          <p:nvPr/>
        </p:nvSpPr>
        <p:spPr>
          <a:xfrm>
            <a:off x="1028700" y="3350489"/>
            <a:ext cx="12218104" cy="5045315"/>
          </a:xfrm>
          <a:prstGeom prst="rect">
            <a:avLst/>
          </a:prstGeom>
        </p:spPr>
        <p:txBody>
          <a:bodyPr lIns="0" tIns="0" rIns="0" bIns="0" rtlCol="0" anchor="t">
            <a:spAutoFit/>
          </a:bodyPr>
          <a:lstStyle/>
          <a:p>
            <a:pPr algn="l">
              <a:lnSpc>
                <a:spcPts val="4473"/>
              </a:lnSpc>
            </a:pPr>
            <a:r>
              <a:rPr lang="en-US" sz="2962" b="1">
                <a:solidFill>
                  <a:srgbClr val="000000"/>
                </a:solidFill>
                <a:latin typeface="Poppins Bold"/>
                <a:ea typeface="Poppins Bold"/>
                <a:cs typeface="Poppins Bold"/>
                <a:sym typeface="Poppins Bold"/>
              </a:rPr>
              <a:t>📺 Watch the Video</a:t>
            </a:r>
          </a:p>
          <a:p>
            <a:pPr algn="l">
              <a:lnSpc>
                <a:spcPts val="4473"/>
              </a:lnSpc>
            </a:pPr>
            <a:r>
              <a:rPr lang="en-US" sz="2962">
                <a:solidFill>
                  <a:srgbClr val="000000"/>
                </a:solidFill>
                <a:latin typeface="Poppins"/>
                <a:ea typeface="Poppins"/>
                <a:cs typeface="Poppins"/>
                <a:sym typeface="Poppins"/>
              </a:rPr>
              <a:t>🔗 </a:t>
            </a:r>
            <a:r>
              <a:rPr lang="en-US" sz="2962" u="sng">
                <a:solidFill>
                  <a:srgbClr val="000000"/>
                </a:solidFill>
                <a:latin typeface="Poppins"/>
                <a:ea typeface="Poppins"/>
                <a:cs typeface="Poppins"/>
                <a:sym typeface="Poppins"/>
                <a:hlinkClick r:id="rId6" tooltip="https://www.youtube.com/watch?v=yQTje_GYhb4"/>
              </a:rPr>
              <a:t>https://www.youtube.com/watch?v=yQTje_GYhb4</a:t>
            </a:r>
          </a:p>
          <a:p>
            <a:pPr algn="l">
              <a:lnSpc>
                <a:spcPts val="4473"/>
              </a:lnSpc>
            </a:pPr>
            <a:r>
              <a:rPr lang="en-US" sz="2962">
                <a:solidFill>
                  <a:srgbClr val="000000"/>
                </a:solidFill>
                <a:latin typeface="Poppins"/>
                <a:ea typeface="Poppins"/>
                <a:cs typeface="Poppins"/>
                <a:sym typeface="Poppins"/>
              </a:rPr>
              <a:t>📌 Task</a:t>
            </a:r>
          </a:p>
          <a:p>
            <a:pPr marL="639639" lvl="1" indent="-319820" algn="l">
              <a:lnSpc>
                <a:spcPts val="4473"/>
              </a:lnSpc>
              <a:buFont typeface="Arial"/>
              <a:buChar char="•"/>
            </a:pPr>
            <a:r>
              <a:rPr lang="en-US" sz="2962">
                <a:solidFill>
                  <a:srgbClr val="000000"/>
                </a:solidFill>
                <a:latin typeface="Poppins"/>
                <a:ea typeface="Poppins"/>
                <a:cs typeface="Poppins"/>
                <a:sym typeface="Poppins"/>
              </a:rPr>
              <a:t>Write 3 key takeaways from the video</a:t>
            </a:r>
          </a:p>
          <a:p>
            <a:pPr marL="639639" lvl="1" indent="-319820" algn="l">
              <a:lnSpc>
                <a:spcPts val="4473"/>
              </a:lnSpc>
              <a:buFont typeface="Arial"/>
              <a:buChar char="•"/>
            </a:pPr>
            <a:r>
              <a:rPr lang="en-US" sz="2962">
                <a:solidFill>
                  <a:srgbClr val="000000"/>
                </a:solidFill>
                <a:latin typeface="Poppins"/>
                <a:ea typeface="Poppins"/>
                <a:cs typeface="Poppins"/>
                <a:sym typeface="Poppins"/>
              </a:rPr>
              <a:t>Rewrite the following into a professional weekly status update:</a:t>
            </a:r>
          </a:p>
          <a:p>
            <a:pPr algn="l">
              <a:lnSpc>
                <a:spcPts val="4473"/>
              </a:lnSpc>
            </a:pPr>
            <a:r>
              <a:rPr lang="en-US" sz="2962">
                <a:solidFill>
                  <a:srgbClr val="000000"/>
                </a:solidFill>
                <a:latin typeface="Poppins"/>
                <a:ea typeface="Poppins"/>
                <a:cs typeface="Poppins"/>
                <a:sym typeface="Poppins"/>
              </a:rPr>
              <a:t>“Worked on multiple items this week. Some issues were there. Progress is happening. Will continue next week.”</a:t>
            </a:r>
          </a:p>
          <a:p>
            <a:pPr algn="l">
              <a:lnSpc>
                <a:spcPts val="4473"/>
              </a:lnSpc>
            </a:pPr>
            <a:r>
              <a:rPr lang="en-US" sz="2962" b="1">
                <a:solidFill>
                  <a:srgbClr val="000000"/>
                </a:solidFill>
                <a:latin typeface="Poppins Bold"/>
                <a:ea typeface="Poppins Bold"/>
                <a:cs typeface="Poppins Bold"/>
                <a:sym typeface="Poppins Bold"/>
              </a:rPr>
              <a:t>Submit as Word Document</a:t>
            </a:r>
          </a:p>
        </p:txBody>
      </p:sp>
      <p:sp>
        <p:nvSpPr>
          <p:cNvPr id="6" name="TextBox 6"/>
          <p:cNvSpPr txBox="1"/>
          <p:nvPr/>
        </p:nvSpPr>
        <p:spPr>
          <a:xfrm>
            <a:off x="3990306" y="1180831"/>
            <a:ext cx="7926677" cy="1386372"/>
          </a:xfrm>
          <a:prstGeom prst="rect">
            <a:avLst/>
          </a:prstGeom>
        </p:spPr>
        <p:txBody>
          <a:bodyPr lIns="0" tIns="0" rIns="0" bIns="0" rtlCol="0" anchor="t">
            <a:spAutoFit/>
          </a:bodyPr>
          <a:lstStyle/>
          <a:p>
            <a:pPr algn="ctr">
              <a:lnSpc>
                <a:spcPts val="5459"/>
              </a:lnSpc>
            </a:pPr>
            <a:r>
              <a:rPr lang="en-US" sz="3615" b="1">
                <a:solidFill>
                  <a:srgbClr val="0C3645"/>
                </a:solidFill>
                <a:latin typeface="Poppins Bold"/>
                <a:ea typeface="Poppins Bold"/>
                <a:cs typeface="Poppins Bold"/>
                <a:sym typeface="Poppins Bold"/>
              </a:rPr>
              <a:t>Assessment 2: Weekly Status Insight (Video-Based)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Freeform 3"/>
          <p:cNvSpPr/>
          <p:nvPr/>
        </p:nvSpPr>
        <p:spPr>
          <a:xfrm>
            <a:off x="12432631" y="3481982"/>
            <a:ext cx="4311021" cy="3788309"/>
          </a:xfrm>
          <a:custGeom>
            <a:avLst/>
            <a:gdLst/>
            <a:ahLst/>
            <a:cxnLst/>
            <a:rect l="l" t="t" r="r" b="b"/>
            <a:pathLst>
              <a:path w="4311021" h="3788309">
                <a:moveTo>
                  <a:pt x="0" y="0"/>
                </a:moveTo>
                <a:lnTo>
                  <a:pt x="4311020" y="0"/>
                </a:lnTo>
                <a:lnTo>
                  <a:pt x="4311020" y="3788310"/>
                </a:lnTo>
                <a:lnTo>
                  <a:pt x="0" y="378831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3789" y="2554503"/>
            <a:ext cx="10242191" cy="5509918"/>
          </a:xfrm>
          <a:prstGeom prst="rect">
            <a:avLst/>
          </a:prstGeom>
        </p:spPr>
        <p:txBody>
          <a:bodyPr lIns="0" tIns="0" rIns="0" bIns="0" rtlCol="0" anchor="t">
            <a:spAutoFit/>
          </a:bodyPr>
          <a:lstStyle/>
          <a:p>
            <a:pPr algn="l">
              <a:lnSpc>
                <a:spcPts val="5472"/>
              </a:lnSpc>
            </a:pPr>
            <a:r>
              <a:rPr lang="en-US" sz="3623" b="1">
                <a:solidFill>
                  <a:srgbClr val="000000"/>
                </a:solidFill>
                <a:latin typeface="Poppins Bold"/>
                <a:ea typeface="Poppins Bold"/>
                <a:cs typeface="Poppins Bold"/>
                <a:sym typeface="Poppins Bold"/>
              </a:rPr>
              <a:t>Let’s Hear from Everyone - 1 min (per head)</a:t>
            </a:r>
          </a:p>
          <a:p>
            <a:pPr algn="l">
              <a:lnSpc>
                <a:spcPts val="5472"/>
              </a:lnSpc>
            </a:pPr>
            <a:r>
              <a:rPr lang="en-US" sz="3623">
                <a:solidFill>
                  <a:srgbClr val="000000"/>
                </a:solidFill>
                <a:latin typeface="Poppins"/>
                <a:ea typeface="Poppins"/>
                <a:cs typeface="Poppins"/>
                <a:sym typeface="Poppins"/>
              </a:rPr>
              <a:t>Each participant will briefly share:</a:t>
            </a:r>
          </a:p>
          <a:p>
            <a:pPr marL="782391" lvl="1" indent="-391196" algn="l">
              <a:lnSpc>
                <a:spcPts val="5472"/>
              </a:lnSpc>
              <a:buFont typeface="Arial"/>
              <a:buChar char="•"/>
            </a:pPr>
            <a:r>
              <a:rPr lang="en-US" sz="3623" b="1">
                <a:solidFill>
                  <a:srgbClr val="000000"/>
                </a:solidFill>
                <a:latin typeface="Poppins Bold"/>
                <a:ea typeface="Poppins Bold"/>
                <a:cs typeface="Poppins Bold"/>
                <a:sym typeface="Poppins Bold"/>
              </a:rPr>
              <a:t>1 key learning</a:t>
            </a:r>
            <a:r>
              <a:rPr lang="en-US" sz="3623">
                <a:solidFill>
                  <a:srgbClr val="000000"/>
                </a:solidFill>
                <a:latin typeface="Poppins"/>
                <a:ea typeface="Poppins"/>
                <a:cs typeface="Poppins"/>
                <a:sym typeface="Poppins"/>
              </a:rPr>
              <a:t> from today’s session</a:t>
            </a:r>
          </a:p>
          <a:p>
            <a:pPr marL="782391" lvl="1" indent="-391196" algn="l">
              <a:lnSpc>
                <a:spcPts val="5472"/>
              </a:lnSpc>
              <a:buFont typeface="Arial"/>
              <a:buChar char="•"/>
            </a:pPr>
            <a:r>
              <a:rPr lang="en-US" sz="3623" b="1">
                <a:solidFill>
                  <a:srgbClr val="000000"/>
                </a:solidFill>
                <a:latin typeface="Poppins Bold"/>
                <a:ea typeface="Poppins Bold"/>
                <a:cs typeface="Poppins Bold"/>
                <a:sym typeface="Poppins Bold"/>
              </a:rPr>
              <a:t>1 key learning</a:t>
            </a:r>
            <a:r>
              <a:rPr lang="en-US" sz="3623">
                <a:solidFill>
                  <a:srgbClr val="000000"/>
                </a:solidFill>
                <a:latin typeface="Poppins"/>
                <a:ea typeface="Poppins"/>
                <a:cs typeface="Poppins"/>
                <a:sym typeface="Poppins"/>
              </a:rPr>
              <a:t> from yesterday’s assignment</a:t>
            </a:r>
          </a:p>
          <a:p>
            <a:pPr marL="782391" lvl="1" indent="-391196" algn="l">
              <a:lnSpc>
                <a:spcPts val="5472"/>
              </a:lnSpc>
              <a:buFont typeface="Arial"/>
              <a:buChar char="•"/>
            </a:pPr>
            <a:r>
              <a:rPr lang="en-US" sz="3623" b="1">
                <a:solidFill>
                  <a:srgbClr val="000000"/>
                </a:solidFill>
                <a:latin typeface="Poppins Bold"/>
                <a:ea typeface="Poppins Bold"/>
                <a:cs typeface="Poppins Bold"/>
                <a:sym typeface="Poppins Bold"/>
              </a:rPr>
              <a:t>1 challenge </a:t>
            </a:r>
            <a:r>
              <a:rPr lang="en-US" sz="3623">
                <a:solidFill>
                  <a:srgbClr val="000000"/>
                </a:solidFill>
                <a:latin typeface="Poppins"/>
                <a:ea typeface="Poppins"/>
                <a:cs typeface="Poppins"/>
                <a:sym typeface="Poppins"/>
              </a:rPr>
              <a:t>faced</a:t>
            </a:r>
          </a:p>
          <a:p>
            <a:pPr marL="782391" lvl="1" indent="-391196" algn="l">
              <a:lnSpc>
                <a:spcPts val="5472"/>
              </a:lnSpc>
              <a:buFont typeface="Arial"/>
              <a:buChar char="•"/>
            </a:pPr>
            <a:r>
              <a:rPr lang="en-US" sz="3623" b="1">
                <a:solidFill>
                  <a:srgbClr val="000000"/>
                </a:solidFill>
                <a:latin typeface="Poppins Bold"/>
                <a:ea typeface="Poppins Bold"/>
                <a:cs typeface="Poppins Bold"/>
                <a:sym typeface="Poppins Bold"/>
              </a:rPr>
              <a:t>1 improvement </a:t>
            </a:r>
            <a:r>
              <a:rPr lang="en-US" sz="3623">
                <a:solidFill>
                  <a:srgbClr val="000000"/>
                </a:solidFill>
                <a:latin typeface="Poppins"/>
                <a:ea typeface="Poppins"/>
                <a:cs typeface="Poppins"/>
                <a:sym typeface="Poppins"/>
              </a:rPr>
              <a:t>or action you will apply next time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535613" y="1155897"/>
            <a:ext cx="9014040" cy="7851381"/>
          </a:xfrm>
          <a:prstGeom prst="rect">
            <a:avLst/>
          </a:prstGeom>
        </p:spPr>
        <p:txBody>
          <a:bodyPr lIns="0" tIns="0" rIns="0" bIns="0" rtlCol="0" anchor="t">
            <a:spAutoFit/>
          </a:bodyPr>
          <a:lstStyle/>
          <a:p>
            <a:pPr algn="l">
              <a:lnSpc>
                <a:spcPts val="4815"/>
              </a:lnSpc>
            </a:pPr>
            <a:r>
              <a:rPr lang="en-US" sz="3189" b="1">
                <a:solidFill>
                  <a:srgbClr val="000000"/>
                </a:solidFill>
                <a:latin typeface="Poppins Bold"/>
                <a:ea typeface="Poppins Bold"/>
                <a:cs typeface="Poppins Bold"/>
                <a:sym typeface="Poppins Bold"/>
              </a:rPr>
              <a:t>🙏 Thank You</a:t>
            </a:r>
          </a:p>
          <a:p>
            <a:pPr algn="l">
              <a:lnSpc>
                <a:spcPts val="4815"/>
              </a:lnSpc>
            </a:pPr>
            <a:r>
              <a:rPr lang="en-US" sz="3189">
                <a:solidFill>
                  <a:srgbClr val="000000"/>
                </a:solidFill>
                <a:latin typeface="Poppins"/>
                <a:ea typeface="Poppins"/>
                <a:cs typeface="Poppins"/>
                <a:sym typeface="Poppins"/>
              </a:rPr>
              <a:t>Great discussion today!</a:t>
            </a:r>
          </a:p>
          <a:p>
            <a:pPr algn="l">
              <a:lnSpc>
                <a:spcPts val="4815"/>
              </a:lnSpc>
            </a:pPr>
            <a:endParaRPr lang="en-US" sz="3189">
              <a:solidFill>
                <a:srgbClr val="000000"/>
              </a:solidFill>
              <a:latin typeface="Poppins"/>
              <a:ea typeface="Poppins"/>
              <a:cs typeface="Poppins"/>
              <a:sym typeface="Poppins"/>
            </a:endParaRPr>
          </a:p>
          <a:p>
            <a:pPr algn="l">
              <a:lnSpc>
                <a:spcPts val="4815"/>
              </a:lnSpc>
            </a:pPr>
            <a:r>
              <a:rPr lang="en-US" sz="3189">
                <a:solidFill>
                  <a:srgbClr val="000000"/>
                </a:solidFill>
                <a:latin typeface="Poppins"/>
                <a:ea typeface="Poppins"/>
                <a:cs typeface="Poppins"/>
                <a:sym typeface="Poppins"/>
              </a:rPr>
              <a:t>Your participation and reflections added real value to the session.</a:t>
            </a:r>
          </a:p>
          <a:p>
            <a:pPr algn="l">
              <a:lnSpc>
                <a:spcPts val="4815"/>
              </a:lnSpc>
            </a:pPr>
            <a:endParaRPr lang="en-US" sz="3189">
              <a:solidFill>
                <a:srgbClr val="000000"/>
              </a:solidFill>
              <a:latin typeface="Poppins"/>
              <a:ea typeface="Poppins"/>
              <a:cs typeface="Poppins"/>
              <a:sym typeface="Poppins"/>
            </a:endParaRPr>
          </a:p>
          <a:p>
            <a:pPr algn="l">
              <a:lnSpc>
                <a:spcPts val="4815"/>
              </a:lnSpc>
            </a:pPr>
            <a:r>
              <a:rPr lang="en-US" sz="3189">
                <a:solidFill>
                  <a:srgbClr val="000000"/>
                </a:solidFill>
                <a:latin typeface="Poppins"/>
                <a:ea typeface="Poppins"/>
                <a:cs typeface="Poppins"/>
                <a:sym typeface="Poppins"/>
              </a:rPr>
              <a:t>🔁 Keep applying today’s learnings in your daily communication and documentation.</a:t>
            </a:r>
          </a:p>
          <a:p>
            <a:pPr algn="l">
              <a:lnSpc>
                <a:spcPts val="4815"/>
              </a:lnSpc>
            </a:pPr>
            <a:endParaRPr lang="en-US" sz="3189">
              <a:solidFill>
                <a:srgbClr val="000000"/>
              </a:solidFill>
              <a:latin typeface="Poppins"/>
              <a:ea typeface="Poppins"/>
              <a:cs typeface="Poppins"/>
              <a:sym typeface="Poppins"/>
            </a:endParaRPr>
          </a:p>
          <a:p>
            <a:pPr algn="l">
              <a:lnSpc>
                <a:spcPts val="4815"/>
              </a:lnSpc>
            </a:pPr>
            <a:r>
              <a:rPr lang="en-US" sz="3189" b="1">
                <a:solidFill>
                  <a:srgbClr val="000000"/>
                </a:solidFill>
                <a:latin typeface="Poppins Bold"/>
                <a:ea typeface="Poppins Bold"/>
                <a:cs typeface="Poppins Bold"/>
                <a:sym typeface="Poppins Bold"/>
              </a:rPr>
              <a:t>📅 Tomorrow’s Focus:</a:t>
            </a:r>
          </a:p>
          <a:p>
            <a:pPr algn="l">
              <a:lnSpc>
                <a:spcPts val="4815"/>
              </a:lnSpc>
            </a:pPr>
            <a:r>
              <a:rPr lang="en-US" sz="3189">
                <a:solidFill>
                  <a:srgbClr val="000000"/>
                </a:solidFill>
                <a:latin typeface="Poppins"/>
                <a:ea typeface="Poppins"/>
                <a:cs typeface="Poppins"/>
                <a:sym typeface="Poppins"/>
              </a:rPr>
              <a:t>Email Chains &amp; Thread Management</a:t>
            </a:r>
          </a:p>
          <a:p>
            <a:pPr algn="l">
              <a:lnSpc>
                <a:spcPts val="4815"/>
              </a:lnSpc>
            </a:pPr>
            <a:endParaRPr lang="en-US" sz="3189">
              <a:solidFill>
                <a:srgbClr val="000000"/>
              </a:solidFill>
              <a:latin typeface="Poppins"/>
              <a:ea typeface="Poppins"/>
              <a:cs typeface="Poppins"/>
              <a:sym typeface="Poppins"/>
            </a:endParaRPr>
          </a:p>
          <a:p>
            <a:pPr algn="l">
              <a:lnSpc>
                <a:spcPts val="4815"/>
              </a:lnSpc>
            </a:pPr>
            <a:r>
              <a:rPr lang="en-US" sz="3189">
                <a:solidFill>
                  <a:srgbClr val="000000"/>
                </a:solidFill>
                <a:latin typeface="Poppins"/>
                <a:ea typeface="Poppins"/>
                <a:cs typeface="Poppins"/>
                <a:sym typeface="Poppins"/>
              </a:rPr>
              <a:t>See you tomorrow. Keep growing! 🚀</a:t>
            </a:r>
          </a:p>
        </p:txBody>
      </p:sp>
      <p:sp>
        <p:nvSpPr>
          <p:cNvPr id="4" name="Freeform 4"/>
          <p:cNvSpPr/>
          <p:nvPr/>
        </p:nvSpPr>
        <p:spPr>
          <a:xfrm>
            <a:off x="13273977" y="3241827"/>
            <a:ext cx="2628328" cy="4114800"/>
          </a:xfrm>
          <a:custGeom>
            <a:avLst/>
            <a:gdLst/>
            <a:ahLst/>
            <a:cxnLst/>
            <a:rect l="l" t="t" r="r" b="b"/>
            <a:pathLst>
              <a:path w="2628328" h="4114800">
                <a:moveTo>
                  <a:pt x="0" y="0"/>
                </a:moveTo>
                <a:lnTo>
                  <a:pt x="2628328" y="0"/>
                </a:lnTo>
                <a:lnTo>
                  <a:pt x="26283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14</Slides>
  <Notes>0</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9 - Weekly Status Reports</dc:title>
  <cp:revision>1</cp:revision>
  <dcterms:created xsi:type="dcterms:W3CDTF">2006-08-16T00:00:00Z</dcterms:created>
  <dcterms:modified xsi:type="dcterms:W3CDTF">2025-12-23T09:17:53Z</dcterms:modified>
  <dc:identifier>DAG8T3jdDxY</dc:identifier>
</cp:coreProperties>
</file>