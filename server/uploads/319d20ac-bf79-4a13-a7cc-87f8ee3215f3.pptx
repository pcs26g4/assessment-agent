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Platypi Medium"/>
      <p:regular r:id="rId12"/>
    </p:embeddedFont>
    <p:embeddedFont>
      <p:font typeface="Platypi Medium"/>
      <p:regular r:id="rId13"/>
    </p:embeddedFont>
    <p:embeddedFont>
      <p:font typeface="Platypi Medium"/>
      <p:regular r:id="rId14"/>
    </p:embeddedFont>
    <p:embeddedFont>
      <p:font typeface="Platypi Medium"/>
      <p:regular r:id="rId15"/>
    </p:embeddedFont>
    <p:embeddedFont>
      <p:font typeface="Source Serif 4"/>
      <p:regular r:id="rId16"/>
    </p:embeddedFont>
    <p:embeddedFont>
      <p:font typeface="Source Serif 4"/>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855821"/>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Professional Communication: Bridging IT and Non-IT Worlds</a:t>
            </a:r>
            <a:endParaRPr lang="en-US" sz="4450" dirty="0"/>
          </a:p>
        </p:txBody>
      </p:sp>
      <p:sp>
        <p:nvSpPr>
          <p:cNvPr id="3" name="Shape 1"/>
          <p:cNvSpPr/>
          <p:nvPr/>
        </p:nvSpPr>
        <p:spPr>
          <a:xfrm>
            <a:off x="793790" y="2727008"/>
            <a:ext cx="4196358" cy="3665815"/>
          </a:xfrm>
          <a:prstGeom prst="roundRect">
            <a:avLst>
              <a:gd name="adj" fmla="val 928"/>
            </a:avLst>
          </a:prstGeom>
          <a:solidFill>
            <a:srgbClr val="F9F7F7"/>
          </a:solidFill>
          <a:ln/>
        </p:spPr>
      </p:sp>
      <p:sp>
        <p:nvSpPr>
          <p:cNvPr id="4" name="Shape 2"/>
          <p:cNvSpPr/>
          <p:nvPr/>
        </p:nvSpPr>
        <p:spPr>
          <a:xfrm>
            <a:off x="1020604" y="2953822"/>
            <a:ext cx="680442" cy="680442"/>
          </a:xfrm>
          <a:prstGeom prst="roundRect">
            <a:avLst>
              <a:gd name="adj" fmla="val 13436980"/>
            </a:avLst>
          </a:prstGeom>
          <a:solidFill>
            <a:srgbClr val="3E2513"/>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3140869"/>
            <a:ext cx="306110" cy="306110"/>
          </a:xfrm>
          <a:prstGeom prst="rect">
            <a:avLst/>
          </a:prstGeom>
        </p:spPr>
      </p:pic>
      <p:sp>
        <p:nvSpPr>
          <p:cNvPr id="6" name="Text 3"/>
          <p:cNvSpPr/>
          <p:nvPr/>
        </p:nvSpPr>
        <p:spPr>
          <a:xfrm>
            <a:off x="1020604" y="386107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IT Communication</a:t>
            </a:r>
            <a:endParaRPr lang="en-US" sz="2200" dirty="0"/>
          </a:p>
        </p:txBody>
      </p:sp>
      <p:sp>
        <p:nvSpPr>
          <p:cNvPr id="7" name="Text 4"/>
          <p:cNvSpPr/>
          <p:nvPr/>
        </p:nvSpPr>
        <p:spPr>
          <a:xfrm>
            <a:off x="1020604" y="4351496"/>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Technical jargon, precise specifications, and system-focused language dominate IT conversations. Deep expertise assumed.</a:t>
            </a:r>
            <a:endParaRPr lang="en-US" sz="1750" dirty="0"/>
          </a:p>
        </p:txBody>
      </p:sp>
      <p:sp>
        <p:nvSpPr>
          <p:cNvPr id="8" name="Shape 5"/>
          <p:cNvSpPr/>
          <p:nvPr/>
        </p:nvSpPr>
        <p:spPr>
          <a:xfrm>
            <a:off x="5216962" y="2727008"/>
            <a:ext cx="4196358" cy="3665815"/>
          </a:xfrm>
          <a:prstGeom prst="roundRect">
            <a:avLst>
              <a:gd name="adj" fmla="val 928"/>
            </a:avLst>
          </a:prstGeom>
          <a:solidFill>
            <a:srgbClr val="F9F7F7"/>
          </a:solidFill>
          <a:ln/>
        </p:spPr>
      </p:sp>
      <p:sp>
        <p:nvSpPr>
          <p:cNvPr id="9" name="Shape 6"/>
          <p:cNvSpPr/>
          <p:nvPr/>
        </p:nvSpPr>
        <p:spPr>
          <a:xfrm>
            <a:off x="5443776" y="2953822"/>
            <a:ext cx="680442" cy="680442"/>
          </a:xfrm>
          <a:prstGeom prst="roundRect">
            <a:avLst>
              <a:gd name="adj" fmla="val 13436980"/>
            </a:avLst>
          </a:prstGeom>
          <a:solidFill>
            <a:srgbClr val="3E2513"/>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3140869"/>
            <a:ext cx="306110" cy="306110"/>
          </a:xfrm>
          <a:prstGeom prst="rect">
            <a:avLst/>
          </a:prstGeom>
        </p:spPr>
      </p:pic>
      <p:sp>
        <p:nvSpPr>
          <p:cNvPr id="11" name="Text 7"/>
          <p:cNvSpPr/>
          <p:nvPr/>
        </p:nvSpPr>
        <p:spPr>
          <a:xfrm>
            <a:off x="5443776" y="3861078"/>
            <a:ext cx="327719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Non-IT Communication</a:t>
            </a:r>
            <a:endParaRPr lang="en-US" sz="2200" dirty="0"/>
          </a:p>
        </p:txBody>
      </p:sp>
      <p:sp>
        <p:nvSpPr>
          <p:cNvPr id="12" name="Text 8"/>
          <p:cNvSpPr/>
          <p:nvPr/>
        </p:nvSpPr>
        <p:spPr>
          <a:xfrm>
            <a:off x="5443776" y="4351496"/>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Clear, jargon-free language prioritizing outcomes and business impact over technical details. Accessibility is key.</a:t>
            </a:r>
            <a:endParaRPr lang="en-US" sz="1750" dirty="0"/>
          </a:p>
        </p:txBody>
      </p:sp>
      <p:sp>
        <p:nvSpPr>
          <p:cNvPr id="13" name="Shape 9"/>
          <p:cNvSpPr/>
          <p:nvPr/>
        </p:nvSpPr>
        <p:spPr>
          <a:xfrm>
            <a:off x="9640133" y="2727008"/>
            <a:ext cx="4196358" cy="3665815"/>
          </a:xfrm>
          <a:prstGeom prst="roundRect">
            <a:avLst>
              <a:gd name="adj" fmla="val 928"/>
            </a:avLst>
          </a:prstGeom>
          <a:solidFill>
            <a:srgbClr val="F9F7F7"/>
          </a:solidFill>
          <a:ln/>
        </p:spPr>
      </p:sp>
      <p:sp>
        <p:nvSpPr>
          <p:cNvPr id="14" name="Shape 10"/>
          <p:cNvSpPr/>
          <p:nvPr/>
        </p:nvSpPr>
        <p:spPr>
          <a:xfrm>
            <a:off x="9866948" y="2953822"/>
            <a:ext cx="680442" cy="680442"/>
          </a:xfrm>
          <a:prstGeom prst="roundRect">
            <a:avLst>
              <a:gd name="adj" fmla="val 13436980"/>
            </a:avLst>
          </a:prstGeom>
          <a:solidFill>
            <a:srgbClr val="3E2513"/>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3140869"/>
            <a:ext cx="306110" cy="306110"/>
          </a:xfrm>
          <a:prstGeom prst="rect">
            <a:avLst/>
          </a:prstGeom>
        </p:spPr>
      </p:pic>
      <p:sp>
        <p:nvSpPr>
          <p:cNvPr id="16" name="Text 11"/>
          <p:cNvSpPr/>
          <p:nvPr/>
        </p:nvSpPr>
        <p:spPr>
          <a:xfrm>
            <a:off x="9866948" y="386107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The Bridge</a:t>
            </a:r>
            <a:endParaRPr lang="en-US" sz="2200" dirty="0"/>
          </a:p>
        </p:txBody>
      </p:sp>
      <p:sp>
        <p:nvSpPr>
          <p:cNvPr id="17" name="Text 12"/>
          <p:cNvSpPr/>
          <p:nvPr/>
        </p:nvSpPr>
        <p:spPr>
          <a:xfrm>
            <a:off x="9866948" y="4351496"/>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Adapt your message to your audience's knowledge level. Translate technical concepts into business value for maximum understanding.</a:t>
            </a:r>
            <a:endParaRPr lang="en-US" sz="1750" dirty="0"/>
          </a:p>
        </p:txBody>
      </p:sp>
      <p:sp>
        <p:nvSpPr>
          <p:cNvPr id="18" name="Text 13"/>
          <p:cNvSpPr/>
          <p:nvPr/>
        </p:nvSpPr>
        <p:spPr>
          <a:xfrm>
            <a:off x="793790" y="6647974"/>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Real-world example:</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Explaining a software update to IT peers involves version numbers and API changes, while end-users need to know how it improves their workflow and what actions they must take.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5766" y="326708"/>
            <a:ext cx="7374017" cy="371237"/>
          </a:xfrm>
          <a:prstGeom prst="rect">
            <a:avLst/>
          </a:prstGeom>
          <a:noFill/>
          <a:ln/>
        </p:spPr>
        <p:txBody>
          <a:bodyPr wrap="none" lIns="0" tIns="0" rIns="0" bIns="0" rtlCol="0" anchor="t"/>
          <a:lstStyle/>
          <a:p>
            <a:pPr algn="l" indent="0" marL="0">
              <a:lnSpc>
                <a:spcPts val="2900"/>
              </a:lnSpc>
              <a:buNone/>
            </a:pPr>
            <a:r>
              <a:rPr lang="en-US" sz="2300" dirty="0">
                <a:solidFill>
                  <a:srgbClr val="201B18"/>
                </a:solidFill>
                <a:latin typeface="Platypi Medium" pitchFamily="34" charset="0"/>
                <a:ea typeface="Platypi Medium" pitchFamily="34" charset="-122"/>
                <a:cs typeface="Platypi Medium" pitchFamily="34" charset="-120"/>
              </a:rPr>
              <a:t>Communication Channels &amp; Styles in IT vs. Non-IT</a:t>
            </a:r>
            <a:endParaRPr lang="en-US" sz="2300" dirty="0"/>
          </a:p>
        </p:txBody>
      </p:sp>
      <p:sp>
        <p:nvSpPr>
          <p:cNvPr id="3" name="Text 1"/>
          <p:cNvSpPr/>
          <p:nvPr/>
        </p:nvSpPr>
        <p:spPr>
          <a:xfrm>
            <a:off x="415766" y="994767"/>
            <a:ext cx="1782008" cy="222766"/>
          </a:xfrm>
          <a:prstGeom prst="rect">
            <a:avLst/>
          </a:prstGeom>
          <a:noFill/>
          <a:ln/>
        </p:spPr>
        <p:txBody>
          <a:bodyPr wrap="none" lIns="0" tIns="0" rIns="0" bIns="0" rtlCol="0" anchor="t"/>
          <a:lstStyle/>
          <a:p>
            <a:pPr algn="l" indent="0" marL="0">
              <a:lnSpc>
                <a:spcPts val="1750"/>
              </a:lnSpc>
              <a:buNone/>
            </a:pPr>
            <a:r>
              <a:rPr lang="en-US" sz="1400" dirty="0">
                <a:solidFill>
                  <a:srgbClr val="201B18"/>
                </a:solidFill>
                <a:latin typeface="Platypi Medium" pitchFamily="34" charset="0"/>
                <a:ea typeface="Platypi Medium" pitchFamily="34" charset="-122"/>
                <a:cs typeface="Platypi Medium" pitchFamily="34" charset="-120"/>
              </a:rPr>
              <a:t>IT Preferences</a:t>
            </a:r>
            <a:endParaRPr lang="en-US" sz="1400" dirty="0"/>
          </a:p>
        </p:txBody>
      </p:sp>
      <p:sp>
        <p:nvSpPr>
          <p:cNvPr id="4" name="Text 2"/>
          <p:cNvSpPr/>
          <p:nvPr/>
        </p:nvSpPr>
        <p:spPr>
          <a:xfrm>
            <a:off x="415766" y="1336238"/>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Email threads for documentation</a:t>
            </a:r>
            <a:endParaRPr lang="en-US" sz="900" dirty="0"/>
          </a:p>
        </p:txBody>
      </p:sp>
      <p:sp>
        <p:nvSpPr>
          <p:cNvPr id="5" name="Text 3"/>
          <p:cNvSpPr/>
          <p:nvPr/>
        </p:nvSpPr>
        <p:spPr>
          <a:xfrm>
            <a:off x="415766" y="1567815"/>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Instant messaging (Slack, Teams) for quick problem-solving</a:t>
            </a:r>
            <a:endParaRPr lang="en-US" sz="900" dirty="0"/>
          </a:p>
        </p:txBody>
      </p:sp>
      <p:sp>
        <p:nvSpPr>
          <p:cNvPr id="6" name="Text 4"/>
          <p:cNvSpPr/>
          <p:nvPr/>
        </p:nvSpPr>
        <p:spPr>
          <a:xfrm>
            <a:off x="415766" y="1799392"/>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Technical documentation and wikis</a:t>
            </a:r>
            <a:endParaRPr lang="en-US" sz="900" dirty="0"/>
          </a:p>
        </p:txBody>
      </p:sp>
      <p:sp>
        <p:nvSpPr>
          <p:cNvPr id="7" name="Text 5"/>
          <p:cNvSpPr/>
          <p:nvPr/>
        </p:nvSpPr>
        <p:spPr>
          <a:xfrm>
            <a:off x="415766" y="2030968"/>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Code repositories and tickets</a:t>
            </a:r>
            <a:endParaRPr lang="en-US" sz="900" dirty="0"/>
          </a:p>
        </p:txBody>
      </p:sp>
      <p:pic>
        <p:nvPicPr>
          <p:cNvPr id="8" name="Image 0" descr="preencoded.png">    </p:cNvPr>
          <p:cNvPicPr>
            <a:picLocks noChangeAspect="1"/>
          </p:cNvPicPr>
          <p:nvPr/>
        </p:nvPicPr>
        <p:blipFill>
          <a:blip r:embed="rId1"/>
          <a:stretch>
            <a:fillRect/>
          </a:stretch>
        </p:blipFill>
        <p:spPr>
          <a:xfrm>
            <a:off x="415766" y="2354580"/>
            <a:ext cx="6754535" cy="6754535"/>
          </a:xfrm>
          <a:prstGeom prst="rect">
            <a:avLst/>
          </a:prstGeom>
        </p:spPr>
      </p:pic>
      <p:sp>
        <p:nvSpPr>
          <p:cNvPr id="9" name="Text 6"/>
          <p:cNvSpPr/>
          <p:nvPr/>
        </p:nvSpPr>
        <p:spPr>
          <a:xfrm>
            <a:off x="7467719" y="994767"/>
            <a:ext cx="1782008" cy="222766"/>
          </a:xfrm>
          <a:prstGeom prst="rect">
            <a:avLst/>
          </a:prstGeom>
          <a:noFill/>
          <a:ln/>
        </p:spPr>
        <p:txBody>
          <a:bodyPr wrap="none" lIns="0" tIns="0" rIns="0" bIns="0" rtlCol="0" anchor="t"/>
          <a:lstStyle/>
          <a:p>
            <a:pPr algn="l" indent="0" marL="0">
              <a:lnSpc>
                <a:spcPts val="1750"/>
              </a:lnSpc>
              <a:buNone/>
            </a:pPr>
            <a:r>
              <a:rPr lang="en-US" sz="1400" dirty="0">
                <a:solidFill>
                  <a:srgbClr val="201B18"/>
                </a:solidFill>
                <a:latin typeface="Platypi Medium" pitchFamily="34" charset="0"/>
                <a:ea typeface="Platypi Medium" pitchFamily="34" charset="-122"/>
                <a:cs typeface="Platypi Medium" pitchFamily="34" charset="-120"/>
              </a:rPr>
              <a:t>Non-IT Preferences</a:t>
            </a:r>
            <a:endParaRPr lang="en-US" sz="1400" dirty="0"/>
          </a:p>
        </p:txBody>
      </p:sp>
      <p:sp>
        <p:nvSpPr>
          <p:cNvPr id="10" name="Text 7"/>
          <p:cNvSpPr/>
          <p:nvPr/>
        </p:nvSpPr>
        <p:spPr>
          <a:xfrm>
            <a:off x="7467719" y="1336238"/>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Face-to-face meetings for relationship building</a:t>
            </a:r>
            <a:endParaRPr lang="en-US" sz="900" dirty="0"/>
          </a:p>
        </p:txBody>
      </p:sp>
      <p:sp>
        <p:nvSpPr>
          <p:cNvPr id="11" name="Text 8"/>
          <p:cNvSpPr/>
          <p:nvPr/>
        </p:nvSpPr>
        <p:spPr>
          <a:xfrm>
            <a:off x="7467719" y="1567815"/>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Phone calls for urgent matters</a:t>
            </a:r>
            <a:endParaRPr lang="en-US" sz="900" dirty="0"/>
          </a:p>
        </p:txBody>
      </p:sp>
      <p:sp>
        <p:nvSpPr>
          <p:cNvPr id="12" name="Text 9"/>
          <p:cNvSpPr/>
          <p:nvPr/>
        </p:nvSpPr>
        <p:spPr>
          <a:xfrm>
            <a:off x="7467719" y="1799392"/>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Formal reports and presentations</a:t>
            </a:r>
            <a:endParaRPr lang="en-US" sz="900" dirty="0"/>
          </a:p>
        </p:txBody>
      </p:sp>
      <p:sp>
        <p:nvSpPr>
          <p:cNvPr id="13" name="Text 10"/>
          <p:cNvSpPr/>
          <p:nvPr/>
        </p:nvSpPr>
        <p:spPr>
          <a:xfrm>
            <a:off x="7467719" y="2030968"/>
            <a:ext cx="6754535" cy="190024"/>
          </a:xfrm>
          <a:prstGeom prst="rect">
            <a:avLst/>
          </a:prstGeom>
          <a:noFill/>
          <a:ln/>
        </p:spPr>
        <p:txBody>
          <a:bodyPr wrap="none" lIns="0" tIns="0" rIns="0" bIns="0" rtlCol="0" anchor="t"/>
          <a:lstStyle/>
          <a:p>
            <a:pPr algn="l" marL="342900" indent="-342900">
              <a:lnSpc>
                <a:spcPts val="1450"/>
              </a:lnSpc>
              <a:buSzPct val="100000"/>
              <a:buChar char="•"/>
            </a:pPr>
            <a:r>
              <a:rPr lang="en-US" sz="900" dirty="0">
                <a:solidFill>
                  <a:srgbClr val="504C49"/>
                </a:solidFill>
                <a:latin typeface="Source Serif 4" pitchFamily="34" charset="0"/>
                <a:ea typeface="Source Serif 4" pitchFamily="34" charset="-122"/>
                <a:cs typeface="Source Serif 4" pitchFamily="34" charset="-120"/>
              </a:rPr>
              <a:t>Scheduled check-ins and status updates</a:t>
            </a:r>
            <a:endParaRPr lang="en-US" sz="900" dirty="0"/>
          </a:p>
        </p:txBody>
      </p:sp>
      <p:pic>
        <p:nvPicPr>
          <p:cNvPr id="14" name="Image 1" descr="preencoded.png">    </p:cNvPr>
          <p:cNvPicPr>
            <a:picLocks noChangeAspect="1"/>
          </p:cNvPicPr>
          <p:nvPr/>
        </p:nvPicPr>
        <p:blipFill>
          <a:blip r:embed="rId2"/>
          <a:stretch>
            <a:fillRect/>
          </a:stretch>
        </p:blipFill>
        <p:spPr>
          <a:xfrm>
            <a:off x="7467719" y="2354580"/>
            <a:ext cx="6754535" cy="6754535"/>
          </a:xfrm>
          <a:prstGeom prst="rect">
            <a:avLst/>
          </a:prstGeom>
        </p:spPr>
      </p:pic>
      <p:sp>
        <p:nvSpPr>
          <p:cNvPr id="15" name="Shape 11"/>
          <p:cNvSpPr/>
          <p:nvPr/>
        </p:nvSpPr>
        <p:spPr>
          <a:xfrm>
            <a:off x="415766" y="9376291"/>
            <a:ext cx="13798868" cy="504587"/>
          </a:xfrm>
          <a:prstGeom prst="roundRect">
            <a:avLst>
              <a:gd name="adj" fmla="val 3532"/>
            </a:avLst>
          </a:prstGeom>
          <a:solidFill>
            <a:srgbClr val="EDD5C4"/>
          </a:solidFill>
          <a:ln/>
        </p:spPr>
      </p:sp>
      <p:pic>
        <p:nvPicPr>
          <p:cNvPr id="16" name="Image 2" descr="preencoded.png">    </p:cNvPr>
          <p:cNvPicPr>
            <a:picLocks noChangeAspect="1"/>
          </p:cNvPicPr>
          <p:nvPr/>
        </p:nvPicPr>
        <p:blipFill>
          <a:blip r:embed="rId3"/>
          <a:stretch>
            <a:fillRect/>
          </a:stretch>
        </p:blipFill>
        <p:spPr>
          <a:xfrm>
            <a:off x="534472" y="9550241"/>
            <a:ext cx="148471" cy="118705"/>
          </a:xfrm>
          <a:prstGeom prst="rect">
            <a:avLst/>
          </a:prstGeom>
        </p:spPr>
      </p:pic>
      <p:sp>
        <p:nvSpPr>
          <p:cNvPr id="17" name="Text 12"/>
          <p:cNvSpPr/>
          <p:nvPr/>
        </p:nvSpPr>
        <p:spPr>
          <a:xfrm>
            <a:off x="801648" y="9524643"/>
            <a:ext cx="13294281" cy="190024"/>
          </a:xfrm>
          <a:prstGeom prst="rect">
            <a:avLst/>
          </a:prstGeom>
          <a:noFill/>
          <a:ln/>
        </p:spPr>
        <p:txBody>
          <a:bodyPr wrap="none" lIns="0" tIns="0" rIns="0" bIns="0" rtlCol="0" anchor="t"/>
          <a:lstStyle/>
          <a:p>
            <a:pPr algn="l" indent="0" marL="0">
              <a:lnSpc>
                <a:spcPts val="1450"/>
              </a:lnSpc>
              <a:buNone/>
            </a:pPr>
            <a:r>
              <a:rPr lang="en-US" sz="900" dirty="0">
                <a:solidFill>
                  <a:srgbClr val="000000"/>
                </a:solidFill>
                <a:latin typeface="Source Serif 4" pitchFamily="34" charset="0"/>
                <a:ea typeface="Source Serif 4" pitchFamily="34" charset="-122"/>
                <a:cs typeface="Source Serif 4" pitchFamily="34" charset="-120"/>
              </a:rPr>
              <a:t>Both styles require active listening, timely feedback, and confirmation of understanding to avoid costly misunderstandings and project delays.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86721"/>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Professional Presence: Commanding Meetings &amp; Office Spaces</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257907"/>
            <a:ext cx="680442" cy="680442"/>
          </a:xfrm>
          <a:prstGeom prst="rect">
            <a:avLst/>
          </a:prstGeom>
        </p:spPr>
      </p:pic>
      <p:sp>
        <p:nvSpPr>
          <p:cNvPr id="4" name="Text 1"/>
          <p:cNvSpPr/>
          <p:nvPr/>
        </p:nvSpPr>
        <p:spPr>
          <a:xfrm>
            <a:off x="1757720" y="344924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Dress for Success</a:t>
            </a:r>
            <a:endParaRPr lang="en-US" sz="2200" dirty="0"/>
          </a:p>
        </p:txBody>
      </p:sp>
      <p:sp>
        <p:nvSpPr>
          <p:cNvPr id="5" name="Text 2"/>
          <p:cNvSpPr/>
          <p:nvPr/>
        </p:nvSpPr>
        <p:spPr>
          <a:xfrm>
            <a:off x="1757720" y="3939659"/>
            <a:ext cx="3194685" cy="2903220"/>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First impressions form within seconds. Dress appropriately for your company culture—whether business formal, business casual, or smart casual. Your appearance signals respect and professionalism.</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893" y="3257907"/>
            <a:ext cx="680442" cy="680442"/>
          </a:xfrm>
          <a:prstGeom prst="rect">
            <a:avLst/>
          </a:prstGeom>
        </p:spPr>
      </p:pic>
      <p:sp>
        <p:nvSpPr>
          <p:cNvPr id="7" name="Text 3"/>
          <p:cNvSpPr/>
          <p:nvPr/>
        </p:nvSpPr>
        <p:spPr>
          <a:xfrm>
            <a:off x="6199823" y="3449241"/>
            <a:ext cx="3184327"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Master Body Language</a:t>
            </a:r>
            <a:endParaRPr lang="en-US" sz="2200" dirty="0"/>
          </a:p>
        </p:txBody>
      </p:sp>
      <p:sp>
        <p:nvSpPr>
          <p:cNvPr id="8" name="Text 4"/>
          <p:cNvSpPr/>
          <p:nvPr/>
        </p:nvSpPr>
        <p:spPr>
          <a:xfrm>
            <a:off x="6199823" y="3939659"/>
            <a:ext cx="3194685" cy="2903220"/>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Maintain steady eye contact, sit upright with shoulders back, and use purposeful gestures. Your non-verbal communication often speaks louder than words, conveying confidence and engagement.</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7995" y="3257907"/>
            <a:ext cx="680442" cy="680442"/>
          </a:xfrm>
          <a:prstGeom prst="rect">
            <a:avLst/>
          </a:prstGeom>
        </p:spPr>
      </p:pic>
      <p:sp>
        <p:nvSpPr>
          <p:cNvPr id="10" name="Text 5"/>
          <p:cNvSpPr/>
          <p:nvPr/>
        </p:nvSpPr>
        <p:spPr>
          <a:xfrm>
            <a:off x="10641925" y="3449241"/>
            <a:ext cx="296608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Command Your Voice</a:t>
            </a:r>
            <a:endParaRPr lang="en-US" sz="2200" dirty="0"/>
          </a:p>
        </p:txBody>
      </p:sp>
      <p:sp>
        <p:nvSpPr>
          <p:cNvPr id="11" name="Text 6"/>
          <p:cNvSpPr/>
          <p:nvPr/>
        </p:nvSpPr>
        <p:spPr>
          <a:xfrm>
            <a:off x="10641925" y="3939659"/>
            <a:ext cx="3194685" cy="2540318"/>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Speak clearly and project confidence. Modulate your tone to emphasize key points and pace your speech deliberately. Avoid filler words and rushing—strategic pauses add gravitas.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5185" y="426482"/>
            <a:ext cx="3751302" cy="468868"/>
          </a:xfrm>
          <a:prstGeom prst="rect">
            <a:avLst/>
          </a:prstGeom>
          <a:noFill/>
          <a:ln/>
        </p:spPr>
        <p:txBody>
          <a:bodyPr wrap="none" lIns="0" tIns="0" rIns="0" bIns="0" rtlCol="0" anchor="t"/>
          <a:lstStyle/>
          <a:p>
            <a:pPr algn="l" indent="0" marL="0">
              <a:lnSpc>
                <a:spcPts val="3650"/>
              </a:lnSpc>
              <a:buNone/>
            </a:pPr>
            <a:r>
              <a:rPr lang="en-US" sz="2950" dirty="0">
                <a:solidFill>
                  <a:srgbClr val="201B18"/>
                </a:solidFill>
                <a:latin typeface="Platypi Medium" pitchFamily="34" charset="0"/>
                <a:ea typeface="Platypi Medium" pitchFamily="34" charset="-122"/>
                <a:cs typeface="Platypi Medium" pitchFamily="34" charset="-120"/>
              </a:rPr>
              <a:t>Email Mastery</a:t>
            </a:r>
            <a:endParaRPr lang="en-US" sz="2950" dirty="0"/>
          </a:p>
        </p:txBody>
      </p:sp>
      <p:sp>
        <p:nvSpPr>
          <p:cNvPr id="3" name="Shape 1"/>
          <p:cNvSpPr/>
          <p:nvPr/>
        </p:nvSpPr>
        <p:spPr>
          <a:xfrm>
            <a:off x="525185" y="1195388"/>
            <a:ext cx="13580031" cy="2102525"/>
          </a:xfrm>
          <a:prstGeom prst="roundRect">
            <a:avLst>
              <a:gd name="adj" fmla="val 1071"/>
            </a:avLst>
          </a:prstGeom>
          <a:solidFill>
            <a:srgbClr val="FFFFFF"/>
          </a:solidFill>
          <a:ln w="15240">
            <a:solidFill>
              <a:srgbClr val="D8D4D4"/>
            </a:solidFill>
            <a:prstDash val="solid"/>
          </a:ln>
        </p:spPr>
      </p:sp>
      <p:sp>
        <p:nvSpPr>
          <p:cNvPr id="4" name="Shape 2"/>
          <p:cNvSpPr/>
          <p:nvPr/>
        </p:nvSpPr>
        <p:spPr>
          <a:xfrm>
            <a:off x="540425" y="1210628"/>
            <a:ext cx="600194" cy="2072045"/>
          </a:xfrm>
          <a:prstGeom prst="roundRect">
            <a:avLst>
              <a:gd name="adj" fmla="val 703"/>
            </a:avLst>
          </a:prstGeom>
          <a:solidFill>
            <a:srgbClr val="F9F7F7"/>
          </a:solidFill>
          <a:ln/>
        </p:spPr>
      </p:sp>
      <p:sp>
        <p:nvSpPr>
          <p:cNvPr id="5" name="Text 3"/>
          <p:cNvSpPr/>
          <p:nvPr/>
        </p:nvSpPr>
        <p:spPr>
          <a:xfrm>
            <a:off x="727948" y="2105978"/>
            <a:ext cx="225028" cy="281345"/>
          </a:xfrm>
          <a:prstGeom prst="rect">
            <a:avLst/>
          </a:prstGeom>
          <a:noFill/>
          <a:ln/>
        </p:spPr>
        <p:txBody>
          <a:bodyPr wrap="none" lIns="0" tIns="0" rIns="0" bIns="0" rtlCol="0" anchor="t"/>
          <a:lstStyle/>
          <a:p>
            <a:pPr algn="l" indent="0" marL="0">
              <a:lnSpc>
                <a:spcPts val="1750"/>
              </a:lnSpc>
              <a:buNone/>
            </a:pPr>
            <a:r>
              <a:rPr lang="en-US" sz="1750" dirty="0">
                <a:solidFill>
                  <a:srgbClr val="504C49"/>
                </a:solidFill>
                <a:latin typeface="Platypi Medium" pitchFamily="34" charset="0"/>
                <a:ea typeface="Platypi Medium" pitchFamily="34" charset="-122"/>
                <a:cs typeface="Platypi Medium" pitchFamily="34" charset="-120"/>
              </a:rPr>
              <a:t>1</a:t>
            </a:r>
            <a:endParaRPr lang="en-US" sz="1750" dirty="0"/>
          </a:p>
        </p:txBody>
      </p:sp>
      <p:sp>
        <p:nvSpPr>
          <p:cNvPr id="6" name="Text 4"/>
          <p:cNvSpPr/>
          <p:nvPr/>
        </p:nvSpPr>
        <p:spPr>
          <a:xfrm>
            <a:off x="1290638" y="1360646"/>
            <a:ext cx="1875592" cy="234315"/>
          </a:xfrm>
          <a:prstGeom prst="rect">
            <a:avLst/>
          </a:prstGeom>
          <a:noFill/>
          <a:ln/>
        </p:spPr>
        <p:txBody>
          <a:bodyPr wrap="none" lIns="0" tIns="0" rIns="0" bIns="0" rtlCol="0" anchor="t"/>
          <a:lstStyle/>
          <a:p>
            <a:pPr algn="l" indent="0" marL="0">
              <a:lnSpc>
                <a:spcPts val="1800"/>
              </a:lnSpc>
              <a:buNone/>
            </a:pPr>
            <a:r>
              <a:rPr lang="en-US" sz="1450" dirty="0">
                <a:solidFill>
                  <a:srgbClr val="504C49"/>
                </a:solidFill>
                <a:latin typeface="Platypi Medium" pitchFamily="34" charset="0"/>
                <a:ea typeface="Platypi Medium" pitchFamily="34" charset="-122"/>
                <a:cs typeface="Platypi Medium" pitchFamily="34" charset="-120"/>
              </a:rPr>
              <a:t>Follow-up Emails</a:t>
            </a:r>
            <a:endParaRPr lang="en-US" sz="1450" dirty="0"/>
          </a:p>
        </p:txBody>
      </p:sp>
      <p:sp>
        <p:nvSpPr>
          <p:cNvPr id="7" name="Text 5"/>
          <p:cNvSpPr/>
          <p:nvPr/>
        </p:nvSpPr>
        <p:spPr>
          <a:xfrm>
            <a:off x="1290638" y="1684973"/>
            <a:ext cx="12649319" cy="240030"/>
          </a:xfrm>
          <a:prstGeom prst="rect">
            <a:avLst/>
          </a:prstGeom>
          <a:noFill/>
          <a:ln/>
        </p:spPr>
        <p:txBody>
          <a:bodyPr wrap="none" lIns="0" tIns="0" rIns="0" bIns="0" rtlCol="0" anchor="t"/>
          <a:lstStyle/>
          <a:p>
            <a:pPr algn="l" indent="0" marL="0">
              <a:lnSpc>
                <a:spcPts val="1850"/>
              </a:lnSpc>
              <a:buNone/>
            </a:pPr>
            <a:r>
              <a:rPr lang="en-US" sz="1150" dirty="0">
                <a:solidFill>
                  <a:srgbClr val="504C49"/>
                </a:solidFill>
                <a:latin typeface="Source Serif 4" pitchFamily="34" charset="0"/>
                <a:ea typeface="Source Serif 4" pitchFamily="34" charset="-122"/>
                <a:cs typeface="Source Serif 4" pitchFamily="34" charset="-120"/>
              </a:rPr>
              <a:t>Purpose: Gentle reminders that keep projects moving</a:t>
            </a:r>
            <a:endParaRPr lang="en-US" sz="1150" dirty="0"/>
          </a:p>
        </p:txBody>
      </p:sp>
      <p:sp>
        <p:nvSpPr>
          <p:cNvPr id="8" name="Text 6"/>
          <p:cNvSpPr/>
          <p:nvPr/>
        </p:nvSpPr>
        <p:spPr>
          <a:xfrm>
            <a:off x="1290638" y="2015014"/>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Provide clear context and reference previous communication</a:t>
            </a:r>
            <a:endParaRPr lang="en-US" sz="1150" dirty="0"/>
          </a:p>
        </p:txBody>
      </p:sp>
      <p:sp>
        <p:nvSpPr>
          <p:cNvPr id="9" name="Text 7"/>
          <p:cNvSpPr/>
          <p:nvPr/>
        </p:nvSpPr>
        <p:spPr>
          <a:xfrm>
            <a:off x="1290638" y="2307550"/>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Include specific deadlines or timeframes</a:t>
            </a:r>
            <a:endParaRPr lang="en-US" sz="1150" dirty="0"/>
          </a:p>
        </p:txBody>
      </p:sp>
      <p:sp>
        <p:nvSpPr>
          <p:cNvPr id="10" name="Text 8"/>
          <p:cNvSpPr/>
          <p:nvPr/>
        </p:nvSpPr>
        <p:spPr>
          <a:xfrm>
            <a:off x="1290638" y="2600087"/>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Offer assistance and maintain a collaborative tone</a:t>
            </a:r>
            <a:endParaRPr lang="en-US" sz="1150" dirty="0"/>
          </a:p>
        </p:txBody>
      </p:sp>
      <p:sp>
        <p:nvSpPr>
          <p:cNvPr id="11" name="Text 9"/>
          <p:cNvSpPr/>
          <p:nvPr/>
        </p:nvSpPr>
        <p:spPr>
          <a:xfrm>
            <a:off x="1290638" y="2892623"/>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Keep subject lines specific and actionable</a:t>
            </a:r>
            <a:endParaRPr lang="en-US" sz="1150" dirty="0"/>
          </a:p>
        </p:txBody>
      </p:sp>
      <p:sp>
        <p:nvSpPr>
          <p:cNvPr id="12" name="Shape 10"/>
          <p:cNvSpPr/>
          <p:nvPr/>
        </p:nvSpPr>
        <p:spPr>
          <a:xfrm>
            <a:off x="525185" y="3447931"/>
            <a:ext cx="13580031" cy="2102525"/>
          </a:xfrm>
          <a:prstGeom prst="roundRect">
            <a:avLst>
              <a:gd name="adj" fmla="val 1071"/>
            </a:avLst>
          </a:prstGeom>
          <a:solidFill>
            <a:srgbClr val="FFFFFF"/>
          </a:solidFill>
          <a:ln w="15240">
            <a:solidFill>
              <a:srgbClr val="D8D4D4"/>
            </a:solidFill>
            <a:prstDash val="solid"/>
          </a:ln>
        </p:spPr>
      </p:sp>
      <p:sp>
        <p:nvSpPr>
          <p:cNvPr id="13" name="Shape 11"/>
          <p:cNvSpPr/>
          <p:nvPr/>
        </p:nvSpPr>
        <p:spPr>
          <a:xfrm>
            <a:off x="540425" y="3463171"/>
            <a:ext cx="600194" cy="2072045"/>
          </a:xfrm>
          <a:prstGeom prst="roundRect">
            <a:avLst>
              <a:gd name="adj" fmla="val 703"/>
            </a:avLst>
          </a:prstGeom>
          <a:solidFill>
            <a:srgbClr val="F9F7F7"/>
          </a:solidFill>
          <a:ln/>
        </p:spPr>
      </p:sp>
      <p:sp>
        <p:nvSpPr>
          <p:cNvPr id="14" name="Text 12"/>
          <p:cNvSpPr/>
          <p:nvPr/>
        </p:nvSpPr>
        <p:spPr>
          <a:xfrm>
            <a:off x="727948" y="4358521"/>
            <a:ext cx="225028" cy="281345"/>
          </a:xfrm>
          <a:prstGeom prst="rect">
            <a:avLst/>
          </a:prstGeom>
          <a:noFill/>
          <a:ln/>
        </p:spPr>
        <p:txBody>
          <a:bodyPr wrap="none" lIns="0" tIns="0" rIns="0" bIns="0" rtlCol="0" anchor="t"/>
          <a:lstStyle/>
          <a:p>
            <a:pPr algn="l" indent="0" marL="0">
              <a:lnSpc>
                <a:spcPts val="1750"/>
              </a:lnSpc>
              <a:buNone/>
            </a:pPr>
            <a:r>
              <a:rPr lang="en-US" sz="1750" dirty="0">
                <a:solidFill>
                  <a:srgbClr val="504C49"/>
                </a:solidFill>
                <a:latin typeface="Platypi Medium" pitchFamily="34" charset="0"/>
                <a:ea typeface="Platypi Medium" pitchFamily="34" charset="-122"/>
                <a:cs typeface="Platypi Medium" pitchFamily="34" charset="-120"/>
              </a:rPr>
              <a:t>2</a:t>
            </a:r>
            <a:endParaRPr lang="en-US" sz="1750" dirty="0"/>
          </a:p>
        </p:txBody>
      </p:sp>
      <p:sp>
        <p:nvSpPr>
          <p:cNvPr id="15" name="Text 13"/>
          <p:cNvSpPr/>
          <p:nvPr/>
        </p:nvSpPr>
        <p:spPr>
          <a:xfrm>
            <a:off x="1290638" y="3613190"/>
            <a:ext cx="2011442" cy="234315"/>
          </a:xfrm>
          <a:prstGeom prst="rect">
            <a:avLst/>
          </a:prstGeom>
          <a:noFill/>
          <a:ln/>
        </p:spPr>
        <p:txBody>
          <a:bodyPr wrap="none" lIns="0" tIns="0" rIns="0" bIns="0" rtlCol="0" anchor="t"/>
          <a:lstStyle/>
          <a:p>
            <a:pPr algn="l" indent="0" marL="0">
              <a:lnSpc>
                <a:spcPts val="1800"/>
              </a:lnSpc>
              <a:buNone/>
            </a:pPr>
            <a:r>
              <a:rPr lang="en-US" sz="1450" dirty="0">
                <a:solidFill>
                  <a:srgbClr val="504C49"/>
                </a:solidFill>
                <a:latin typeface="Platypi Medium" pitchFamily="34" charset="0"/>
                <a:ea typeface="Platypi Medium" pitchFamily="34" charset="-122"/>
                <a:cs typeface="Platypi Medium" pitchFamily="34" charset="-120"/>
              </a:rPr>
              <a:t>Accountability Emails</a:t>
            </a:r>
            <a:endParaRPr lang="en-US" sz="1450" dirty="0"/>
          </a:p>
        </p:txBody>
      </p:sp>
      <p:sp>
        <p:nvSpPr>
          <p:cNvPr id="16" name="Text 14"/>
          <p:cNvSpPr/>
          <p:nvPr/>
        </p:nvSpPr>
        <p:spPr>
          <a:xfrm>
            <a:off x="1290638" y="3937516"/>
            <a:ext cx="12649319" cy="240030"/>
          </a:xfrm>
          <a:prstGeom prst="rect">
            <a:avLst/>
          </a:prstGeom>
          <a:noFill/>
          <a:ln/>
        </p:spPr>
        <p:txBody>
          <a:bodyPr wrap="none" lIns="0" tIns="0" rIns="0" bIns="0" rtlCol="0" anchor="t"/>
          <a:lstStyle/>
          <a:p>
            <a:pPr algn="l" indent="0" marL="0">
              <a:lnSpc>
                <a:spcPts val="1850"/>
              </a:lnSpc>
              <a:buNone/>
            </a:pPr>
            <a:r>
              <a:rPr lang="en-US" sz="1150" dirty="0">
                <a:solidFill>
                  <a:srgbClr val="504C49"/>
                </a:solidFill>
                <a:latin typeface="Source Serif 4" pitchFamily="34" charset="0"/>
                <a:ea typeface="Source Serif 4" pitchFamily="34" charset="-122"/>
                <a:cs typeface="Source Serif 4" pitchFamily="34" charset="-120"/>
              </a:rPr>
              <a:t>Purpose: Demonstrate ownership and transparency</a:t>
            </a:r>
            <a:endParaRPr lang="en-US" sz="1150" dirty="0"/>
          </a:p>
        </p:txBody>
      </p:sp>
      <p:sp>
        <p:nvSpPr>
          <p:cNvPr id="17" name="Text 15"/>
          <p:cNvSpPr/>
          <p:nvPr/>
        </p:nvSpPr>
        <p:spPr>
          <a:xfrm>
            <a:off x="1290638" y="4267557"/>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Report progress honestly and proactively</a:t>
            </a:r>
            <a:endParaRPr lang="en-US" sz="1150" dirty="0"/>
          </a:p>
        </p:txBody>
      </p:sp>
      <p:sp>
        <p:nvSpPr>
          <p:cNvPr id="18" name="Text 16"/>
          <p:cNvSpPr/>
          <p:nvPr/>
        </p:nvSpPr>
        <p:spPr>
          <a:xfrm>
            <a:off x="1290638" y="4560094"/>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Own mistakes without making excuses</a:t>
            </a:r>
            <a:endParaRPr lang="en-US" sz="1150" dirty="0"/>
          </a:p>
        </p:txBody>
      </p:sp>
      <p:sp>
        <p:nvSpPr>
          <p:cNvPr id="19" name="Text 17"/>
          <p:cNvSpPr/>
          <p:nvPr/>
        </p:nvSpPr>
        <p:spPr>
          <a:xfrm>
            <a:off x="1290638" y="4852630"/>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Outline challenges encountered and solutions attempted</a:t>
            </a:r>
            <a:endParaRPr lang="en-US" sz="1150" dirty="0"/>
          </a:p>
        </p:txBody>
      </p:sp>
      <p:sp>
        <p:nvSpPr>
          <p:cNvPr id="20" name="Text 18"/>
          <p:cNvSpPr/>
          <p:nvPr/>
        </p:nvSpPr>
        <p:spPr>
          <a:xfrm>
            <a:off x="1290638" y="5145167"/>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Set clear expectations for next steps</a:t>
            </a:r>
            <a:endParaRPr lang="en-US" sz="1150" dirty="0"/>
          </a:p>
        </p:txBody>
      </p:sp>
      <p:sp>
        <p:nvSpPr>
          <p:cNvPr id="21" name="Shape 19"/>
          <p:cNvSpPr/>
          <p:nvPr/>
        </p:nvSpPr>
        <p:spPr>
          <a:xfrm>
            <a:off x="525185" y="5700474"/>
            <a:ext cx="13580031" cy="2102525"/>
          </a:xfrm>
          <a:prstGeom prst="roundRect">
            <a:avLst>
              <a:gd name="adj" fmla="val 1071"/>
            </a:avLst>
          </a:prstGeom>
          <a:solidFill>
            <a:srgbClr val="FFFFFF"/>
          </a:solidFill>
          <a:ln w="15240">
            <a:solidFill>
              <a:srgbClr val="D8D4D4"/>
            </a:solidFill>
            <a:prstDash val="solid"/>
          </a:ln>
        </p:spPr>
      </p:sp>
      <p:sp>
        <p:nvSpPr>
          <p:cNvPr id="22" name="Shape 20"/>
          <p:cNvSpPr/>
          <p:nvPr/>
        </p:nvSpPr>
        <p:spPr>
          <a:xfrm>
            <a:off x="540425" y="5715714"/>
            <a:ext cx="600194" cy="2072045"/>
          </a:xfrm>
          <a:prstGeom prst="roundRect">
            <a:avLst>
              <a:gd name="adj" fmla="val 703"/>
            </a:avLst>
          </a:prstGeom>
          <a:solidFill>
            <a:srgbClr val="F9F7F7"/>
          </a:solidFill>
          <a:ln/>
        </p:spPr>
      </p:sp>
      <p:sp>
        <p:nvSpPr>
          <p:cNvPr id="23" name="Text 21"/>
          <p:cNvSpPr/>
          <p:nvPr/>
        </p:nvSpPr>
        <p:spPr>
          <a:xfrm>
            <a:off x="727948" y="6611064"/>
            <a:ext cx="225028" cy="281345"/>
          </a:xfrm>
          <a:prstGeom prst="rect">
            <a:avLst/>
          </a:prstGeom>
          <a:noFill/>
          <a:ln/>
        </p:spPr>
        <p:txBody>
          <a:bodyPr wrap="none" lIns="0" tIns="0" rIns="0" bIns="0" rtlCol="0" anchor="t"/>
          <a:lstStyle/>
          <a:p>
            <a:pPr algn="l" indent="0" marL="0">
              <a:lnSpc>
                <a:spcPts val="1750"/>
              </a:lnSpc>
              <a:buNone/>
            </a:pPr>
            <a:r>
              <a:rPr lang="en-US" sz="1750" dirty="0">
                <a:solidFill>
                  <a:srgbClr val="504C49"/>
                </a:solidFill>
                <a:latin typeface="Platypi Medium" pitchFamily="34" charset="0"/>
                <a:ea typeface="Platypi Medium" pitchFamily="34" charset="-122"/>
                <a:cs typeface="Platypi Medium" pitchFamily="34" charset="-120"/>
              </a:rPr>
              <a:t>3</a:t>
            </a:r>
            <a:endParaRPr lang="en-US" sz="1750" dirty="0"/>
          </a:p>
        </p:txBody>
      </p:sp>
      <p:sp>
        <p:nvSpPr>
          <p:cNvPr id="24" name="Text 22"/>
          <p:cNvSpPr/>
          <p:nvPr/>
        </p:nvSpPr>
        <p:spPr>
          <a:xfrm>
            <a:off x="1290638" y="5865733"/>
            <a:ext cx="1875592" cy="234315"/>
          </a:xfrm>
          <a:prstGeom prst="rect">
            <a:avLst/>
          </a:prstGeom>
          <a:noFill/>
          <a:ln/>
        </p:spPr>
        <p:txBody>
          <a:bodyPr wrap="none" lIns="0" tIns="0" rIns="0" bIns="0" rtlCol="0" anchor="t"/>
          <a:lstStyle/>
          <a:p>
            <a:pPr algn="l" indent="0" marL="0">
              <a:lnSpc>
                <a:spcPts val="1800"/>
              </a:lnSpc>
              <a:buNone/>
            </a:pPr>
            <a:r>
              <a:rPr lang="en-US" sz="1450" dirty="0">
                <a:solidFill>
                  <a:srgbClr val="504C49"/>
                </a:solidFill>
                <a:latin typeface="Platypi Medium" pitchFamily="34" charset="0"/>
                <a:ea typeface="Platypi Medium" pitchFamily="34" charset="-122"/>
                <a:cs typeface="Platypi Medium" pitchFamily="34" charset="-120"/>
              </a:rPr>
              <a:t>Escalation Emails</a:t>
            </a:r>
            <a:endParaRPr lang="en-US" sz="1450" dirty="0"/>
          </a:p>
        </p:txBody>
      </p:sp>
      <p:sp>
        <p:nvSpPr>
          <p:cNvPr id="25" name="Text 23"/>
          <p:cNvSpPr/>
          <p:nvPr/>
        </p:nvSpPr>
        <p:spPr>
          <a:xfrm>
            <a:off x="1290638" y="6190059"/>
            <a:ext cx="12649319" cy="240030"/>
          </a:xfrm>
          <a:prstGeom prst="rect">
            <a:avLst/>
          </a:prstGeom>
          <a:noFill/>
          <a:ln/>
        </p:spPr>
        <p:txBody>
          <a:bodyPr wrap="none" lIns="0" tIns="0" rIns="0" bIns="0" rtlCol="0" anchor="t"/>
          <a:lstStyle/>
          <a:p>
            <a:pPr algn="l" indent="0" marL="0">
              <a:lnSpc>
                <a:spcPts val="1850"/>
              </a:lnSpc>
              <a:buNone/>
            </a:pPr>
            <a:r>
              <a:rPr lang="en-US" sz="1150" dirty="0">
                <a:solidFill>
                  <a:srgbClr val="504C49"/>
                </a:solidFill>
                <a:latin typeface="Source Serif 4" pitchFamily="34" charset="0"/>
                <a:ea typeface="Source Serif 4" pitchFamily="34" charset="-122"/>
                <a:cs typeface="Source Serif 4" pitchFamily="34" charset="-120"/>
              </a:rPr>
              <a:t>Purpose: Elevate urgent issues requiring higher-level attention</a:t>
            </a:r>
            <a:endParaRPr lang="en-US" sz="1150" dirty="0"/>
          </a:p>
        </p:txBody>
      </p:sp>
      <p:sp>
        <p:nvSpPr>
          <p:cNvPr id="26" name="Text 24"/>
          <p:cNvSpPr/>
          <p:nvPr/>
        </p:nvSpPr>
        <p:spPr>
          <a:xfrm>
            <a:off x="1290638" y="6520101"/>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Maintain factual, professional, respectful tone</a:t>
            </a:r>
            <a:endParaRPr lang="en-US" sz="1150" dirty="0"/>
          </a:p>
        </p:txBody>
      </p:sp>
      <p:sp>
        <p:nvSpPr>
          <p:cNvPr id="27" name="Text 25"/>
          <p:cNvSpPr/>
          <p:nvPr/>
        </p:nvSpPr>
        <p:spPr>
          <a:xfrm>
            <a:off x="1290638" y="6812637"/>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Clearly state the problem and its business impact</a:t>
            </a:r>
            <a:endParaRPr lang="en-US" sz="1150" dirty="0"/>
          </a:p>
        </p:txBody>
      </p:sp>
      <p:sp>
        <p:nvSpPr>
          <p:cNvPr id="28" name="Text 26"/>
          <p:cNvSpPr/>
          <p:nvPr/>
        </p:nvSpPr>
        <p:spPr>
          <a:xfrm>
            <a:off x="1290638" y="7105174"/>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Document previous resolution attempts</a:t>
            </a:r>
            <a:endParaRPr lang="en-US" sz="1150" dirty="0"/>
          </a:p>
        </p:txBody>
      </p:sp>
      <p:sp>
        <p:nvSpPr>
          <p:cNvPr id="29" name="Text 27"/>
          <p:cNvSpPr/>
          <p:nvPr/>
        </p:nvSpPr>
        <p:spPr>
          <a:xfrm>
            <a:off x="1290638" y="7397710"/>
            <a:ext cx="12649319" cy="240030"/>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504C49"/>
                </a:solidFill>
                <a:latin typeface="Source Serif 4" pitchFamily="34" charset="0"/>
                <a:ea typeface="Source Serif 4" pitchFamily="34" charset="-122"/>
                <a:cs typeface="Source Serif 4" pitchFamily="34" charset="-120"/>
              </a:rPr>
              <a:t>Specify the action or decision needed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10972"/>
            <a:ext cx="10351889"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Examples of Effective Email Phrasing</a:t>
            </a:r>
            <a:endParaRPr lang="en-US" sz="4450" dirty="0"/>
          </a:p>
        </p:txBody>
      </p:sp>
      <p:pic>
        <p:nvPicPr>
          <p:cNvPr id="3" name="Image 0" descr="preencoded.png">    </p:cNvPr>
          <p:cNvPicPr>
            <a:picLocks noChangeAspect="1"/>
          </p:cNvPicPr>
          <p:nvPr/>
        </p:nvPicPr>
        <p:blipFill>
          <a:blip r:embed="rId1"/>
          <a:stretch>
            <a:fillRect/>
          </a:stretch>
        </p:blipFill>
        <p:spPr>
          <a:xfrm>
            <a:off x="793790" y="2273379"/>
            <a:ext cx="4196358" cy="4845248"/>
          </a:xfrm>
          <a:prstGeom prst="rect">
            <a:avLst/>
          </a:prstGeom>
        </p:spPr>
      </p:pic>
      <p:sp>
        <p:nvSpPr>
          <p:cNvPr id="4" name="Text 1"/>
          <p:cNvSpPr/>
          <p:nvPr/>
        </p:nvSpPr>
        <p:spPr>
          <a:xfrm>
            <a:off x="1020604" y="250019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Follow-up Template</a:t>
            </a:r>
            <a:endParaRPr lang="en-US" sz="2200" dirty="0"/>
          </a:p>
        </p:txBody>
      </p:sp>
      <p:sp>
        <p:nvSpPr>
          <p:cNvPr id="5" name="Text 2"/>
          <p:cNvSpPr/>
          <p:nvPr/>
        </p:nvSpPr>
        <p:spPr>
          <a:xfrm>
            <a:off x="1020604" y="2990612"/>
            <a:ext cx="3742730" cy="2540318"/>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"I wanted to check in on the status of the Q4 budget proposal we discussed last week. The deadline is approaching on Friday, March 15th. Please let me know if you need any additional information or support to move this forward."</a:t>
            </a:r>
            <a:endParaRPr lang="en-US" sz="1750" dirty="0"/>
          </a:p>
        </p:txBody>
      </p:sp>
      <p:pic>
        <p:nvPicPr>
          <p:cNvPr id="6" name="Image 1" descr="preencoded.png">    </p:cNvPr>
          <p:cNvPicPr>
            <a:picLocks noChangeAspect="1"/>
          </p:cNvPicPr>
          <p:nvPr/>
        </p:nvPicPr>
        <p:blipFill>
          <a:blip r:embed="rId2"/>
          <a:stretch>
            <a:fillRect/>
          </a:stretch>
        </p:blipFill>
        <p:spPr>
          <a:xfrm>
            <a:off x="5216962" y="2273379"/>
            <a:ext cx="4196358" cy="4845248"/>
          </a:xfrm>
          <a:prstGeom prst="rect">
            <a:avLst/>
          </a:prstGeom>
        </p:spPr>
      </p:pic>
      <p:sp>
        <p:nvSpPr>
          <p:cNvPr id="7" name="Text 3"/>
          <p:cNvSpPr/>
          <p:nvPr/>
        </p:nvSpPr>
        <p:spPr>
          <a:xfrm>
            <a:off x="5443776" y="2500193"/>
            <a:ext cx="3398163"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Accountability Template</a:t>
            </a:r>
            <a:endParaRPr lang="en-US" sz="2200" dirty="0"/>
          </a:p>
        </p:txBody>
      </p:sp>
      <p:sp>
        <p:nvSpPr>
          <p:cNvPr id="8" name="Text 4"/>
          <p:cNvSpPr/>
          <p:nvPr/>
        </p:nvSpPr>
        <p:spPr>
          <a:xfrm>
            <a:off x="5443776" y="2990612"/>
            <a:ext cx="3742730" cy="3266123"/>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"I completed the client report as scheduled and submitted it this morning. However, I encountered challenges with the data visualization that required additional time. I've addressed this and implemented a solution to prevent similar delays in future reports."</a:t>
            </a:r>
            <a:endParaRPr lang="en-US" sz="1750" dirty="0"/>
          </a:p>
        </p:txBody>
      </p:sp>
      <p:pic>
        <p:nvPicPr>
          <p:cNvPr id="9" name="Image 2" descr="preencoded.png">    </p:cNvPr>
          <p:cNvPicPr>
            <a:picLocks noChangeAspect="1"/>
          </p:cNvPicPr>
          <p:nvPr/>
        </p:nvPicPr>
        <p:blipFill>
          <a:blip r:embed="rId3"/>
          <a:stretch>
            <a:fillRect/>
          </a:stretch>
        </p:blipFill>
        <p:spPr>
          <a:xfrm>
            <a:off x="9640133" y="2273379"/>
            <a:ext cx="4196358" cy="4845248"/>
          </a:xfrm>
          <a:prstGeom prst="rect">
            <a:avLst/>
          </a:prstGeom>
        </p:spPr>
      </p:pic>
      <p:sp>
        <p:nvSpPr>
          <p:cNvPr id="10" name="Text 5"/>
          <p:cNvSpPr/>
          <p:nvPr/>
        </p:nvSpPr>
        <p:spPr>
          <a:xfrm>
            <a:off x="9866948" y="250019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Escalation Template</a:t>
            </a:r>
            <a:endParaRPr lang="en-US" sz="2200" dirty="0"/>
          </a:p>
        </p:txBody>
      </p:sp>
      <p:sp>
        <p:nvSpPr>
          <p:cNvPr id="11" name="Text 6"/>
          <p:cNvSpPr/>
          <p:nvPr/>
        </p:nvSpPr>
        <p:spPr>
          <a:xfrm>
            <a:off x="9866948" y="2990612"/>
            <a:ext cx="3742730" cy="3629025"/>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"I'm escalating the server downtime issue affecting our customer portal. Despite three attempts to resolve it with the IT team over 48 hours, the problem persists, now impacting 500+ customer transactions. I request urgent executive attention to authorize additional resources for immediate resolution."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2025-12-27T05:34:17Z</dcterms:created>
  <dcterms:modified xsi:type="dcterms:W3CDTF">2025-12-27T05:34:17Z</dcterms:modified>
</cp:coreProperties>
</file>