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08763" y="1666891"/>
            <a:ext cx="11870475" cy="3476609"/>
          </a:xfrm>
          <a:custGeom>
            <a:avLst/>
            <a:gdLst/>
            <a:ahLst/>
            <a:cxnLst/>
            <a:rect r="r" b="b" t="t" l="l"/>
            <a:pathLst>
              <a:path h="3476609" w="11870475">
                <a:moveTo>
                  <a:pt x="0" y="0"/>
                </a:moveTo>
                <a:lnTo>
                  <a:pt x="11870474" y="0"/>
                </a:lnTo>
                <a:lnTo>
                  <a:pt x="11870474" y="3476609"/>
                </a:lnTo>
                <a:lnTo>
                  <a:pt x="0" y="3476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32957" y="5999591"/>
            <a:ext cx="10022086" cy="86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Day 5 - Calendar and S</a:t>
            </a:r>
            <a:r>
              <a:rPr lang="en-US" b="true" sz="5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cheduling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6982" y="738837"/>
            <a:ext cx="5342318" cy="1564651"/>
          </a:xfrm>
          <a:custGeom>
            <a:avLst/>
            <a:gdLst/>
            <a:ahLst/>
            <a:cxnLst/>
            <a:rect r="r" b="b" t="t" l="l"/>
            <a:pathLst>
              <a:path h="1564651" w="5342318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13176" y="2894942"/>
            <a:ext cx="10347015" cy="55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0194" indent="-350097" lvl="1">
              <a:lnSpc>
                <a:spcPts val="4897"/>
              </a:lnSpc>
              <a:buFont typeface="Arial"/>
              <a:buChar char="•"/>
            </a:pPr>
            <a:r>
              <a:rPr lang="en-US" sz="32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Calendar and sched</a:t>
            </a:r>
            <a:r>
              <a:rPr lang="en-US" sz="32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uling a</a:t>
            </a:r>
            <a:r>
              <a:rPr lang="en-US" sz="32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 essential workplace skills that help professionals plan work, manage time effectively, and respect others’</a:t>
            </a:r>
            <a:r>
              <a:rPr lang="en-US" sz="32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availability. </a:t>
            </a:r>
          </a:p>
          <a:p>
            <a:pPr algn="l" marL="700194" indent="-350097" lvl="1">
              <a:lnSpc>
                <a:spcPts val="4897"/>
              </a:lnSpc>
              <a:buFont typeface="Arial"/>
              <a:buChar char="•"/>
            </a:pPr>
            <a:r>
              <a:rPr lang="en-US" sz="324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Proper scheduling ensures the right people meet at the right time with clear purpose, avoids conflicts, and improves productivity—especially in collaborative and remote work environments.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091942" y="3812608"/>
            <a:ext cx="3917407" cy="3794988"/>
          </a:xfrm>
          <a:custGeom>
            <a:avLst/>
            <a:gdLst/>
            <a:ahLst/>
            <a:cxnLst/>
            <a:rect r="r" b="b" t="t" l="l"/>
            <a:pathLst>
              <a:path h="3794988" w="3917407">
                <a:moveTo>
                  <a:pt x="0" y="0"/>
                </a:moveTo>
                <a:lnTo>
                  <a:pt x="3917407" y="0"/>
                </a:lnTo>
                <a:lnTo>
                  <a:pt x="3917407" y="3794987"/>
                </a:lnTo>
                <a:lnTo>
                  <a:pt x="0" y="379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90994" y="1629359"/>
            <a:ext cx="9791379" cy="67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2"/>
              </a:lnSpc>
              <a:spcBef>
                <a:spcPct val="0"/>
              </a:spcBef>
            </a:pPr>
            <a:r>
              <a:rPr lang="en-US" b="true" sz="395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Calendar &amp; Scheduling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6982" y="738837"/>
            <a:ext cx="5342318" cy="1564651"/>
          </a:xfrm>
          <a:custGeom>
            <a:avLst/>
            <a:gdLst/>
            <a:ahLst/>
            <a:cxnLst/>
            <a:rect r="r" b="b" t="t" l="l"/>
            <a:pathLst>
              <a:path h="1564651" w="5342318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35358" y="3061936"/>
            <a:ext cx="12387764" cy="5990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6"/>
              </a:lnSpc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Calendars are not just scheduling tools — they are professional planning tools.</a:t>
            </a:r>
          </a:p>
          <a:p>
            <a:pPr algn="l">
              <a:lnSpc>
                <a:spcPts val="4796"/>
              </a:lnSpc>
            </a:pPr>
          </a:p>
          <a:p>
            <a:pPr algn="l" marL="685866" indent="-342933" lvl="1">
              <a:lnSpc>
                <a:spcPts val="4796"/>
              </a:lnSpc>
              <a:buFont typeface="Arial"/>
              <a:buChar char="•"/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hey help organize work and meetings</a:t>
            </a:r>
          </a:p>
          <a:p>
            <a:pPr algn="l" marL="685866" indent="-342933" lvl="1">
              <a:lnSpc>
                <a:spcPts val="4796"/>
              </a:lnSpc>
              <a:buFont typeface="Arial"/>
              <a:buChar char="•"/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They prevent conflicts and last-minute chaos</a:t>
            </a:r>
          </a:p>
          <a:p>
            <a:pPr algn="l" marL="685866" indent="-342933" lvl="1">
              <a:lnSpc>
                <a:spcPts val="4796"/>
              </a:lnSpc>
              <a:buFont typeface="Arial"/>
              <a:buChar char="•"/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They show availability and priorities</a:t>
            </a:r>
          </a:p>
          <a:p>
            <a:pPr algn="l" marL="685866" indent="-342933" lvl="1">
              <a:lnSpc>
                <a:spcPts val="4796"/>
              </a:lnSpc>
              <a:buFont typeface="Arial"/>
              <a:buChar char="•"/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They help teams collaborate across roles and time zones</a:t>
            </a:r>
          </a:p>
          <a:p>
            <a:pPr algn="l">
              <a:lnSpc>
                <a:spcPts val="4796"/>
              </a:lnSpc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📌 Your calendar reflects how you manage time and respect others’ time.</a:t>
            </a:r>
          </a:p>
          <a:p>
            <a:pPr algn="l">
              <a:lnSpc>
                <a:spcPts val="479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236153" y="3864084"/>
            <a:ext cx="3411775" cy="2558831"/>
          </a:xfrm>
          <a:custGeom>
            <a:avLst/>
            <a:gdLst/>
            <a:ahLst/>
            <a:cxnLst/>
            <a:rect r="r" b="b" t="t" l="l"/>
            <a:pathLst>
              <a:path h="2558831" w="3411775">
                <a:moveTo>
                  <a:pt x="0" y="0"/>
                </a:moveTo>
                <a:lnTo>
                  <a:pt x="3411775" y="0"/>
                </a:lnTo>
                <a:lnTo>
                  <a:pt x="3411775" y="2558832"/>
                </a:lnTo>
                <a:lnTo>
                  <a:pt x="0" y="25588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35358" y="1444963"/>
            <a:ext cx="7303360" cy="1372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2"/>
              </a:lnSpc>
              <a:spcBef>
                <a:spcPct val="0"/>
              </a:spcBef>
            </a:pPr>
            <a:r>
              <a:rPr lang="en-US" b="true" sz="395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📅 Why Calendars Are Important at Work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6982" y="738837"/>
            <a:ext cx="5342318" cy="1564651"/>
          </a:xfrm>
          <a:custGeom>
            <a:avLst/>
            <a:gdLst/>
            <a:ahLst/>
            <a:cxnLst/>
            <a:rect r="r" b="b" t="t" l="l"/>
            <a:pathLst>
              <a:path h="1564651" w="5342318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45651" y="2521604"/>
            <a:ext cx="29905" cy="5981006"/>
          </a:xfrm>
          <a:custGeom>
            <a:avLst/>
            <a:gdLst/>
            <a:ahLst/>
            <a:cxnLst/>
            <a:rect r="r" b="b" t="t" l="l"/>
            <a:pathLst>
              <a:path h="5981006" w="29905">
                <a:moveTo>
                  <a:pt x="0" y="0"/>
                </a:moveTo>
                <a:lnTo>
                  <a:pt x="29905" y="0"/>
                </a:lnTo>
                <a:lnTo>
                  <a:pt x="29905" y="5981007"/>
                </a:lnTo>
                <a:lnTo>
                  <a:pt x="0" y="59810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03528" y="1435438"/>
            <a:ext cx="8284847" cy="76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5"/>
              </a:lnSpc>
              <a:spcBef>
                <a:spcPct val="0"/>
              </a:spcBef>
            </a:pPr>
            <a:r>
              <a:rPr lang="en-US" b="true" sz="4482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⏰ Availability vs Priority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2380" y="2732567"/>
            <a:ext cx="6967021" cy="418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6"/>
              </a:lnSpc>
            </a:pPr>
            <a:r>
              <a:rPr lang="en-US" sz="31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Availability</a:t>
            </a:r>
          </a:p>
          <a:p>
            <a:pPr algn="l">
              <a:lnSpc>
                <a:spcPts val="4796"/>
              </a:lnSpc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Availability means you are free at a given time.</a:t>
            </a:r>
          </a:p>
          <a:p>
            <a:pPr algn="l" marL="685866" indent="-342933" lvl="1">
              <a:lnSpc>
                <a:spcPts val="4796"/>
              </a:lnSpc>
              <a:buFont typeface="Arial"/>
              <a:buChar char="•"/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meetings booked</a:t>
            </a:r>
          </a:p>
          <a:p>
            <a:pPr algn="l" marL="685866" indent="-342933" lvl="1">
              <a:lnSpc>
                <a:spcPts val="4796"/>
              </a:lnSpc>
              <a:buFont typeface="Arial"/>
              <a:buChar char="•"/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visible calendar blocks</a:t>
            </a:r>
          </a:p>
          <a:p>
            <a:pPr algn="l">
              <a:lnSpc>
                <a:spcPts val="4796"/>
              </a:lnSpc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📌</a:t>
            </a:r>
            <a:r>
              <a:rPr lang="en-US" sz="31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Available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does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not always mean free to work on everything.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51806" y="2759856"/>
            <a:ext cx="8258876" cy="539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6"/>
              </a:lnSpc>
            </a:pPr>
            <a:r>
              <a:rPr lang="en-US" sz="31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Priority</a:t>
            </a:r>
          </a:p>
          <a:p>
            <a:pPr algn="l">
              <a:lnSpc>
                <a:spcPts val="4796"/>
              </a:lnSpc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Priority means what is most important at that time.</a:t>
            </a:r>
          </a:p>
          <a:p>
            <a:pPr algn="l" marL="685866" indent="-342933" lvl="1">
              <a:lnSpc>
                <a:spcPts val="4796"/>
              </a:lnSpc>
              <a:buFont typeface="Arial"/>
              <a:buChar char="•"/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Critical tasks</a:t>
            </a:r>
          </a:p>
          <a:p>
            <a:pPr algn="l" marL="685866" indent="-342933" lvl="1">
              <a:lnSpc>
                <a:spcPts val="4796"/>
              </a:lnSpc>
              <a:buFont typeface="Arial"/>
              <a:buChar char="•"/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High-impact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meetings</a:t>
            </a:r>
          </a:p>
          <a:p>
            <a:pPr algn="l" marL="685866" indent="-342933" lvl="1">
              <a:lnSpc>
                <a:spcPts val="4796"/>
              </a:lnSpc>
              <a:buFont typeface="Arial"/>
              <a:buChar char="•"/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Deadlines</a:t>
            </a:r>
          </a:p>
          <a:p>
            <a:pPr algn="l">
              <a:lnSpc>
                <a:spcPts val="4796"/>
              </a:lnSpc>
            </a:pPr>
            <a:r>
              <a:rPr lang="en-US" sz="31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🔑 Key</a:t>
            </a:r>
            <a:r>
              <a:rPr lang="en-US" sz="31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Difference:</a:t>
            </a:r>
          </a:p>
          <a:p>
            <a:pPr algn="l">
              <a:lnSpc>
                <a:spcPts val="4796"/>
              </a:lnSpc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 may be available,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but your priority could be something else.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9930" y="8388311"/>
            <a:ext cx="16209370" cy="118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6"/>
              </a:lnSpc>
            </a:pPr>
            <a:r>
              <a:rPr lang="en-US" sz="31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Example: 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 are free at 3 PM (available), but a deadline due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today is your priority — so you may decline a meeting.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6982" y="738837"/>
            <a:ext cx="5342318" cy="1564651"/>
          </a:xfrm>
          <a:custGeom>
            <a:avLst/>
            <a:gdLst/>
            <a:ahLst/>
            <a:cxnLst/>
            <a:rect r="r" b="b" t="t" l="l"/>
            <a:pathLst>
              <a:path h="1564651" w="5342318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45651" y="2521604"/>
            <a:ext cx="29905" cy="5981006"/>
          </a:xfrm>
          <a:custGeom>
            <a:avLst/>
            <a:gdLst/>
            <a:ahLst/>
            <a:cxnLst/>
            <a:rect r="r" b="b" t="t" l="l"/>
            <a:pathLst>
              <a:path h="5981006" w="29905">
                <a:moveTo>
                  <a:pt x="0" y="0"/>
                </a:moveTo>
                <a:lnTo>
                  <a:pt x="29905" y="0"/>
                </a:lnTo>
                <a:lnTo>
                  <a:pt x="29905" y="5981007"/>
                </a:lnTo>
                <a:lnTo>
                  <a:pt x="0" y="59810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02380" y="1275534"/>
            <a:ext cx="9942236" cy="73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9"/>
              </a:lnSpc>
              <a:spcBef>
                <a:spcPct val="0"/>
              </a:spcBef>
            </a:pPr>
            <a:r>
              <a:rPr lang="en-US" b="true" sz="432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👥 Optional vs Mandatory Attendees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2380" y="2732567"/>
            <a:ext cx="6967021" cy="5390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6"/>
              </a:lnSpc>
            </a:pPr>
            <a:r>
              <a:rPr lang="en-US" sz="31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Mandatory Attendees</a:t>
            </a:r>
          </a:p>
          <a:p>
            <a:pPr algn="l" marL="685866" indent="-342933" lvl="1">
              <a:lnSpc>
                <a:spcPts val="4796"/>
              </a:lnSpc>
              <a:buFont typeface="Arial"/>
              <a:buChar char="•"/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People whose presence is required for decisions</a:t>
            </a:r>
          </a:p>
          <a:p>
            <a:pPr algn="l" marL="685866" indent="-342933" lvl="1">
              <a:lnSpc>
                <a:spcPts val="4796"/>
              </a:lnSpc>
              <a:buFont typeface="Arial"/>
              <a:buChar char="•"/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eeting cannot proceed effectively without them</a:t>
            </a:r>
          </a:p>
          <a:p>
            <a:pPr algn="l">
              <a:lnSpc>
                <a:spcPts val="4796"/>
              </a:lnSpc>
            </a:pPr>
            <a:r>
              <a:rPr lang="en-US" sz="31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Example:</a:t>
            </a:r>
          </a:p>
          <a:p>
            <a:pPr algn="l">
              <a:lnSpc>
                <a:spcPts val="4796"/>
              </a:lnSpc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Projec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Manager in a decision-making meeting</a:t>
            </a:r>
          </a:p>
          <a:p>
            <a:pPr algn="l">
              <a:lnSpc>
                <a:spcPts val="479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551806" y="2759856"/>
            <a:ext cx="7517256" cy="418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6"/>
              </a:lnSpc>
            </a:pPr>
            <a:r>
              <a:rPr lang="en-US" sz="31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Optional Attendees</a:t>
            </a:r>
          </a:p>
          <a:p>
            <a:pPr algn="l" marL="685866" indent="-342933" lvl="1">
              <a:lnSpc>
                <a:spcPts val="4796"/>
              </a:lnSpc>
              <a:buFont typeface="Arial"/>
              <a:buChar char="•"/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People who may benefit from listening or cont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ributing</a:t>
            </a:r>
          </a:p>
          <a:p>
            <a:pPr algn="l" marL="685866" indent="-342933" lvl="1">
              <a:lnSpc>
                <a:spcPts val="4796"/>
              </a:lnSpc>
              <a:buFont typeface="Arial"/>
              <a:buChar char="•"/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eeting can proce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without them</a:t>
            </a:r>
          </a:p>
          <a:p>
            <a:pPr algn="l">
              <a:lnSpc>
                <a:spcPts val="4796"/>
              </a:lnSpc>
            </a:pPr>
            <a:r>
              <a:rPr lang="en-US" sz="31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Example:</a:t>
            </a:r>
          </a:p>
          <a:p>
            <a:pPr algn="l">
              <a:lnSpc>
                <a:spcPts val="4796"/>
              </a:lnSpc>
            </a:pP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Observer, trainee,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or support role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607386"/>
            <a:ext cx="16568218" cy="58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6"/>
              </a:lnSpc>
            </a:pPr>
            <a:r>
              <a:rPr lang="en-US" sz="3176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🔑 Best Practice: 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Invite only necessary people </a:t>
            </a:r>
            <a:r>
              <a:rPr lang="en-US" sz="317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 mandatory to avoid time waste.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6982" y="738837"/>
            <a:ext cx="5342318" cy="1564651"/>
          </a:xfrm>
          <a:custGeom>
            <a:avLst/>
            <a:gdLst/>
            <a:ahLst/>
            <a:cxnLst/>
            <a:rect r="r" b="b" t="t" l="l"/>
            <a:pathLst>
              <a:path h="1564651" w="5342318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35358" y="1444963"/>
            <a:ext cx="9791379" cy="67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2"/>
              </a:lnSpc>
              <a:spcBef>
                <a:spcPct val="0"/>
              </a:spcBef>
            </a:pPr>
            <a:r>
              <a:rPr lang="en-US" b="true" sz="3951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🌍 Time Zones Awareness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74591" y="2729695"/>
            <a:ext cx="14240473" cy="556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8"/>
              </a:lnSpc>
            </a:pPr>
            <a:r>
              <a:rPr lang="en-US" sz="32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Tim</a:t>
            </a:r>
            <a:r>
              <a:rPr lang="en-US" sz="32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 zone awareness </a:t>
            </a:r>
            <a:r>
              <a:rPr lang="en-US" sz="3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 critical in global or remote teams.</a:t>
            </a:r>
          </a:p>
          <a:p>
            <a:pPr algn="l" marL="706168" indent="-353084" lvl="1">
              <a:lnSpc>
                <a:spcPts val="4938"/>
              </a:lnSpc>
              <a:buFont typeface="Arial"/>
              <a:buChar char="•"/>
            </a:pPr>
            <a:r>
              <a:rPr lang="en-US" sz="3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Teams may work in different countries</a:t>
            </a:r>
          </a:p>
          <a:p>
            <a:pPr algn="l" marL="706168" indent="-353084" lvl="1">
              <a:lnSpc>
                <a:spcPts val="4938"/>
              </a:lnSpc>
              <a:buFont typeface="Arial"/>
              <a:buChar char="•"/>
            </a:pPr>
            <a:r>
              <a:rPr lang="en-US" sz="3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convenient time for one person may be late night for another</a:t>
            </a:r>
          </a:p>
          <a:p>
            <a:pPr algn="l">
              <a:lnSpc>
                <a:spcPts val="4938"/>
              </a:lnSpc>
            </a:pPr>
            <a:r>
              <a:rPr lang="en-US" sz="3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📌 Always:</a:t>
            </a:r>
          </a:p>
          <a:p>
            <a:pPr algn="l" marL="706168" indent="-353084" lvl="1">
              <a:lnSpc>
                <a:spcPts val="4938"/>
              </a:lnSpc>
              <a:buFont typeface="Arial"/>
              <a:buChar char="•"/>
            </a:pPr>
            <a:r>
              <a:rPr lang="en-US" sz="3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Mention the time zone in invites</a:t>
            </a:r>
          </a:p>
          <a:p>
            <a:pPr algn="l" marL="706168" indent="-353084" lvl="1">
              <a:lnSpc>
                <a:spcPts val="4938"/>
              </a:lnSpc>
              <a:buFont typeface="Arial"/>
              <a:buChar char="•"/>
            </a:pPr>
            <a:r>
              <a:rPr lang="en-US" sz="3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3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calendar tools to check overlaps</a:t>
            </a:r>
          </a:p>
          <a:p>
            <a:pPr algn="l">
              <a:lnSpc>
                <a:spcPts val="4938"/>
              </a:lnSpc>
            </a:pPr>
            <a:r>
              <a:rPr lang="en-US" sz="327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Example:</a:t>
            </a:r>
          </a:p>
          <a:p>
            <a:pPr algn="l">
              <a:lnSpc>
                <a:spcPts val="4938"/>
              </a:lnSpc>
            </a:pPr>
            <a:r>
              <a:rPr lang="en-US" sz="3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“3:00 PM IST / 9:30 AM GMT/ 4.30 AM EST”</a:t>
            </a:r>
          </a:p>
          <a:p>
            <a:pPr algn="l">
              <a:lnSpc>
                <a:spcPts val="4938"/>
              </a:lnSpc>
            </a:pPr>
            <a:r>
              <a:rPr lang="en-US" sz="3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🔑 Respecting time zones shows professionalism and empathy.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6982" y="738837"/>
            <a:ext cx="5342318" cy="1564651"/>
          </a:xfrm>
          <a:custGeom>
            <a:avLst/>
            <a:gdLst/>
            <a:ahLst/>
            <a:cxnLst/>
            <a:rect r="r" b="b" t="t" l="l"/>
            <a:pathLst>
              <a:path h="1564651" w="5342318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39374" y="2464391"/>
            <a:ext cx="12555043" cy="662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8"/>
              </a:lnSpc>
            </a:pPr>
            <a:r>
              <a:rPr lang="en-US" sz="2899" b="true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Buffer time is a short gap between meetings to:</a:t>
            </a:r>
          </a:p>
          <a:p>
            <a:pPr algn="l" marL="626107" indent="-313054" lvl="1">
              <a:lnSpc>
                <a:spcPts val="4378"/>
              </a:lnSpc>
              <a:buFont typeface="Arial"/>
              <a:buChar char="•"/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Take notes</a:t>
            </a:r>
          </a:p>
          <a:p>
            <a:pPr algn="l" marL="626107" indent="-313054" lvl="1">
              <a:lnSpc>
                <a:spcPts val="4378"/>
              </a:lnSpc>
              <a:buFont typeface="Arial"/>
              <a:buChar char="•"/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Prepare for the</a:t>
            </a: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 next me</a:t>
            </a: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eting</a:t>
            </a:r>
          </a:p>
          <a:p>
            <a:pPr algn="l" marL="626107" indent="-313054" lvl="1">
              <a:lnSpc>
                <a:spcPts val="4378"/>
              </a:lnSpc>
              <a:buFont typeface="Arial"/>
              <a:buChar char="•"/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Handle overruns</a:t>
            </a:r>
          </a:p>
          <a:p>
            <a:pPr algn="l">
              <a:lnSpc>
                <a:spcPts val="4378"/>
              </a:lnSpc>
            </a:pPr>
          </a:p>
          <a:p>
            <a:pPr algn="l">
              <a:lnSpc>
                <a:spcPts val="4378"/>
              </a:lnSpc>
            </a:pPr>
            <a:r>
              <a:rPr lang="en-US" sz="2899" b="true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Example:</a:t>
            </a: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 Instead of back-to-back meetings (2:00–3:00, 3:00–4:00),</a:t>
            </a:r>
          </a:p>
          <a:p>
            <a:pPr algn="l">
              <a:lnSpc>
                <a:spcPts val="4378"/>
              </a:lnSpc>
            </a:pPr>
            <a:r>
              <a:rPr lang="en-US" sz="2899" b="true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schedule: </a:t>
            </a: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2:00–2:50 and 3:00–3:50</a:t>
            </a:r>
            <a:r>
              <a:rPr lang="en-US" sz="2899" b="true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with 10 minutes as Buffer</a:t>
            </a:r>
          </a:p>
          <a:p>
            <a:pPr algn="l">
              <a:lnSpc>
                <a:spcPts val="4378"/>
              </a:lnSpc>
            </a:pPr>
          </a:p>
          <a:p>
            <a:pPr algn="l">
              <a:lnSpc>
                <a:spcPts val="4378"/>
              </a:lnSpc>
            </a:pPr>
            <a:r>
              <a:rPr lang="en-US" sz="2899" b="true">
                <a:solidFill>
                  <a:srgbClr val="020202"/>
                </a:solidFill>
                <a:latin typeface="Poppins Bold"/>
                <a:ea typeface="Poppins Bold"/>
                <a:cs typeface="Poppins Bold"/>
                <a:sym typeface="Poppins Bold"/>
              </a:rPr>
              <a:t>🔑 Why it matters:</a:t>
            </a:r>
          </a:p>
          <a:p>
            <a:pPr algn="l" marL="626107" indent="-313054" lvl="1">
              <a:lnSpc>
                <a:spcPts val="4378"/>
              </a:lnSpc>
              <a:buFont typeface="Arial"/>
              <a:buChar char="•"/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Reduces stress</a:t>
            </a:r>
          </a:p>
          <a:p>
            <a:pPr algn="l" marL="626107" indent="-313054" lvl="1">
              <a:lnSpc>
                <a:spcPts val="4378"/>
              </a:lnSpc>
              <a:buFont typeface="Arial"/>
              <a:buChar char="•"/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Improves focus</a:t>
            </a:r>
          </a:p>
          <a:p>
            <a:pPr algn="l" marL="626107" indent="-313054" lvl="1">
              <a:lnSpc>
                <a:spcPts val="4378"/>
              </a:lnSpc>
              <a:buFont typeface="Arial"/>
              <a:buChar char="•"/>
            </a:pPr>
            <a:r>
              <a:rPr lang="en-US" sz="2899">
                <a:solidFill>
                  <a:srgbClr val="020202"/>
                </a:solidFill>
                <a:latin typeface="Poppins"/>
                <a:ea typeface="Poppins"/>
                <a:cs typeface="Poppins"/>
                <a:sym typeface="Poppins"/>
              </a:rPr>
              <a:t>Allows better follow-up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3994417" y="3709171"/>
            <a:ext cx="3603173" cy="3612203"/>
          </a:xfrm>
          <a:custGeom>
            <a:avLst/>
            <a:gdLst/>
            <a:ahLst/>
            <a:cxnLst/>
            <a:rect r="r" b="b" t="t" l="l"/>
            <a:pathLst>
              <a:path h="3612203" w="3603173">
                <a:moveTo>
                  <a:pt x="0" y="0"/>
                </a:moveTo>
                <a:lnTo>
                  <a:pt x="3603172" y="0"/>
                </a:lnTo>
                <a:lnTo>
                  <a:pt x="3603172" y="3612203"/>
                </a:lnTo>
                <a:lnTo>
                  <a:pt x="0" y="36122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39374" y="1036959"/>
            <a:ext cx="10811577" cy="863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2F748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Buffer Time?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6982" y="738837"/>
            <a:ext cx="5342318" cy="1564651"/>
          </a:xfrm>
          <a:custGeom>
            <a:avLst/>
            <a:gdLst/>
            <a:ahLst/>
            <a:cxnLst/>
            <a:rect r="r" b="b" t="t" l="l"/>
            <a:pathLst>
              <a:path h="1564651" w="5342318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773510"/>
            <a:ext cx="13559441" cy="5032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0"/>
              </a:lnSpc>
            </a:pPr>
            <a:r>
              <a:rPr lang="en-US" sz="331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📝 </a:t>
            </a:r>
            <a:r>
              <a:rPr lang="en-US" sz="331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Task 1:  </a:t>
            </a:r>
            <a:r>
              <a:rPr lang="en-US" sz="331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Draft a calendar invite for a 30-minute team meeting.</a:t>
            </a:r>
          </a:p>
          <a:p>
            <a:pPr algn="l">
              <a:lnSpc>
                <a:spcPts val="5010"/>
              </a:lnSpc>
            </a:pPr>
            <a:r>
              <a:rPr lang="en-US" sz="3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Include:</a:t>
            </a:r>
          </a:p>
          <a:p>
            <a:pPr algn="l" marL="716389" indent="-358194" lvl="1">
              <a:lnSpc>
                <a:spcPts val="5010"/>
              </a:lnSpc>
              <a:buFont typeface="Arial"/>
              <a:buChar char="•"/>
            </a:pPr>
            <a:r>
              <a:rPr lang="en-US" sz="3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Clear meeting title</a:t>
            </a:r>
          </a:p>
          <a:p>
            <a:pPr algn="l" marL="716389" indent="-358194" lvl="1">
              <a:lnSpc>
                <a:spcPts val="5010"/>
              </a:lnSpc>
              <a:buFont typeface="Arial"/>
              <a:buChar char="•"/>
            </a:pPr>
            <a:r>
              <a:rPr lang="en-US" sz="3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Purpose of the meeting</a:t>
            </a:r>
          </a:p>
          <a:p>
            <a:pPr algn="l" marL="716389" indent="-358194" lvl="1">
              <a:lnSpc>
                <a:spcPts val="5010"/>
              </a:lnSpc>
              <a:buFont typeface="Arial"/>
              <a:buChar char="•"/>
            </a:pPr>
            <a:r>
              <a:rPr lang="en-US" sz="3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Date, time and duration</a:t>
            </a:r>
          </a:p>
          <a:p>
            <a:pPr algn="l" marL="716389" indent="-358194" lvl="1">
              <a:lnSpc>
                <a:spcPts val="5010"/>
              </a:lnSpc>
              <a:buFont typeface="Arial"/>
              <a:buChar char="•"/>
            </a:pPr>
            <a:r>
              <a:rPr lang="en-US" sz="3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Mandatory vs optional attendees</a:t>
            </a:r>
          </a:p>
          <a:p>
            <a:pPr algn="l" marL="716389" indent="-358194" lvl="1">
              <a:lnSpc>
                <a:spcPts val="5010"/>
              </a:lnSpc>
              <a:buFont typeface="Arial"/>
              <a:buChar char="•"/>
            </a:pPr>
            <a:r>
              <a:rPr lang="en-US" sz="331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Agenda (2–3 points)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63305" y="383965"/>
            <a:ext cx="2995998" cy="1730189"/>
          </a:xfrm>
          <a:custGeom>
            <a:avLst/>
            <a:gdLst/>
            <a:ahLst/>
            <a:cxnLst/>
            <a:rect r="r" b="b" t="t" l="l"/>
            <a:pathLst>
              <a:path h="1730189" w="2995998">
                <a:moveTo>
                  <a:pt x="0" y="0"/>
                </a:moveTo>
                <a:lnTo>
                  <a:pt x="2995998" y="0"/>
                </a:lnTo>
                <a:lnTo>
                  <a:pt x="2995998" y="1730189"/>
                </a:lnTo>
                <a:lnTo>
                  <a:pt x="0" y="17301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58800" y="4146093"/>
            <a:ext cx="3222270" cy="3222270"/>
          </a:xfrm>
          <a:custGeom>
            <a:avLst/>
            <a:gdLst/>
            <a:ahLst/>
            <a:cxnLst/>
            <a:rect r="r" b="b" t="t" l="l"/>
            <a:pathLst>
              <a:path h="3222270" w="3222270">
                <a:moveTo>
                  <a:pt x="0" y="0"/>
                </a:moveTo>
                <a:lnTo>
                  <a:pt x="3222270" y="0"/>
                </a:lnTo>
                <a:lnTo>
                  <a:pt x="3222270" y="3222270"/>
                </a:lnTo>
                <a:lnTo>
                  <a:pt x="0" y="32222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96764" y="1961754"/>
            <a:ext cx="8281792" cy="1451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4"/>
              </a:lnSpc>
            </a:pPr>
            <a:r>
              <a:rPr lang="en-US" b="true" sz="3777">
                <a:solidFill>
                  <a:srgbClr val="0C3645"/>
                </a:solidFill>
                <a:latin typeface="Poppins Bold"/>
                <a:ea typeface="Poppins Bold"/>
                <a:cs typeface="Poppins Bold"/>
                <a:sym typeface="Poppins Bold"/>
              </a:rPr>
              <a:t>Assignment 1: Create a Professional Meeting Invite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6982" y="738837"/>
            <a:ext cx="5342318" cy="1564651"/>
          </a:xfrm>
          <a:custGeom>
            <a:avLst/>
            <a:gdLst/>
            <a:ahLst/>
            <a:cxnLst/>
            <a:rect r="r" b="b" t="t" l="l"/>
            <a:pathLst>
              <a:path h="1564651" w="5342318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32631" y="3481982"/>
            <a:ext cx="4311021" cy="3788309"/>
          </a:xfrm>
          <a:custGeom>
            <a:avLst/>
            <a:gdLst/>
            <a:ahLst/>
            <a:cxnLst/>
            <a:rect r="r" b="b" t="t" l="l"/>
            <a:pathLst>
              <a:path h="3788309" w="4311021">
                <a:moveTo>
                  <a:pt x="0" y="0"/>
                </a:moveTo>
                <a:lnTo>
                  <a:pt x="4311020" y="0"/>
                </a:lnTo>
                <a:lnTo>
                  <a:pt x="4311020" y="3788310"/>
                </a:lnTo>
                <a:lnTo>
                  <a:pt x="0" y="37883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160613"/>
            <a:ext cx="9646925" cy="624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5"/>
              </a:lnSpc>
            </a:pPr>
            <a:r>
              <a:rPr lang="en-US" sz="36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Please share your</a:t>
            </a:r>
            <a:r>
              <a:rPr lang="en-US" sz="36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learnings wit</a:t>
            </a:r>
            <a:r>
              <a:rPr lang="en-US" sz="36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 </a:t>
            </a:r>
            <a:r>
              <a:rPr lang="en-US" sz="361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Ravi Gupta</a:t>
            </a:r>
            <a:r>
              <a:rPr lang="en-US" sz="36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in a brief way, following the format below:</a:t>
            </a:r>
          </a:p>
          <a:p>
            <a:pPr algn="l" marL="781428" indent="-390714" lvl="1">
              <a:lnSpc>
                <a:spcPts val="5465"/>
              </a:lnSpc>
              <a:buFont typeface="Arial"/>
              <a:buChar char="•"/>
            </a:pPr>
            <a:r>
              <a:rPr lang="en-US" b="true" sz="36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  <a:r>
              <a:rPr lang="en-US" b="true" sz="36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key learning </a:t>
            </a:r>
            <a:r>
              <a:rPr lang="en-US" sz="36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from today’s session</a:t>
            </a:r>
          </a:p>
          <a:p>
            <a:pPr algn="l" marL="781428" indent="-390714" lvl="1">
              <a:lnSpc>
                <a:spcPts val="5465"/>
              </a:lnSpc>
              <a:buFont typeface="Arial"/>
              <a:buChar char="•"/>
            </a:pPr>
            <a:r>
              <a:rPr lang="en-US" b="true" sz="36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key</a:t>
            </a:r>
            <a:r>
              <a:rPr lang="en-US" b="true" sz="36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le</a:t>
            </a:r>
            <a:r>
              <a:rPr lang="en-US" b="true" sz="36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arning </a:t>
            </a:r>
            <a:r>
              <a:rPr lang="en-US" sz="36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from yesterday’s assignment</a:t>
            </a:r>
          </a:p>
          <a:p>
            <a:pPr algn="l" marL="781428" indent="-390714" lvl="1">
              <a:lnSpc>
                <a:spcPts val="5465"/>
              </a:lnSpc>
              <a:buFont typeface="Arial"/>
              <a:buChar char="•"/>
            </a:pPr>
            <a:r>
              <a:rPr lang="en-US" b="true" sz="36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challenge </a:t>
            </a:r>
            <a:r>
              <a:rPr lang="en-US" sz="36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faced</a:t>
            </a:r>
          </a:p>
          <a:p>
            <a:pPr algn="l" marL="781428" indent="-390714" lvl="1">
              <a:lnSpc>
                <a:spcPts val="5465"/>
              </a:lnSpc>
              <a:buFont typeface="Arial"/>
              <a:buChar char="•"/>
            </a:pPr>
            <a:r>
              <a:rPr lang="en-US" b="true" sz="361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 improvement </a:t>
            </a:r>
            <a:r>
              <a:rPr lang="en-US" sz="361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 action you will apply next time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16982" y="738837"/>
            <a:ext cx="5342318" cy="1564651"/>
          </a:xfrm>
          <a:custGeom>
            <a:avLst/>
            <a:gdLst/>
            <a:ahLst/>
            <a:cxnLst/>
            <a:rect r="r" b="b" t="t" l="l"/>
            <a:pathLst>
              <a:path h="1564651" w="5342318">
                <a:moveTo>
                  <a:pt x="0" y="0"/>
                </a:moveTo>
                <a:lnTo>
                  <a:pt x="5342318" y="0"/>
                </a:lnTo>
                <a:lnTo>
                  <a:pt x="5342318" y="1564651"/>
                </a:lnTo>
                <a:lnTo>
                  <a:pt x="0" y="15646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2539" y="1425643"/>
            <a:ext cx="9439933" cy="7434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01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🙏 Thank You</a:t>
            </a:r>
          </a:p>
          <a:p>
            <a:pPr algn="l">
              <a:lnSpc>
                <a:spcPts val="4553"/>
              </a:lnSpc>
            </a:pPr>
            <a:r>
              <a:rPr lang="en-US" sz="301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</a:t>
            </a:r>
            <a:r>
              <a:rPr lang="en-US" sz="301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reat Learning tod</a:t>
            </a:r>
            <a:r>
              <a:rPr lang="en-US" sz="301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ay!</a:t>
            </a:r>
          </a:p>
          <a:p>
            <a:pPr algn="l">
              <a:lnSpc>
                <a:spcPts val="4553"/>
              </a:lnSpc>
            </a:pPr>
          </a:p>
          <a:p>
            <a:pPr algn="l">
              <a:lnSpc>
                <a:spcPts val="4553"/>
              </a:lnSpc>
            </a:pPr>
            <a:r>
              <a:rPr lang="en-US" sz="30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r>
              <a:rPr lang="en-US" sz="30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participation and reflections added</a:t>
            </a:r>
            <a:r>
              <a:rPr lang="en-US" sz="30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real value to the session.</a:t>
            </a:r>
          </a:p>
          <a:p>
            <a:pPr algn="l">
              <a:lnSpc>
                <a:spcPts val="4553"/>
              </a:lnSpc>
            </a:pPr>
          </a:p>
          <a:p>
            <a:pPr algn="l">
              <a:lnSpc>
                <a:spcPts val="4553"/>
              </a:lnSpc>
            </a:pPr>
            <a:r>
              <a:rPr lang="en-US" sz="30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🔁</a:t>
            </a:r>
            <a:r>
              <a:rPr lang="en-US" sz="30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Keep applying today’s</a:t>
            </a:r>
            <a:r>
              <a:rPr lang="en-US" sz="30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le</a:t>
            </a:r>
            <a:r>
              <a:rPr lang="en-US" sz="30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arnings in your daily communication, meetings and documentation.</a:t>
            </a:r>
          </a:p>
          <a:p>
            <a:pPr algn="l">
              <a:lnSpc>
                <a:spcPts val="4553"/>
              </a:lnSpc>
            </a:pPr>
          </a:p>
          <a:p>
            <a:pPr algn="l">
              <a:lnSpc>
                <a:spcPts val="4553"/>
              </a:lnSpc>
            </a:pPr>
            <a:r>
              <a:rPr lang="en-US" sz="30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📅</a:t>
            </a:r>
            <a:r>
              <a:rPr lang="en-US" sz="301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Day 6 – Focus Areas:</a:t>
            </a:r>
          </a:p>
          <a:p>
            <a:pPr algn="l">
              <a:lnSpc>
                <a:spcPts val="4553"/>
              </a:lnSpc>
            </a:pPr>
            <a:r>
              <a:rPr lang="en-US" sz="30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• Professional Presence</a:t>
            </a:r>
          </a:p>
          <a:p>
            <a:pPr algn="l">
              <a:lnSpc>
                <a:spcPts val="4553"/>
              </a:lnSpc>
            </a:pPr>
          </a:p>
          <a:p>
            <a:pPr algn="l">
              <a:lnSpc>
                <a:spcPts val="4553"/>
              </a:lnSpc>
            </a:pPr>
            <a:r>
              <a:rPr lang="en-US" sz="301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See you tomorrow. Keep growing! 🚀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943608" y="2982990"/>
            <a:ext cx="3289067" cy="5149224"/>
          </a:xfrm>
          <a:custGeom>
            <a:avLst/>
            <a:gdLst/>
            <a:ahLst/>
            <a:cxnLst/>
            <a:rect r="r" b="b" t="t" l="l"/>
            <a:pathLst>
              <a:path h="5149224" w="3289067">
                <a:moveTo>
                  <a:pt x="0" y="0"/>
                </a:moveTo>
                <a:lnTo>
                  <a:pt x="3289067" y="0"/>
                </a:lnTo>
                <a:lnTo>
                  <a:pt x="3289067" y="5149224"/>
                </a:lnTo>
                <a:lnTo>
                  <a:pt x="0" y="5149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DAG78Bo16zw</dc:identifier>
  <dcterms:modified xsi:type="dcterms:W3CDTF">2011-08-01T06:04:30Z</dcterms:modified>
  <cp:revision>1</cp:revision>
  <dc:title>Day 5 - Calendar and Scheduling</dc:title>
</cp:coreProperties>
</file>