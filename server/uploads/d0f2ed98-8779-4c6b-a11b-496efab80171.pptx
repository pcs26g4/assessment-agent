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10007600"/>
  <p:notesSz cx="11430000" cy="10007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73625" y="2387600"/>
            <a:ext cx="5626734" cy="1011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F1B17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50" b="0" i="0">
                <a:solidFill>
                  <a:srgbClr val="1F1B17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F1B17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750" b="0" i="0">
                <a:solidFill>
                  <a:srgbClr val="1F1B17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143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F1B17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F1B17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92125"/>
            <a:ext cx="6026150" cy="777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F1B17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3625" y="2187575"/>
            <a:ext cx="5100320" cy="2860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50" b="0" i="0">
                <a:solidFill>
                  <a:srgbClr val="1F1B17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hyperlink" Target="https://gamma.app/?utm_source=made-with-gamma" TargetMode="External"/><Relationship Id="rId8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pc="300"/>
              <a:t>Assignment</a:t>
            </a:r>
            <a:r>
              <a:rPr dirty="0" spc="180"/>
              <a:t> </a:t>
            </a:r>
            <a:r>
              <a:rPr dirty="0" spc="275"/>
              <a:t>Agent</a:t>
            </a: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650" spc="160"/>
              <a:t>Automating</a:t>
            </a:r>
            <a:r>
              <a:rPr dirty="0" sz="1650" spc="90"/>
              <a:t> </a:t>
            </a:r>
            <a:r>
              <a:rPr dirty="0" sz="1650" spc="150"/>
              <a:t>Ÿask</a:t>
            </a:r>
            <a:r>
              <a:rPr dirty="0" sz="1650" spc="95"/>
              <a:t> </a:t>
            </a:r>
            <a:r>
              <a:rPr dirty="0" sz="1650" spc="160"/>
              <a:t>Assignment</a:t>
            </a:r>
            <a:r>
              <a:rPr dirty="0" sz="1650" spc="95"/>
              <a:t> </a:t>
            </a:r>
            <a:r>
              <a:rPr dirty="0" sz="1650" spc="120"/>
              <a:t>for</a:t>
            </a:r>
            <a:r>
              <a:rPr dirty="0" sz="1650" spc="95"/>
              <a:t> </a:t>
            </a:r>
            <a:r>
              <a:rPr dirty="0" sz="1650" spc="125"/>
              <a:t>Better</a:t>
            </a:r>
            <a:r>
              <a:rPr dirty="0" sz="1650" spc="95"/>
              <a:t> </a:t>
            </a:r>
            <a:r>
              <a:rPr dirty="0" sz="1650" spc="105"/>
              <a:t>Productivity</a:t>
            </a:r>
            <a:endParaRPr sz="1650"/>
          </a:p>
        </p:txBody>
      </p:sp>
      <p:sp>
        <p:nvSpPr>
          <p:cNvPr id="3" name="object 3" descr=""/>
          <p:cNvSpPr txBox="1"/>
          <p:nvPr/>
        </p:nvSpPr>
        <p:spPr>
          <a:xfrm>
            <a:off x="4873625" y="3654425"/>
            <a:ext cx="557149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70">
                <a:solidFill>
                  <a:srgbClr val="4F4C49"/>
                </a:solidFill>
                <a:latin typeface="Verdana"/>
                <a:cs typeface="Verdana"/>
              </a:rPr>
              <a:t>CoastalSeven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Consulting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35">
                <a:solidFill>
                  <a:srgbClr val="4F4C49"/>
                </a:solidFill>
                <a:latin typeface="Verdana"/>
                <a:cs typeface="Verdana"/>
              </a:rPr>
              <a:t>|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Presented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by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Subramanian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Rajaganapathi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4" name="object 4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4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90"/>
              <a:t>Ÿodny's</a:t>
            </a:r>
            <a:r>
              <a:rPr dirty="0" spc="150"/>
              <a:t> </a:t>
            </a:r>
            <a:r>
              <a:rPr dirty="0" spc="330"/>
              <a:t>ªggndn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4398" y="1577975"/>
            <a:ext cx="2032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4F4C49"/>
                </a:solidFill>
                <a:latin typeface="Georgia"/>
                <a:cs typeface="Georgia"/>
              </a:rPr>
              <a:t>01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00075" y="1866899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3E24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7375" y="1982787"/>
            <a:ext cx="288226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5">
                <a:solidFill>
                  <a:srgbClr val="4F4C49"/>
                </a:solidFill>
                <a:latin typeface="Cambria"/>
                <a:cs typeface="Cambria"/>
              </a:rPr>
              <a:t>Background</a:t>
            </a:r>
            <a:r>
              <a:rPr dirty="0" sz="1650" spc="95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235">
                <a:solidFill>
                  <a:srgbClr val="4F4C49"/>
                </a:solidFill>
                <a:latin typeface="Cambria"/>
                <a:cs typeface="Cambria"/>
              </a:rPr>
              <a:t>&amp;</a:t>
            </a:r>
            <a:r>
              <a:rPr dirty="0" sz="1650" spc="100">
                <a:solidFill>
                  <a:srgbClr val="4F4C49"/>
                </a:solidFill>
                <a:latin typeface="Cambria"/>
                <a:cs typeface="Cambria"/>
              </a:rPr>
              <a:t> Problem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Understanding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current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assignment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challenges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34383" y="1577975"/>
            <a:ext cx="23749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4F4C49"/>
                </a:solidFill>
                <a:latin typeface="Georgia"/>
                <a:cs typeface="Georgia"/>
              </a:rPr>
              <a:t>02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067175" y="1866899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3E24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054475" y="1982787"/>
            <a:ext cx="282956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5">
                <a:solidFill>
                  <a:srgbClr val="4F4C49"/>
                </a:solidFill>
                <a:latin typeface="Cambria"/>
                <a:cs typeface="Cambria"/>
              </a:rPr>
              <a:t>Solution</a:t>
            </a:r>
            <a:r>
              <a:rPr dirty="0" sz="1650" spc="95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14">
                <a:solidFill>
                  <a:srgbClr val="4F4C49"/>
                </a:solidFill>
                <a:latin typeface="Cambria"/>
                <a:cs typeface="Cambria"/>
              </a:rPr>
              <a:t>Overview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Introducing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the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Assignment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Agent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502525" y="1577975"/>
            <a:ext cx="23558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4F4C49"/>
                </a:solidFill>
                <a:latin typeface="Georgia"/>
                <a:cs typeface="Georgia"/>
              </a:rPr>
              <a:t>03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534275" y="1866899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3E24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521575" y="1982787"/>
            <a:ext cx="280352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5">
                <a:solidFill>
                  <a:srgbClr val="4F4C49"/>
                </a:solidFill>
                <a:latin typeface="Cambria"/>
                <a:cs typeface="Cambria"/>
              </a:rPr>
              <a:t>System</a:t>
            </a:r>
            <a:r>
              <a:rPr dirty="0" sz="1650" spc="105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30">
                <a:solidFill>
                  <a:srgbClr val="4F4C49"/>
                </a:solidFill>
                <a:latin typeface="Cambria"/>
                <a:cs typeface="Cambria"/>
              </a:rPr>
              <a:t>Operation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How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intelligent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assignment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works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61632" y="3197225"/>
            <a:ext cx="24892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>
                <a:solidFill>
                  <a:srgbClr val="4F4C49"/>
                </a:solidFill>
                <a:latin typeface="Georgia"/>
                <a:cs typeface="Georgia"/>
              </a:rPr>
              <a:t>04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600075" y="3486150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3E24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587375" y="3602037"/>
            <a:ext cx="254381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>
                <a:solidFill>
                  <a:srgbClr val="4F4C49"/>
                </a:solidFill>
                <a:latin typeface="Cambria"/>
                <a:cs typeface="Cambria"/>
              </a:rPr>
              <a:t>Ÿechnical</a:t>
            </a:r>
            <a:r>
              <a:rPr dirty="0" sz="1650" spc="114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10">
                <a:solidFill>
                  <a:srgbClr val="4F4C49"/>
                </a:solidFill>
                <a:latin typeface="Cambria"/>
                <a:cs typeface="Cambria"/>
              </a:rPr>
              <a:t>Architecture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Behind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scenes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components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31551" y="3197225"/>
            <a:ext cx="243204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>
                <a:solidFill>
                  <a:srgbClr val="4F4C49"/>
                </a:solidFill>
                <a:latin typeface="Georgia"/>
                <a:cs typeface="Georgia"/>
              </a:rPr>
              <a:t>05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067175" y="3486150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3E24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054475" y="3602037"/>
            <a:ext cx="261937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25">
                <a:solidFill>
                  <a:srgbClr val="4F4C49"/>
                </a:solidFill>
                <a:latin typeface="Cambria"/>
                <a:cs typeface="Cambria"/>
              </a:rPr>
              <a:t>Business</a:t>
            </a:r>
            <a:r>
              <a:rPr dirty="0" sz="1650" spc="9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40">
                <a:solidFill>
                  <a:srgbClr val="4F4C49"/>
                </a:solidFill>
                <a:latin typeface="Cambria"/>
                <a:cs typeface="Cambria"/>
              </a:rPr>
              <a:t>Impact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Measurable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results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benefits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494930" y="3197225"/>
            <a:ext cx="25019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4F4C49"/>
                </a:solidFill>
                <a:latin typeface="Georgia"/>
                <a:cs typeface="Georgia"/>
              </a:rPr>
              <a:t>0G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7534275" y="3486150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50" y="0"/>
                </a:moveTo>
                <a:lnTo>
                  <a:pt x="0" y="0"/>
                </a:lnTo>
                <a:lnTo>
                  <a:pt x="0" y="19050"/>
                </a:lnTo>
                <a:lnTo>
                  <a:pt x="3295650" y="19050"/>
                </a:lnTo>
                <a:lnTo>
                  <a:pt x="3295650" y="0"/>
                </a:lnTo>
                <a:close/>
              </a:path>
            </a:pathLst>
          </a:custGeom>
          <a:solidFill>
            <a:srgbClr val="3E24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7521575" y="3602037"/>
            <a:ext cx="283591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0">
                <a:solidFill>
                  <a:srgbClr val="4F4C49"/>
                </a:solidFill>
                <a:latin typeface="Cambria"/>
                <a:cs typeface="Cambria"/>
              </a:rPr>
              <a:t>Challenges</a:t>
            </a:r>
            <a:r>
              <a:rPr dirty="0" sz="1650" spc="10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235">
                <a:solidFill>
                  <a:srgbClr val="4F4C49"/>
                </a:solidFill>
                <a:latin typeface="Cambria"/>
                <a:cs typeface="Cambria"/>
              </a:rPr>
              <a:t>&amp;</a:t>
            </a:r>
            <a:r>
              <a:rPr dirty="0" sz="1650" spc="10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14">
                <a:solidFill>
                  <a:srgbClr val="4F4C49"/>
                </a:solidFill>
                <a:latin typeface="Cambria"/>
                <a:cs typeface="Cambria"/>
              </a:rPr>
              <a:t>Learnings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What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we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discovered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along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the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way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600075" y="4829175"/>
            <a:ext cx="10229850" cy="19050"/>
          </a:xfrm>
          <a:custGeom>
            <a:avLst/>
            <a:gdLst/>
            <a:ahLst/>
            <a:cxnLst/>
            <a:rect l="l" t="t" r="r" b="b"/>
            <a:pathLst>
              <a:path w="10229850" h="19050">
                <a:moveTo>
                  <a:pt x="10229850" y="0"/>
                </a:moveTo>
                <a:lnTo>
                  <a:pt x="0" y="0"/>
                </a:lnTo>
                <a:lnTo>
                  <a:pt x="0" y="19050"/>
                </a:lnTo>
                <a:lnTo>
                  <a:pt x="10229850" y="19050"/>
                </a:lnTo>
                <a:lnTo>
                  <a:pt x="10229850" y="0"/>
                </a:lnTo>
                <a:close/>
              </a:path>
            </a:pathLst>
          </a:custGeom>
          <a:solidFill>
            <a:srgbClr val="3E24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570407" y="4540250"/>
            <a:ext cx="2953385" cy="1012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25">
                <a:solidFill>
                  <a:srgbClr val="4F4C49"/>
                </a:solidFill>
                <a:latin typeface="Georgia"/>
                <a:cs typeface="Georgia"/>
              </a:rPr>
              <a:t>07</a:t>
            </a:r>
            <a:endParaRPr sz="13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350">
              <a:latin typeface="Georgia"/>
              <a:cs typeface="Georgia"/>
            </a:endParaRPr>
          </a:p>
          <a:p>
            <a:pPr marL="29209">
              <a:lnSpc>
                <a:spcPct val="100000"/>
              </a:lnSpc>
            </a:pPr>
            <a:r>
              <a:rPr dirty="0" sz="1650" spc="140">
                <a:solidFill>
                  <a:srgbClr val="4F4C49"/>
                </a:solidFill>
                <a:latin typeface="Cambria"/>
                <a:cs typeface="Cambria"/>
              </a:rPr>
              <a:t>Next</a:t>
            </a:r>
            <a:r>
              <a:rPr dirty="0" sz="1650" spc="85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45">
                <a:solidFill>
                  <a:srgbClr val="4F4C49"/>
                </a:solidFill>
                <a:latin typeface="Cambria"/>
                <a:cs typeface="Cambria"/>
              </a:rPr>
              <a:t>Steps</a:t>
            </a:r>
            <a:endParaRPr sz="1650">
              <a:latin typeface="Cambria"/>
              <a:cs typeface="Cambria"/>
            </a:endParaRPr>
          </a:p>
          <a:p>
            <a:pPr marL="29209">
              <a:lnSpc>
                <a:spcPct val="100000"/>
              </a:lnSpc>
              <a:spcBef>
                <a:spcPts val="944"/>
              </a:spcBef>
            </a:pP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Future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enhancements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roadmap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3" name="object 23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20"/>
              <a:t>Ÿhe</a:t>
            </a:r>
            <a:r>
              <a:rPr dirty="0" spc="150"/>
              <a:t> </a:t>
            </a:r>
            <a:r>
              <a:rPr dirty="0" spc="240"/>
              <a:t>Challenge</a:t>
            </a:r>
            <a:r>
              <a:rPr dirty="0" spc="155"/>
              <a:t> </a:t>
            </a:r>
            <a:r>
              <a:rPr dirty="0" spc="50"/>
              <a:t>We're</a:t>
            </a:r>
            <a:r>
              <a:rPr dirty="0" spc="155"/>
              <a:t> </a:t>
            </a:r>
            <a:r>
              <a:rPr dirty="0" spc="229"/>
              <a:t>Solving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466850"/>
            <a:ext cx="4905374" cy="490537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5962650" y="30194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F4C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962650" y="36290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F4C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962650" y="39624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F4C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962650" y="42957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F4C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920930" y="1435100"/>
            <a:ext cx="4928870" cy="29933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75">
                <a:solidFill>
                  <a:srgbClr val="1F1B17"/>
                </a:solidFill>
                <a:latin typeface="Cambria"/>
                <a:cs typeface="Cambria"/>
              </a:rPr>
              <a:t>Manual</a:t>
            </a:r>
            <a:r>
              <a:rPr dirty="0" sz="2000" spc="105">
                <a:solidFill>
                  <a:srgbClr val="1F1B17"/>
                </a:solidFill>
                <a:latin typeface="Cambria"/>
                <a:cs typeface="Cambria"/>
              </a:rPr>
              <a:t> </a:t>
            </a:r>
            <a:r>
              <a:rPr dirty="0" sz="2000" spc="185">
                <a:solidFill>
                  <a:srgbClr val="1F1B17"/>
                </a:solidFill>
                <a:latin typeface="Cambria"/>
                <a:cs typeface="Cambria"/>
              </a:rPr>
              <a:t>Assignment</a:t>
            </a:r>
            <a:r>
              <a:rPr dirty="0" sz="2000" spc="110">
                <a:solidFill>
                  <a:srgbClr val="1F1B17"/>
                </a:solidFill>
                <a:latin typeface="Cambria"/>
                <a:cs typeface="Cambria"/>
              </a:rPr>
              <a:t> </a:t>
            </a:r>
            <a:r>
              <a:rPr dirty="0" sz="2000" spc="125">
                <a:solidFill>
                  <a:srgbClr val="1F1B17"/>
                </a:solidFill>
                <a:latin typeface="Cambria"/>
                <a:cs typeface="Cambria"/>
              </a:rPr>
              <a:t>Problems</a:t>
            </a:r>
            <a:endParaRPr sz="200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995"/>
              </a:spcBef>
            </a:pP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Organizations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struggle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with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inefficient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4F4C49"/>
                </a:solidFill>
                <a:latin typeface="Verdana"/>
                <a:cs typeface="Verdana"/>
              </a:rPr>
              <a:t>task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distribution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that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impacts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both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productivity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employee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satisfaction.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Key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issues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include:</a:t>
            </a:r>
            <a:endParaRPr sz="1350">
              <a:latin typeface="Verdana"/>
              <a:cs typeface="Verdana"/>
            </a:endParaRPr>
          </a:p>
          <a:p>
            <a:pPr marL="286385" marR="145415">
              <a:lnSpc>
                <a:spcPct val="134300"/>
              </a:lnSpc>
              <a:spcBef>
                <a:spcPts val="1195"/>
              </a:spcBef>
            </a:pPr>
            <a:r>
              <a:rPr dirty="0" sz="1350" spc="-65">
                <a:solidFill>
                  <a:srgbClr val="4F4C49"/>
                </a:solidFill>
                <a:latin typeface="Arial Black"/>
                <a:cs typeface="Arial Black"/>
              </a:rPr>
              <a:t>Manual</a:t>
            </a:r>
            <a:r>
              <a:rPr dirty="0" sz="1350" spc="-11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120">
                <a:solidFill>
                  <a:srgbClr val="4F4C49"/>
                </a:solidFill>
                <a:latin typeface="Arial Black"/>
                <a:cs typeface="Arial Black"/>
              </a:rPr>
              <a:t>task</a:t>
            </a:r>
            <a:r>
              <a:rPr dirty="0" sz="1350" spc="-11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100">
                <a:solidFill>
                  <a:srgbClr val="4F4C49"/>
                </a:solidFill>
                <a:latin typeface="Arial Black"/>
                <a:cs typeface="Arial Black"/>
              </a:rPr>
              <a:t>assignment</a:t>
            </a:r>
            <a:r>
              <a:rPr dirty="0" sz="1350" spc="-7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consuming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valuable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manager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time</a:t>
            </a:r>
            <a:endParaRPr sz="1350">
              <a:latin typeface="Verdana"/>
              <a:cs typeface="Verdana"/>
            </a:endParaRPr>
          </a:p>
          <a:p>
            <a:pPr marL="286385" marR="275590">
              <a:lnSpc>
                <a:spcPct val="162000"/>
              </a:lnSpc>
              <a:spcBef>
                <a:spcPts val="5"/>
              </a:spcBef>
            </a:pPr>
            <a:r>
              <a:rPr dirty="0" sz="1350" spc="-105">
                <a:solidFill>
                  <a:srgbClr val="4F4C49"/>
                </a:solidFill>
                <a:latin typeface="Arial Black"/>
                <a:cs typeface="Arial Black"/>
              </a:rPr>
              <a:t>Uneven</a:t>
            </a:r>
            <a:r>
              <a:rPr dirty="0" sz="1350" spc="-11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Arial Black"/>
                <a:cs typeface="Arial Black"/>
              </a:rPr>
              <a:t>workload</a:t>
            </a:r>
            <a:r>
              <a:rPr dirty="0" sz="1350" spc="-105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Arial Black"/>
                <a:cs typeface="Arial Black"/>
              </a:rPr>
              <a:t>distribution</a:t>
            </a:r>
            <a:r>
              <a:rPr dirty="0" sz="1350" spc="-7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across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team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members </a:t>
            </a:r>
            <a:r>
              <a:rPr dirty="0" sz="1350" spc="-95">
                <a:solidFill>
                  <a:srgbClr val="4F4C49"/>
                </a:solidFill>
                <a:latin typeface="Arial Black"/>
                <a:cs typeface="Arial Black"/>
              </a:rPr>
              <a:t>Assignment</a:t>
            </a:r>
            <a:r>
              <a:rPr dirty="0" sz="1350" spc="-125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110">
                <a:solidFill>
                  <a:srgbClr val="4F4C49"/>
                </a:solidFill>
                <a:latin typeface="Arial Black"/>
                <a:cs typeface="Arial Black"/>
              </a:rPr>
              <a:t>delays</a:t>
            </a:r>
            <a:r>
              <a:rPr dirty="0" sz="1350" spc="-9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due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to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incorrect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matching </a:t>
            </a:r>
            <a:r>
              <a:rPr dirty="0" sz="1350" spc="-65">
                <a:solidFill>
                  <a:srgbClr val="4F4C49"/>
                </a:solidFill>
                <a:latin typeface="Arial Black"/>
                <a:cs typeface="Arial Black"/>
              </a:rPr>
              <a:t>Limited</a:t>
            </a:r>
            <a:r>
              <a:rPr dirty="0" sz="1350" spc="-114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65">
                <a:solidFill>
                  <a:srgbClr val="4F4C49"/>
                </a:solidFill>
                <a:latin typeface="Arial Black"/>
                <a:cs typeface="Arial Black"/>
              </a:rPr>
              <a:t>real-time</a:t>
            </a:r>
            <a:r>
              <a:rPr dirty="0" sz="1350" spc="-114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Arial Black"/>
                <a:cs typeface="Arial Black"/>
              </a:rPr>
              <a:t>visibility</a:t>
            </a:r>
            <a:r>
              <a:rPr dirty="0" sz="1350" spc="-8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into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team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capacity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00075" y="6753225"/>
            <a:ext cx="10229850" cy="1304925"/>
            <a:chOff x="600075" y="6753225"/>
            <a:chExt cx="10229850" cy="1304925"/>
          </a:xfrm>
        </p:grpSpPr>
        <p:sp>
          <p:nvSpPr>
            <p:cNvPr id="10" name="object 10" descr=""/>
            <p:cNvSpPr/>
            <p:nvPr/>
          </p:nvSpPr>
          <p:spPr>
            <a:xfrm>
              <a:off x="609600" y="6762750"/>
              <a:ext cx="10210800" cy="1285875"/>
            </a:xfrm>
            <a:custGeom>
              <a:avLst/>
              <a:gdLst/>
              <a:ahLst/>
              <a:cxnLst/>
              <a:rect l="l" t="t" r="r" b="b"/>
              <a:pathLst>
                <a:path w="10210800" h="1285875">
                  <a:moveTo>
                    <a:pt x="10202176" y="0"/>
                  </a:moveTo>
                  <a:lnTo>
                    <a:pt x="8616" y="0"/>
                  </a:lnTo>
                  <a:lnTo>
                    <a:pt x="5814" y="1155"/>
                  </a:lnTo>
                  <a:lnTo>
                    <a:pt x="1160" y="5803"/>
                  </a:lnTo>
                  <a:lnTo>
                    <a:pt x="0" y="8623"/>
                  </a:lnTo>
                  <a:lnTo>
                    <a:pt x="0" y="1273968"/>
                  </a:lnTo>
                  <a:lnTo>
                    <a:pt x="0" y="1277258"/>
                  </a:lnTo>
                  <a:lnTo>
                    <a:pt x="1160" y="1280060"/>
                  </a:lnTo>
                  <a:lnTo>
                    <a:pt x="5814" y="1284709"/>
                  </a:lnTo>
                  <a:lnTo>
                    <a:pt x="8616" y="1285875"/>
                  </a:lnTo>
                  <a:lnTo>
                    <a:pt x="10202176" y="1285875"/>
                  </a:lnTo>
                  <a:lnTo>
                    <a:pt x="10204983" y="1284709"/>
                  </a:lnTo>
                  <a:lnTo>
                    <a:pt x="10209631" y="1280060"/>
                  </a:lnTo>
                  <a:lnTo>
                    <a:pt x="10210800" y="1277258"/>
                  </a:lnTo>
                  <a:lnTo>
                    <a:pt x="10210800" y="8623"/>
                  </a:lnTo>
                  <a:lnTo>
                    <a:pt x="10209631" y="5803"/>
                  </a:lnTo>
                  <a:lnTo>
                    <a:pt x="10204983" y="1155"/>
                  </a:lnTo>
                  <a:lnTo>
                    <a:pt x="102021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09600" y="6762750"/>
              <a:ext cx="10210800" cy="1285875"/>
            </a:xfrm>
            <a:custGeom>
              <a:avLst/>
              <a:gdLst/>
              <a:ahLst/>
              <a:cxnLst/>
              <a:rect l="l" t="t" r="r" b="b"/>
              <a:pathLst>
                <a:path w="10210800" h="1285875">
                  <a:moveTo>
                    <a:pt x="0" y="1273968"/>
                  </a:moveTo>
                  <a:lnTo>
                    <a:pt x="0" y="11899"/>
                  </a:lnTo>
                  <a:lnTo>
                    <a:pt x="0" y="8623"/>
                  </a:lnTo>
                  <a:lnTo>
                    <a:pt x="1160" y="5803"/>
                  </a:lnTo>
                  <a:lnTo>
                    <a:pt x="3487" y="3492"/>
                  </a:lnTo>
                  <a:lnTo>
                    <a:pt x="5814" y="1155"/>
                  </a:lnTo>
                  <a:lnTo>
                    <a:pt x="8616" y="0"/>
                  </a:lnTo>
                  <a:lnTo>
                    <a:pt x="11906" y="0"/>
                  </a:lnTo>
                  <a:lnTo>
                    <a:pt x="10198900" y="0"/>
                  </a:lnTo>
                  <a:lnTo>
                    <a:pt x="10202176" y="0"/>
                  </a:lnTo>
                  <a:lnTo>
                    <a:pt x="10204983" y="1155"/>
                  </a:lnTo>
                  <a:lnTo>
                    <a:pt x="10207307" y="3492"/>
                  </a:lnTo>
                  <a:lnTo>
                    <a:pt x="10209631" y="5803"/>
                  </a:lnTo>
                  <a:lnTo>
                    <a:pt x="10210800" y="8623"/>
                  </a:lnTo>
                  <a:lnTo>
                    <a:pt x="10210800" y="11899"/>
                  </a:lnTo>
                  <a:lnTo>
                    <a:pt x="10210800" y="1273968"/>
                  </a:lnTo>
                  <a:lnTo>
                    <a:pt x="10210800" y="1277258"/>
                  </a:lnTo>
                  <a:lnTo>
                    <a:pt x="10209631" y="1280060"/>
                  </a:lnTo>
                  <a:lnTo>
                    <a:pt x="10207307" y="1282387"/>
                  </a:lnTo>
                  <a:lnTo>
                    <a:pt x="10204983" y="1284709"/>
                  </a:lnTo>
                  <a:lnTo>
                    <a:pt x="10202176" y="1285875"/>
                  </a:lnTo>
                  <a:lnTo>
                    <a:pt x="10198900" y="1285875"/>
                  </a:lnTo>
                  <a:lnTo>
                    <a:pt x="11906" y="1285875"/>
                  </a:lnTo>
                  <a:lnTo>
                    <a:pt x="8616" y="1285875"/>
                  </a:lnTo>
                  <a:lnTo>
                    <a:pt x="5814" y="1284709"/>
                  </a:lnTo>
                  <a:lnTo>
                    <a:pt x="3487" y="1282387"/>
                  </a:lnTo>
                  <a:lnTo>
                    <a:pt x="1160" y="1280060"/>
                  </a:lnTo>
                  <a:lnTo>
                    <a:pt x="0" y="1277258"/>
                  </a:lnTo>
                  <a:lnTo>
                    <a:pt x="0" y="1273968"/>
                  </a:lnTo>
                  <a:close/>
                </a:path>
              </a:pathLst>
            </a:custGeom>
            <a:ln w="19050">
              <a:solidFill>
                <a:srgbClr val="D8D4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77875" y="6935787"/>
            <a:ext cx="920242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>
                <a:solidFill>
                  <a:srgbClr val="4F4C49"/>
                </a:solidFill>
                <a:latin typeface="Cambria"/>
                <a:cs typeface="Cambria"/>
              </a:rPr>
              <a:t>Real-</a:t>
            </a:r>
            <a:r>
              <a:rPr dirty="0" sz="1650" spc="120">
                <a:solidFill>
                  <a:srgbClr val="4F4C49"/>
                </a:solidFill>
                <a:latin typeface="Cambria"/>
                <a:cs typeface="Cambria"/>
              </a:rPr>
              <a:t>World</a:t>
            </a:r>
            <a:r>
              <a:rPr dirty="0" sz="1650" spc="8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20">
                <a:solidFill>
                  <a:srgbClr val="4F4C49"/>
                </a:solidFill>
                <a:latin typeface="Cambria"/>
                <a:cs typeface="Cambria"/>
              </a:rPr>
              <a:t>Scenario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One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employee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is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overloaded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with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urgent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tasks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while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another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sits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idle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waiting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for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work.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Managers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lack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tools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to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balance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workload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effectively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in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real-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time.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3" name="object 13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80200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2635250"/>
            <a:ext cx="48768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90"/>
              <a:t>Our</a:t>
            </a:r>
            <a:r>
              <a:rPr dirty="0" spc="150"/>
              <a:t> </a:t>
            </a:r>
            <a:r>
              <a:rPr dirty="0" spc="260"/>
              <a:t>Solution</a:t>
            </a:r>
            <a:r>
              <a:rPr dirty="0" spc="155"/>
              <a:t> </a:t>
            </a:r>
            <a:r>
              <a:rPr dirty="0" spc="235"/>
              <a:t>Approach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600075" y="3409950"/>
            <a:ext cx="10229850" cy="1038225"/>
          </a:xfrm>
          <a:custGeom>
            <a:avLst/>
            <a:gdLst/>
            <a:ahLst/>
            <a:cxnLst/>
            <a:rect l="l" t="t" r="r" b="b"/>
            <a:pathLst>
              <a:path w="10229850" h="1038225">
                <a:moveTo>
                  <a:pt x="1021125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1016800"/>
                </a:lnTo>
                <a:lnTo>
                  <a:pt x="0" y="1019632"/>
                </a:lnTo>
                <a:lnTo>
                  <a:pt x="18588" y="1038225"/>
                </a:lnTo>
                <a:lnTo>
                  <a:pt x="10211257" y="1038225"/>
                </a:lnTo>
                <a:lnTo>
                  <a:pt x="10229850" y="1019632"/>
                </a:lnTo>
                <a:lnTo>
                  <a:pt x="10229850" y="18592"/>
                </a:lnTo>
                <a:lnTo>
                  <a:pt x="10214000" y="546"/>
                </a:lnTo>
                <a:lnTo>
                  <a:pt x="10211257" y="0"/>
                </a:lnTo>
                <a:close/>
              </a:path>
            </a:pathLst>
          </a:custGeom>
          <a:solidFill>
            <a:srgbClr val="998A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58825" y="3398202"/>
            <a:ext cx="9117965" cy="840105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000" spc="120">
                <a:solidFill>
                  <a:srgbClr val="FFFFFF"/>
                </a:solidFill>
                <a:latin typeface="Cambria"/>
                <a:cs typeface="Cambria"/>
              </a:rPr>
              <a:t>Intelligent </a:t>
            </a:r>
            <a:r>
              <a:rPr dirty="0" sz="2000" spc="185">
                <a:solidFill>
                  <a:srgbClr val="FFFFFF"/>
                </a:solidFill>
                <a:latin typeface="Cambria"/>
                <a:cs typeface="Cambria"/>
              </a:rPr>
              <a:t>Assignment</a:t>
            </a:r>
            <a:r>
              <a:rPr dirty="0" sz="20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000" spc="170">
                <a:solidFill>
                  <a:srgbClr val="FFFFFF"/>
                </a:solidFill>
                <a:latin typeface="Cambria"/>
                <a:cs typeface="Cambria"/>
              </a:rPr>
              <a:t>Agent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350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dirty="0" sz="135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FFFFFF"/>
                </a:solidFill>
                <a:latin typeface="Verdana"/>
                <a:cs typeface="Verdana"/>
              </a:rPr>
              <a:t>automated</a:t>
            </a:r>
            <a:r>
              <a:rPr dirty="0" sz="135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FFFFFF"/>
                </a:solidFill>
                <a:latin typeface="Verdana"/>
                <a:cs typeface="Verdana"/>
              </a:rPr>
              <a:t>system</a:t>
            </a:r>
            <a:r>
              <a:rPr dirty="0" sz="135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FFFFFF"/>
                </a:solidFill>
                <a:latin typeface="Verdana"/>
                <a:cs typeface="Verdana"/>
              </a:rPr>
              <a:t>that</a:t>
            </a:r>
            <a:r>
              <a:rPr dirty="0" sz="135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Verdana"/>
                <a:cs typeface="Verdana"/>
              </a:rPr>
              <a:t>intelligently</a:t>
            </a:r>
            <a:r>
              <a:rPr dirty="0" sz="135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FFFFFF"/>
                </a:solidFill>
                <a:latin typeface="Verdana"/>
                <a:cs typeface="Verdana"/>
              </a:rPr>
              <a:t>assigns</a:t>
            </a:r>
            <a:r>
              <a:rPr dirty="0" sz="135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FFFFFF"/>
                </a:solidFill>
                <a:latin typeface="Verdana"/>
                <a:cs typeface="Verdana"/>
              </a:rPr>
              <a:t>tasks</a:t>
            </a:r>
            <a:r>
              <a:rPr dirty="0" sz="135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dirty="0" sz="135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dirty="0" sz="135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FFFFFF"/>
                </a:solidFill>
                <a:latin typeface="Verdana"/>
                <a:cs typeface="Verdana"/>
              </a:rPr>
              <a:t>comprehensive</a:t>
            </a:r>
            <a:r>
              <a:rPr dirty="0" sz="135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FFFFFF"/>
                </a:solidFill>
                <a:latin typeface="Verdana"/>
                <a:cs typeface="Verdana"/>
              </a:rPr>
              <a:t>employee</a:t>
            </a:r>
            <a:r>
              <a:rPr dirty="0" sz="135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dirty="0" sz="135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FFFFFF"/>
                </a:solidFill>
                <a:latin typeface="Verdana"/>
                <a:cs typeface="Verdana"/>
              </a:rPr>
              <a:t>business</a:t>
            </a:r>
            <a:r>
              <a:rPr dirty="0" sz="135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Verdana"/>
                <a:cs typeface="Verdana"/>
              </a:rPr>
              <a:t>rules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7375" y="4802187"/>
            <a:ext cx="2945765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25">
                <a:solidFill>
                  <a:srgbClr val="1F1B17"/>
                </a:solidFill>
                <a:latin typeface="Cambria"/>
                <a:cs typeface="Cambria"/>
              </a:rPr>
              <a:t>Considers</a:t>
            </a:r>
            <a:r>
              <a:rPr dirty="0" sz="1650" spc="110">
                <a:solidFill>
                  <a:srgbClr val="1F1B17"/>
                </a:solidFill>
                <a:latin typeface="Cambria"/>
                <a:cs typeface="Cambria"/>
              </a:rPr>
              <a:t> </a:t>
            </a:r>
            <a:r>
              <a:rPr dirty="0" sz="1650" spc="114">
                <a:solidFill>
                  <a:srgbClr val="1F1B17"/>
                </a:solidFill>
                <a:latin typeface="Cambria"/>
                <a:cs typeface="Cambria"/>
              </a:rPr>
              <a:t>Skills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Matches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4F4C49"/>
                </a:solidFill>
                <a:latin typeface="Verdana"/>
                <a:cs typeface="Verdana"/>
              </a:rPr>
              <a:t>task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requirements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with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employee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capabilities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8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expertise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10735" y="4802187"/>
            <a:ext cx="2623185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0">
                <a:solidFill>
                  <a:srgbClr val="1F1B17"/>
                </a:solidFill>
                <a:latin typeface="Cambria"/>
                <a:cs typeface="Cambria"/>
              </a:rPr>
              <a:t>Checks</a:t>
            </a:r>
            <a:r>
              <a:rPr dirty="0" sz="1650" spc="105">
                <a:solidFill>
                  <a:srgbClr val="1F1B17"/>
                </a:solidFill>
                <a:latin typeface="Cambria"/>
                <a:cs typeface="Cambria"/>
              </a:rPr>
              <a:t> </a:t>
            </a:r>
            <a:r>
              <a:rPr dirty="0" sz="1650" spc="90">
                <a:solidFill>
                  <a:srgbClr val="1F1B17"/>
                </a:solidFill>
                <a:latin typeface="Cambria"/>
                <a:cs typeface="Cambria"/>
              </a:rPr>
              <a:t>Availability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Evaluates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current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workload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and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capacity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in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real-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time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634084" y="4802187"/>
            <a:ext cx="2987675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5">
                <a:solidFill>
                  <a:srgbClr val="1F1B17"/>
                </a:solidFill>
                <a:latin typeface="Cambria"/>
                <a:cs typeface="Cambria"/>
              </a:rPr>
              <a:t>Respects</a:t>
            </a:r>
            <a:r>
              <a:rPr dirty="0" sz="1650" spc="114">
                <a:solidFill>
                  <a:srgbClr val="1F1B17"/>
                </a:solidFill>
                <a:latin typeface="Cambria"/>
                <a:cs typeface="Cambria"/>
              </a:rPr>
              <a:t> </a:t>
            </a:r>
            <a:r>
              <a:rPr dirty="0" sz="1650" spc="90">
                <a:solidFill>
                  <a:srgbClr val="1F1B17"/>
                </a:solidFill>
                <a:latin typeface="Cambria"/>
                <a:cs typeface="Cambria"/>
              </a:rPr>
              <a:t>Priority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Ensures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urgent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tasks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reach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qualified 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team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members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first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44550" y="6350000"/>
            <a:ext cx="360807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85">
                <a:solidFill>
                  <a:srgbClr val="4F4C49"/>
                </a:solidFill>
                <a:latin typeface="Arial Black"/>
                <a:cs typeface="Arial Black"/>
              </a:rPr>
              <a:t>Goal:</a:t>
            </a:r>
            <a:r>
              <a:rPr dirty="0" sz="1350" spc="-11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Right</a:t>
            </a:r>
            <a:r>
              <a:rPr dirty="0" sz="1350" spc="-13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4F4C49"/>
                </a:solidFill>
                <a:latin typeface="Verdana"/>
                <a:cs typeface="Verdana"/>
              </a:rPr>
              <a:t>task</a:t>
            </a:r>
            <a:r>
              <a:rPr dirty="0" sz="1350" spc="-13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S</a:t>
            </a:r>
            <a:r>
              <a:rPr dirty="0" sz="1350" spc="-13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Right</a:t>
            </a:r>
            <a:r>
              <a:rPr dirty="0" sz="1350" spc="-13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person</a:t>
            </a:r>
            <a:r>
              <a:rPr dirty="0" sz="1350" spc="-13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S</a:t>
            </a:r>
            <a:r>
              <a:rPr dirty="0" sz="1350" spc="-13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Right</a:t>
            </a:r>
            <a:r>
              <a:rPr dirty="0" sz="1350" spc="-13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time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00075" y="6153151"/>
            <a:ext cx="19050" cy="657225"/>
          </a:xfrm>
          <a:custGeom>
            <a:avLst/>
            <a:gdLst/>
            <a:ahLst/>
            <a:cxnLst/>
            <a:rect l="l" t="t" r="r" b="b"/>
            <a:pathLst>
              <a:path w="19050" h="657225">
                <a:moveTo>
                  <a:pt x="19050" y="0"/>
                </a:moveTo>
                <a:lnTo>
                  <a:pt x="0" y="0"/>
                </a:lnTo>
                <a:lnTo>
                  <a:pt x="0" y="657225"/>
                </a:lnTo>
                <a:lnTo>
                  <a:pt x="19050" y="657225"/>
                </a:lnTo>
                <a:lnTo>
                  <a:pt x="19050" y="0"/>
                </a:lnTo>
                <a:close/>
              </a:path>
            </a:pathLst>
          </a:custGeom>
          <a:solidFill>
            <a:srgbClr val="3E241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7642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80"/>
              <a:t>How</a:t>
            </a:r>
            <a:r>
              <a:rPr dirty="0" spc="155"/>
              <a:t> </a:t>
            </a:r>
            <a:r>
              <a:rPr dirty="0" spc="285"/>
              <a:t>the</a:t>
            </a:r>
            <a:r>
              <a:rPr dirty="0" spc="155"/>
              <a:t> </a:t>
            </a:r>
            <a:r>
              <a:rPr dirty="0" spc="295"/>
              <a:t>System</a:t>
            </a:r>
            <a:r>
              <a:rPr dirty="0" spc="155"/>
              <a:t> </a:t>
            </a:r>
            <a:r>
              <a:rPr dirty="0" spc="270"/>
              <a:t>Works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00075" y="1352549"/>
            <a:ext cx="857250" cy="5143500"/>
            <a:chOff x="600075" y="1352549"/>
            <a:chExt cx="857250" cy="5143500"/>
          </a:xfrm>
        </p:grpSpPr>
        <p:sp>
          <p:nvSpPr>
            <p:cNvPr id="4" name="object 4" descr=""/>
            <p:cNvSpPr/>
            <p:nvPr/>
          </p:nvSpPr>
          <p:spPr>
            <a:xfrm>
              <a:off x="600075" y="13525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1334" y="1737378"/>
              <a:ext cx="224256" cy="26856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00075" y="23812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0395" y="2766120"/>
              <a:ext cx="265999" cy="268523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00075" y="34099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0098" y="3794778"/>
              <a:ext cx="226727" cy="268568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00075" y="44386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9179" y="4837385"/>
              <a:ext cx="268565" cy="24073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00075" y="54673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1"/>
                  </a:lnTo>
                  <a:lnTo>
                    <a:pt x="428625" y="1028701"/>
                  </a:lnTo>
                  <a:lnTo>
                    <a:pt x="857250" y="857251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8114" y="5852180"/>
              <a:ext cx="230719" cy="268566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616075" y="1516062"/>
            <a:ext cx="7271384" cy="47320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0">
                <a:solidFill>
                  <a:srgbClr val="4F4C49"/>
                </a:solidFill>
                <a:latin typeface="Cambria"/>
                <a:cs typeface="Cambria"/>
              </a:rPr>
              <a:t>Ÿask</a:t>
            </a:r>
            <a:r>
              <a:rPr dirty="0" sz="1650" spc="95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05">
                <a:solidFill>
                  <a:srgbClr val="4F4C49"/>
                </a:solidFill>
                <a:latin typeface="Cambria"/>
                <a:cs typeface="Cambria"/>
              </a:rPr>
              <a:t>Created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A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new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4F4C49"/>
                </a:solidFill>
                <a:latin typeface="Verdana"/>
                <a:cs typeface="Verdana"/>
              </a:rPr>
              <a:t>task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enters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4F4C49"/>
                </a:solidFill>
                <a:latin typeface="Verdana"/>
                <a:cs typeface="Verdana"/>
              </a:rPr>
              <a:t>system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with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requirements,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priority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level,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deadline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information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650" spc="155">
                <a:solidFill>
                  <a:srgbClr val="4F4C49"/>
                </a:solidFill>
                <a:latin typeface="Cambria"/>
                <a:cs typeface="Cambria"/>
              </a:rPr>
              <a:t>Agent</a:t>
            </a:r>
            <a:r>
              <a:rPr dirty="0" sz="1650" spc="8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35">
                <a:solidFill>
                  <a:srgbClr val="4F4C49"/>
                </a:solidFill>
                <a:latin typeface="Cambria"/>
                <a:cs typeface="Cambria"/>
              </a:rPr>
              <a:t>Analyzes</a:t>
            </a:r>
            <a:r>
              <a:rPr dirty="0" sz="1650" spc="85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50">
                <a:solidFill>
                  <a:srgbClr val="4F4C49"/>
                </a:solidFill>
                <a:latin typeface="Cambria"/>
                <a:cs typeface="Cambria"/>
              </a:rPr>
              <a:t>Data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4F4C49"/>
                </a:solidFill>
                <a:latin typeface="Verdana"/>
                <a:cs typeface="Verdana"/>
              </a:rPr>
              <a:t>system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reviews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employee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profiles,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skills,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current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workload,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availability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50" spc="140">
                <a:solidFill>
                  <a:srgbClr val="4F4C49"/>
                </a:solidFill>
                <a:latin typeface="Cambria"/>
                <a:cs typeface="Cambria"/>
              </a:rPr>
              <a:t>Scoring</a:t>
            </a:r>
            <a:r>
              <a:rPr dirty="0" sz="1650" spc="8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05">
                <a:solidFill>
                  <a:srgbClr val="4F4C49"/>
                </a:solidFill>
                <a:latin typeface="Cambria"/>
                <a:cs typeface="Cambria"/>
              </a:rPr>
              <a:t>Logic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Advanced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algorithms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calculate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the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4F4C49"/>
                </a:solidFill>
                <a:latin typeface="Verdana"/>
                <a:cs typeface="Verdana"/>
              </a:rPr>
              <a:t>best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match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4F4C49"/>
                </a:solidFill>
                <a:latin typeface="Verdana"/>
                <a:cs typeface="Verdana"/>
              </a:rPr>
              <a:t>based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on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multiple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weighted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criteria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650" spc="150">
                <a:solidFill>
                  <a:srgbClr val="4F4C49"/>
                </a:solidFill>
                <a:latin typeface="Cambria"/>
                <a:cs typeface="Cambria"/>
              </a:rPr>
              <a:t>Automatic</a:t>
            </a:r>
            <a:r>
              <a:rPr dirty="0" sz="1650" spc="11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50">
                <a:solidFill>
                  <a:srgbClr val="4F4C49"/>
                </a:solidFill>
                <a:latin typeface="Cambria"/>
                <a:cs typeface="Cambria"/>
              </a:rPr>
              <a:t>Assignment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65">
                <a:solidFill>
                  <a:srgbClr val="4F4C49"/>
                </a:solidFill>
                <a:latin typeface="Verdana"/>
                <a:cs typeface="Verdana"/>
              </a:rPr>
              <a:t>Task</a:t>
            </a:r>
            <a:r>
              <a:rPr dirty="0" sz="1350" spc="-12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is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assigned</a:t>
            </a:r>
            <a:r>
              <a:rPr dirty="0" sz="1350" spc="-12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to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the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optimal</a:t>
            </a:r>
            <a:r>
              <a:rPr dirty="0" sz="1350" spc="-12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employee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2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notifications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are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sent</a:t>
            </a:r>
            <a:r>
              <a:rPr dirty="0" sz="1350" spc="-12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instantly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650" spc="155">
                <a:solidFill>
                  <a:srgbClr val="4F4C49"/>
                </a:solidFill>
                <a:latin typeface="Cambria"/>
                <a:cs typeface="Cambria"/>
              </a:rPr>
              <a:t>Manager</a:t>
            </a:r>
            <a:r>
              <a:rPr dirty="0" sz="1650" spc="8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00">
                <a:solidFill>
                  <a:srgbClr val="4F4C49"/>
                </a:solidFill>
                <a:latin typeface="Cambria"/>
                <a:cs typeface="Cambria"/>
              </a:rPr>
              <a:t>Override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Managers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retain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ability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to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manually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reassign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or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adjust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if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business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needs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require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it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5" name="object 15" descr="">
            <a:hlinkClick r:id="rId7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80244" y="64594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95"/>
              <a:t>System</a:t>
            </a:r>
            <a:r>
              <a:rPr dirty="0" spc="150"/>
              <a:t> </a:t>
            </a:r>
            <a:r>
              <a:rPr dirty="0" spc="210"/>
              <a:t>Architecture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031587" y="1352549"/>
            <a:ext cx="876300" cy="6000750"/>
            <a:chOff x="5031587" y="1352549"/>
            <a:chExt cx="876300" cy="6000750"/>
          </a:xfrm>
        </p:grpSpPr>
        <p:sp>
          <p:nvSpPr>
            <p:cNvPr id="4" name="object 4" descr=""/>
            <p:cNvSpPr/>
            <p:nvPr/>
          </p:nvSpPr>
          <p:spPr>
            <a:xfrm>
              <a:off x="5031588" y="1352549"/>
              <a:ext cx="693420" cy="6001385"/>
            </a:xfrm>
            <a:custGeom>
              <a:avLst/>
              <a:gdLst/>
              <a:ahLst/>
              <a:cxnLst/>
              <a:rect l="l" t="t" r="r" b="b"/>
              <a:pathLst>
                <a:path w="693420" h="6001384">
                  <a:moveTo>
                    <a:pt x="514350" y="187871"/>
                  </a:moveTo>
                  <a:lnTo>
                    <a:pt x="513410" y="185623"/>
                  </a:lnTo>
                  <a:lnTo>
                    <a:pt x="509689" y="181902"/>
                  </a:lnTo>
                  <a:lnTo>
                    <a:pt x="507453" y="180975"/>
                  </a:lnTo>
                  <a:lnTo>
                    <a:pt x="6883" y="180975"/>
                  </a:lnTo>
                  <a:lnTo>
                    <a:pt x="4648" y="181902"/>
                  </a:lnTo>
                  <a:lnTo>
                    <a:pt x="927" y="185623"/>
                  </a:lnTo>
                  <a:lnTo>
                    <a:pt x="0" y="187871"/>
                  </a:lnTo>
                  <a:lnTo>
                    <a:pt x="0" y="190500"/>
                  </a:lnTo>
                  <a:lnTo>
                    <a:pt x="0" y="193128"/>
                  </a:lnTo>
                  <a:lnTo>
                    <a:pt x="927" y="195376"/>
                  </a:lnTo>
                  <a:lnTo>
                    <a:pt x="4648" y="199097"/>
                  </a:lnTo>
                  <a:lnTo>
                    <a:pt x="6883" y="200025"/>
                  </a:lnTo>
                  <a:lnTo>
                    <a:pt x="507453" y="200025"/>
                  </a:lnTo>
                  <a:lnTo>
                    <a:pt x="509689" y="199097"/>
                  </a:lnTo>
                  <a:lnTo>
                    <a:pt x="513410" y="195376"/>
                  </a:lnTo>
                  <a:lnTo>
                    <a:pt x="514350" y="193128"/>
                  </a:lnTo>
                  <a:lnTo>
                    <a:pt x="514350" y="187871"/>
                  </a:lnTo>
                  <a:close/>
                </a:path>
                <a:path w="693420" h="6001384">
                  <a:moveTo>
                    <a:pt x="692937" y="6896"/>
                  </a:moveTo>
                  <a:lnTo>
                    <a:pt x="692010" y="4648"/>
                  </a:lnTo>
                  <a:lnTo>
                    <a:pt x="688289" y="927"/>
                  </a:lnTo>
                  <a:lnTo>
                    <a:pt x="686041" y="0"/>
                  </a:lnTo>
                  <a:lnTo>
                    <a:pt x="680783" y="0"/>
                  </a:lnTo>
                  <a:lnTo>
                    <a:pt x="678535" y="927"/>
                  </a:lnTo>
                  <a:lnTo>
                    <a:pt x="674801" y="4648"/>
                  </a:lnTo>
                  <a:lnTo>
                    <a:pt x="673887" y="6896"/>
                  </a:lnTo>
                  <a:lnTo>
                    <a:pt x="673887" y="5991237"/>
                  </a:lnTo>
                  <a:lnTo>
                    <a:pt x="673887" y="5993866"/>
                  </a:lnTo>
                  <a:lnTo>
                    <a:pt x="674801" y="5996102"/>
                  </a:lnTo>
                  <a:lnTo>
                    <a:pt x="678535" y="5999823"/>
                  </a:lnTo>
                  <a:lnTo>
                    <a:pt x="680783" y="6000762"/>
                  </a:lnTo>
                  <a:lnTo>
                    <a:pt x="686041" y="6000762"/>
                  </a:lnTo>
                  <a:lnTo>
                    <a:pt x="688289" y="5999823"/>
                  </a:lnTo>
                  <a:lnTo>
                    <a:pt x="692010" y="5996102"/>
                  </a:lnTo>
                  <a:lnTo>
                    <a:pt x="692937" y="5993866"/>
                  </a:lnTo>
                  <a:lnTo>
                    <a:pt x="692937" y="6896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526887" y="13525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62407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59575"/>
                  </a:lnTo>
                  <a:lnTo>
                    <a:pt x="0" y="362407"/>
                  </a:lnTo>
                  <a:lnTo>
                    <a:pt x="18580" y="381000"/>
                  </a:lnTo>
                  <a:lnTo>
                    <a:pt x="362407" y="381000"/>
                  </a:lnTo>
                  <a:lnTo>
                    <a:pt x="381000" y="362407"/>
                  </a:lnTo>
                  <a:lnTo>
                    <a:pt x="381000" y="18592"/>
                  </a:lnTo>
                  <a:lnTo>
                    <a:pt x="365137" y="546"/>
                  </a:lnTo>
                  <a:lnTo>
                    <a:pt x="362407" y="0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644553" y="1388668"/>
            <a:ext cx="14097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60">
                <a:solidFill>
                  <a:srgbClr val="4F4C49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685256" y="1401765"/>
            <a:ext cx="218567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67080">
              <a:lnSpc>
                <a:spcPct val="100000"/>
              </a:lnSpc>
              <a:spcBef>
                <a:spcPts val="135"/>
              </a:spcBef>
            </a:pPr>
            <a:r>
              <a:rPr dirty="0" sz="1650" spc="150">
                <a:solidFill>
                  <a:srgbClr val="4F4C49"/>
                </a:solidFill>
                <a:latin typeface="Cambria"/>
                <a:cs typeface="Cambria"/>
              </a:rPr>
              <a:t>Ÿask</a:t>
            </a:r>
            <a:r>
              <a:rPr dirty="0" sz="1650" spc="95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14">
                <a:solidFill>
                  <a:srgbClr val="4F4C49"/>
                </a:solidFill>
                <a:latin typeface="Cambria"/>
                <a:cs typeface="Cambria"/>
              </a:rPr>
              <a:t>Request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Incoming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4F4C49"/>
                </a:solidFill>
                <a:latin typeface="Verdana"/>
                <a:cs typeface="Verdana"/>
              </a:rPr>
              <a:t>task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with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details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522125" y="2381249"/>
            <a:ext cx="885825" cy="381000"/>
            <a:chOff x="5522125" y="2381249"/>
            <a:chExt cx="885825" cy="381000"/>
          </a:xfrm>
        </p:grpSpPr>
        <p:sp>
          <p:nvSpPr>
            <p:cNvPr id="9" name="object 9" descr=""/>
            <p:cNvSpPr/>
            <p:nvPr/>
          </p:nvSpPr>
          <p:spPr>
            <a:xfrm>
              <a:off x="5893600" y="2562224"/>
              <a:ext cx="514350" cy="19050"/>
            </a:xfrm>
            <a:custGeom>
              <a:avLst/>
              <a:gdLst/>
              <a:ahLst/>
              <a:cxnLst/>
              <a:rect l="l" t="t" r="r" b="b"/>
              <a:pathLst>
                <a:path w="514350" h="19050">
                  <a:moveTo>
                    <a:pt x="507453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07453" y="19050"/>
                  </a:lnTo>
                  <a:lnTo>
                    <a:pt x="509689" y="18122"/>
                  </a:lnTo>
                  <a:lnTo>
                    <a:pt x="513410" y="14401"/>
                  </a:lnTo>
                  <a:lnTo>
                    <a:pt x="514350" y="12153"/>
                  </a:lnTo>
                  <a:lnTo>
                    <a:pt x="514350" y="6896"/>
                  </a:lnTo>
                  <a:lnTo>
                    <a:pt x="513410" y="4648"/>
                  </a:lnTo>
                  <a:lnTo>
                    <a:pt x="509689" y="927"/>
                  </a:lnTo>
                  <a:lnTo>
                    <a:pt x="507453" y="0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522125" y="2381249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59575"/>
                  </a:lnTo>
                  <a:lnTo>
                    <a:pt x="0" y="362407"/>
                  </a:lnTo>
                  <a:lnTo>
                    <a:pt x="18580" y="381000"/>
                  </a:lnTo>
                  <a:lnTo>
                    <a:pt x="371932" y="381000"/>
                  </a:lnTo>
                  <a:lnTo>
                    <a:pt x="390525" y="362407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619102" y="2417368"/>
            <a:ext cx="19177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35">
                <a:solidFill>
                  <a:srgbClr val="4F4C49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559547" y="2430465"/>
            <a:ext cx="1980564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0">
                <a:solidFill>
                  <a:srgbClr val="4F4C49"/>
                </a:solidFill>
                <a:latin typeface="Cambria"/>
                <a:cs typeface="Cambria"/>
              </a:rPr>
              <a:t>Assignment</a:t>
            </a:r>
            <a:r>
              <a:rPr dirty="0" sz="1650" spc="9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45">
                <a:solidFill>
                  <a:srgbClr val="4F4C49"/>
                </a:solidFill>
                <a:latin typeface="Cambria"/>
                <a:cs typeface="Cambria"/>
              </a:rPr>
              <a:t>Agent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Core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processing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engine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031587" y="3267075"/>
            <a:ext cx="876300" cy="390525"/>
            <a:chOff x="5031587" y="3267075"/>
            <a:chExt cx="876300" cy="390525"/>
          </a:xfrm>
        </p:grpSpPr>
        <p:sp>
          <p:nvSpPr>
            <p:cNvPr id="14" name="object 14" descr=""/>
            <p:cNvSpPr/>
            <p:nvPr/>
          </p:nvSpPr>
          <p:spPr>
            <a:xfrm>
              <a:off x="5031587" y="3448050"/>
              <a:ext cx="514350" cy="19050"/>
            </a:xfrm>
            <a:custGeom>
              <a:avLst/>
              <a:gdLst/>
              <a:ahLst/>
              <a:cxnLst/>
              <a:rect l="l" t="t" r="r" b="b"/>
              <a:pathLst>
                <a:path w="514350" h="19050">
                  <a:moveTo>
                    <a:pt x="507453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07453" y="19050"/>
                  </a:lnTo>
                  <a:lnTo>
                    <a:pt x="509689" y="18122"/>
                  </a:lnTo>
                  <a:lnTo>
                    <a:pt x="513410" y="14401"/>
                  </a:lnTo>
                  <a:lnTo>
                    <a:pt x="514350" y="12153"/>
                  </a:lnTo>
                  <a:lnTo>
                    <a:pt x="514350" y="6896"/>
                  </a:lnTo>
                  <a:lnTo>
                    <a:pt x="513410" y="4648"/>
                  </a:lnTo>
                  <a:lnTo>
                    <a:pt x="509689" y="927"/>
                  </a:lnTo>
                  <a:lnTo>
                    <a:pt x="507453" y="0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526887" y="3267075"/>
              <a:ext cx="381000" cy="390525"/>
            </a:xfrm>
            <a:custGeom>
              <a:avLst/>
              <a:gdLst/>
              <a:ahLst/>
              <a:cxnLst/>
              <a:rect l="l" t="t" r="r" b="b"/>
              <a:pathLst>
                <a:path w="381000" h="390525">
                  <a:moveTo>
                    <a:pt x="362407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0" y="390525"/>
                  </a:lnTo>
                  <a:lnTo>
                    <a:pt x="362407" y="390525"/>
                  </a:lnTo>
                  <a:lnTo>
                    <a:pt x="381000" y="371932"/>
                  </a:lnTo>
                  <a:lnTo>
                    <a:pt x="381000" y="18592"/>
                  </a:lnTo>
                  <a:lnTo>
                    <a:pt x="365137" y="546"/>
                  </a:lnTo>
                  <a:lnTo>
                    <a:pt x="362407" y="0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621934" y="3303193"/>
            <a:ext cx="18605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90">
                <a:solidFill>
                  <a:srgbClr val="4F4C49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094836" y="3316290"/>
            <a:ext cx="177609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35"/>
              </a:spcBef>
            </a:pPr>
            <a:r>
              <a:rPr dirty="0" sz="1650" spc="114">
                <a:solidFill>
                  <a:srgbClr val="4F4C49"/>
                </a:solidFill>
                <a:latin typeface="Cambria"/>
                <a:cs typeface="Cambria"/>
              </a:rPr>
              <a:t>Employee</a:t>
            </a:r>
            <a:r>
              <a:rPr dirty="0" sz="1650" spc="11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50">
                <a:solidFill>
                  <a:srgbClr val="4F4C49"/>
                </a:solidFill>
                <a:latin typeface="Cambria"/>
                <a:cs typeface="Cambria"/>
              </a:rPr>
              <a:t>Data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Skills</a:t>
            </a:r>
            <a:r>
              <a:rPr dirty="0" sz="1350" spc="-12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availability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522125" y="4152900"/>
            <a:ext cx="885825" cy="390525"/>
            <a:chOff x="5522125" y="4152900"/>
            <a:chExt cx="885825" cy="390525"/>
          </a:xfrm>
        </p:grpSpPr>
        <p:sp>
          <p:nvSpPr>
            <p:cNvPr id="19" name="object 19" descr=""/>
            <p:cNvSpPr/>
            <p:nvPr/>
          </p:nvSpPr>
          <p:spPr>
            <a:xfrm>
              <a:off x="5893600" y="4333875"/>
              <a:ext cx="514350" cy="19050"/>
            </a:xfrm>
            <a:custGeom>
              <a:avLst/>
              <a:gdLst/>
              <a:ahLst/>
              <a:cxnLst/>
              <a:rect l="l" t="t" r="r" b="b"/>
              <a:pathLst>
                <a:path w="514350" h="19050">
                  <a:moveTo>
                    <a:pt x="507453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07453" y="19050"/>
                  </a:lnTo>
                  <a:lnTo>
                    <a:pt x="509689" y="18122"/>
                  </a:lnTo>
                  <a:lnTo>
                    <a:pt x="513410" y="14401"/>
                  </a:lnTo>
                  <a:lnTo>
                    <a:pt x="514350" y="12153"/>
                  </a:lnTo>
                  <a:lnTo>
                    <a:pt x="514350" y="6896"/>
                  </a:lnTo>
                  <a:lnTo>
                    <a:pt x="513410" y="4648"/>
                  </a:lnTo>
                  <a:lnTo>
                    <a:pt x="509689" y="927"/>
                  </a:lnTo>
                  <a:lnTo>
                    <a:pt x="507453" y="0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522125" y="4152900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0" y="390525"/>
                  </a:lnTo>
                  <a:lnTo>
                    <a:pt x="371932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5616575" y="4189018"/>
            <a:ext cx="1968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80">
                <a:solidFill>
                  <a:srgbClr val="4F4C49"/>
                </a:solidFill>
                <a:latin typeface="Cambria"/>
                <a:cs typeface="Cambria"/>
              </a:rPr>
              <a:t>4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559550" y="4202115"/>
            <a:ext cx="172593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40">
                <a:solidFill>
                  <a:srgbClr val="4F4C49"/>
                </a:solidFill>
                <a:latin typeface="Cambria"/>
                <a:cs typeface="Cambria"/>
              </a:rPr>
              <a:t>Scoring</a:t>
            </a:r>
            <a:r>
              <a:rPr dirty="0" sz="1650" spc="8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14">
                <a:solidFill>
                  <a:srgbClr val="4F4C49"/>
                </a:solidFill>
                <a:latin typeface="Cambria"/>
                <a:cs typeface="Cambria"/>
              </a:rPr>
              <a:t>Engine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Matching</a:t>
            </a:r>
            <a:r>
              <a:rPr dirty="0" sz="1350" spc="-15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algorithms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031587" y="5038725"/>
            <a:ext cx="876300" cy="390525"/>
            <a:chOff x="5031587" y="5038725"/>
            <a:chExt cx="876300" cy="390525"/>
          </a:xfrm>
        </p:grpSpPr>
        <p:sp>
          <p:nvSpPr>
            <p:cNvPr id="24" name="object 24" descr=""/>
            <p:cNvSpPr/>
            <p:nvPr/>
          </p:nvSpPr>
          <p:spPr>
            <a:xfrm>
              <a:off x="5031587" y="5219700"/>
              <a:ext cx="514350" cy="19050"/>
            </a:xfrm>
            <a:custGeom>
              <a:avLst/>
              <a:gdLst/>
              <a:ahLst/>
              <a:cxnLst/>
              <a:rect l="l" t="t" r="r" b="b"/>
              <a:pathLst>
                <a:path w="514350" h="19050">
                  <a:moveTo>
                    <a:pt x="507453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07453" y="19050"/>
                  </a:lnTo>
                  <a:lnTo>
                    <a:pt x="509689" y="18122"/>
                  </a:lnTo>
                  <a:lnTo>
                    <a:pt x="513410" y="14401"/>
                  </a:lnTo>
                  <a:lnTo>
                    <a:pt x="514350" y="12153"/>
                  </a:lnTo>
                  <a:lnTo>
                    <a:pt x="514350" y="6896"/>
                  </a:lnTo>
                  <a:lnTo>
                    <a:pt x="513410" y="4648"/>
                  </a:lnTo>
                  <a:lnTo>
                    <a:pt x="509689" y="927"/>
                  </a:lnTo>
                  <a:lnTo>
                    <a:pt x="507453" y="0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526887" y="5038725"/>
              <a:ext cx="381000" cy="390525"/>
            </a:xfrm>
            <a:custGeom>
              <a:avLst/>
              <a:gdLst/>
              <a:ahLst/>
              <a:cxnLst/>
              <a:rect l="l" t="t" r="r" b="b"/>
              <a:pathLst>
                <a:path w="381000" h="390525">
                  <a:moveTo>
                    <a:pt x="362407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0" y="390525"/>
                  </a:lnTo>
                  <a:lnTo>
                    <a:pt x="362407" y="390525"/>
                  </a:lnTo>
                  <a:lnTo>
                    <a:pt x="381000" y="371932"/>
                  </a:lnTo>
                  <a:lnTo>
                    <a:pt x="381000" y="18592"/>
                  </a:lnTo>
                  <a:lnTo>
                    <a:pt x="365137" y="546"/>
                  </a:lnTo>
                  <a:lnTo>
                    <a:pt x="362407" y="0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5619406" y="5074843"/>
            <a:ext cx="19113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35">
                <a:solidFill>
                  <a:srgbClr val="4F4C49"/>
                </a:solidFill>
                <a:latin typeface="Cambria"/>
                <a:cs typeface="Cambria"/>
              </a:rPr>
              <a:t>5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925470" y="5087940"/>
            <a:ext cx="194500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12750">
              <a:lnSpc>
                <a:spcPct val="100000"/>
              </a:lnSpc>
              <a:spcBef>
                <a:spcPts val="135"/>
              </a:spcBef>
            </a:pPr>
            <a:r>
              <a:rPr dirty="0" sz="1650" spc="150">
                <a:solidFill>
                  <a:srgbClr val="4F4C49"/>
                </a:solidFill>
                <a:latin typeface="Cambria"/>
                <a:cs typeface="Cambria"/>
              </a:rPr>
              <a:t>Ÿask</a:t>
            </a:r>
            <a:r>
              <a:rPr dirty="0" sz="1650" spc="95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30">
                <a:solidFill>
                  <a:srgbClr val="4F4C49"/>
                </a:solidFill>
                <a:latin typeface="Cambria"/>
                <a:cs typeface="Cambria"/>
              </a:rPr>
              <a:t>Assigned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Automated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distribution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5522125" y="5924550"/>
            <a:ext cx="885825" cy="390525"/>
            <a:chOff x="5522125" y="5924550"/>
            <a:chExt cx="885825" cy="390525"/>
          </a:xfrm>
        </p:grpSpPr>
        <p:sp>
          <p:nvSpPr>
            <p:cNvPr id="29" name="object 29" descr=""/>
            <p:cNvSpPr/>
            <p:nvPr/>
          </p:nvSpPr>
          <p:spPr>
            <a:xfrm>
              <a:off x="5893600" y="6115050"/>
              <a:ext cx="514350" cy="19050"/>
            </a:xfrm>
            <a:custGeom>
              <a:avLst/>
              <a:gdLst/>
              <a:ahLst/>
              <a:cxnLst/>
              <a:rect l="l" t="t" r="r" b="b"/>
              <a:pathLst>
                <a:path w="514350" h="19050">
                  <a:moveTo>
                    <a:pt x="507453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07453" y="19050"/>
                  </a:lnTo>
                  <a:lnTo>
                    <a:pt x="509689" y="18122"/>
                  </a:lnTo>
                  <a:lnTo>
                    <a:pt x="513410" y="14401"/>
                  </a:lnTo>
                  <a:lnTo>
                    <a:pt x="514350" y="12153"/>
                  </a:lnTo>
                  <a:lnTo>
                    <a:pt x="514350" y="6896"/>
                  </a:lnTo>
                  <a:lnTo>
                    <a:pt x="513410" y="4648"/>
                  </a:lnTo>
                  <a:lnTo>
                    <a:pt x="509689" y="927"/>
                  </a:lnTo>
                  <a:lnTo>
                    <a:pt x="507453" y="0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522125" y="5924550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0" y="390525"/>
                  </a:lnTo>
                  <a:lnTo>
                    <a:pt x="371932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5618365" y="5960668"/>
            <a:ext cx="19367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35">
                <a:solidFill>
                  <a:srgbClr val="4F4C49"/>
                </a:solidFill>
                <a:latin typeface="Cambria"/>
                <a:cs typeface="Cambria"/>
              </a:rPr>
              <a:t>G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559555" y="5973765"/>
            <a:ext cx="157861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25">
                <a:solidFill>
                  <a:srgbClr val="4F4C49"/>
                </a:solidFill>
                <a:latin typeface="Cambria"/>
                <a:cs typeface="Cambria"/>
              </a:rPr>
              <a:t>Dashboard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Real-time</a:t>
            </a:r>
            <a:r>
              <a:rPr dirty="0" sz="1350" spc="-8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visibility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87380" y="7489193"/>
            <a:ext cx="971867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architecture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follows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a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streamlined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approach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that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processes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tasks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through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multiple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evaluation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layers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before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making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assignment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decisions.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Each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component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communicates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seamlessly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to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ensure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accurate,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fast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4F4C49"/>
                </a:solidFill>
                <a:latin typeface="Verdana"/>
                <a:cs typeface="Verdana"/>
              </a:rPr>
              <a:t>task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distribution.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34" name="object 34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80596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29"/>
              <a:t>Measurable</a:t>
            </a:r>
            <a:r>
              <a:rPr dirty="0" spc="160"/>
              <a:t> </a:t>
            </a:r>
            <a:r>
              <a:rPr dirty="0" spc="235"/>
              <a:t>Business</a:t>
            </a:r>
            <a:r>
              <a:rPr dirty="0" spc="165"/>
              <a:t> </a:t>
            </a:r>
            <a:r>
              <a:rPr dirty="0" spc="265"/>
              <a:t>Impact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457324"/>
            <a:ext cx="4905374" cy="4905374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5927900" y="1449712"/>
            <a:ext cx="355600" cy="358140"/>
            <a:chOff x="5927900" y="1449712"/>
            <a:chExt cx="355600" cy="358140"/>
          </a:xfrm>
        </p:grpSpPr>
        <p:sp>
          <p:nvSpPr>
            <p:cNvPr id="5" name="object 5" descr=""/>
            <p:cNvSpPr/>
            <p:nvPr/>
          </p:nvSpPr>
          <p:spPr>
            <a:xfrm>
              <a:off x="5935510" y="1457322"/>
              <a:ext cx="340360" cy="342900"/>
            </a:xfrm>
            <a:custGeom>
              <a:avLst/>
              <a:gdLst/>
              <a:ahLst/>
              <a:cxnLst/>
              <a:rect l="l" t="t" r="r" b="b"/>
              <a:pathLst>
                <a:path w="340360" h="342900">
                  <a:moveTo>
                    <a:pt x="23304" y="257926"/>
                  </a:moveTo>
                  <a:lnTo>
                    <a:pt x="6807" y="219814"/>
                  </a:lnTo>
                  <a:lnTo>
                    <a:pt x="0" y="178856"/>
                  </a:lnTo>
                  <a:lnTo>
                    <a:pt x="162" y="167909"/>
                  </a:lnTo>
                  <a:lnTo>
                    <a:pt x="5799" y="127092"/>
                  </a:lnTo>
                  <a:lnTo>
                    <a:pt x="21541" y="87743"/>
                  </a:lnTo>
                  <a:lnTo>
                    <a:pt x="46096" y="53792"/>
                  </a:lnTo>
                  <a:lnTo>
                    <a:pt x="76852" y="27747"/>
                  </a:lnTo>
                  <a:lnTo>
                    <a:pt x="113457" y="9685"/>
                  </a:lnTo>
                  <a:lnTo>
                    <a:pt x="155012" y="607"/>
                  </a:lnTo>
                  <a:lnTo>
                    <a:pt x="176081" y="0"/>
                  </a:lnTo>
                  <a:lnTo>
                    <a:pt x="185420" y="205"/>
                  </a:lnTo>
                  <a:lnTo>
                    <a:pt x="227025" y="9197"/>
                  </a:lnTo>
                  <a:lnTo>
                    <a:pt x="262115" y="26443"/>
                  </a:lnTo>
                  <a:lnTo>
                    <a:pt x="294182" y="53571"/>
                  </a:lnTo>
                  <a:lnTo>
                    <a:pt x="318173" y="86502"/>
                  </a:lnTo>
                  <a:lnTo>
                    <a:pt x="333959" y="124703"/>
                  </a:lnTo>
                  <a:lnTo>
                    <a:pt x="340029" y="165089"/>
                  </a:lnTo>
                  <a:lnTo>
                    <a:pt x="339762" y="176157"/>
                  </a:lnTo>
                  <a:lnTo>
                    <a:pt x="333834" y="216192"/>
                  </a:lnTo>
                  <a:lnTo>
                    <a:pt x="317563" y="255320"/>
                  </a:lnTo>
                  <a:lnTo>
                    <a:pt x="292987" y="288829"/>
                  </a:lnTo>
                  <a:lnTo>
                    <a:pt x="262439" y="314916"/>
                  </a:lnTo>
                  <a:lnTo>
                    <a:pt x="226081" y="333306"/>
                  </a:lnTo>
                  <a:lnTo>
                    <a:pt x="195910" y="341378"/>
                  </a:lnTo>
                  <a:lnTo>
                    <a:pt x="182143" y="342902"/>
                  </a:lnTo>
                </a:path>
                <a:path w="340360" h="342900">
                  <a:moveTo>
                    <a:pt x="179971" y="163832"/>
                  </a:moveTo>
                  <a:lnTo>
                    <a:pt x="181775" y="169509"/>
                  </a:lnTo>
                  <a:lnTo>
                    <a:pt x="182270" y="172481"/>
                  </a:lnTo>
                  <a:lnTo>
                    <a:pt x="181991" y="175541"/>
                  </a:lnTo>
                  <a:lnTo>
                    <a:pt x="169252" y="186057"/>
                  </a:lnTo>
                  <a:lnTo>
                    <a:pt x="166611" y="185701"/>
                  </a:lnTo>
                  <a:lnTo>
                    <a:pt x="156502" y="172747"/>
                  </a:lnTo>
                  <a:lnTo>
                    <a:pt x="156832" y="170512"/>
                  </a:lnTo>
                  <a:lnTo>
                    <a:pt x="157378" y="167782"/>
                  </a:lnTo>
                  <a:lnTo>
                    <a:pt x="158153" y="164556"/>
                  </a:lnTo>
                </a:path>
                <a:path w="340360" h="342900">
                  <a:moveTo>
                    <a:pt x="169341" y="27498"/>
                  </a:moveTo>
                  <a:lnTo>
                    <a:pt x="169481" y="54599"/>
                  </a:lnTo>
                </a:path>
                <a:path w="340360" h="342900">
                  <a:moveTo>
                    <a:pt x="179768" y="164035"/>
                  </a:moveTo>
                  <a:lnTo>
                    <a:pt x="178295" y="162651"/>
                  </a:lnTo>
                  <a:lnTo>
                    <a:pt x="176618" y="161597"/>
                  </a:lnTo>
                  <a:lnTo>
                    <a:pt x="174726" y="160886"/>
                  </a:lnTo>
                  <a:lnTo>
                    <a:pt x="172834" y="160162"/>
                  </a:lnTo>
                  <a:lnTo>
                    <a:pt x="170878" y="159819"/>
                  </a:lnTo>
                  <a:lnTo>
                    <a:pt x="168859" y="159870"/>
                  </a:lnTo>
                  <a:lnTo>
                    <a:pt x="166839" y="159933"/>
                  </a:lnTo>
                  <a:lnTo>
                    <a:pt x="164909" y="160365"/>
                  </a:lnTo>
                  <a:lnTo>
                    <a:pt x="163055" y="161178"/>
                  </a:lnTo>
                  <a:lnTo>
                    <a:pt x="161201" y="161991"/>
                  </a:lnTo>
                  <a:lnTo>
                    <a:pt x="159575" y="163121"/>
                  </a:lnTo>
                  <a:lnTo>
                    <a:pt x="158178" y="164581"/>
                  </a:lnTo>
                </a:path>
                <a:path w="340360" h="342900">
                  <a:moveTo>
                    <a:pt x="179971" y="163832"/>
                  </a:moveTo>
                  <a:lnTo>
                    <a:pt x="260146" y="88585"/>
                  </a:lnTo>
                </a:path>
                <a:path w="340360" h="342900">
                  <a:moveTo>
                    <a:pt x="97396" y="112384"/>
                  </a:moveTo>
                  <a:lnTo>
                    <a:pt x="158153" y="164556"/>
                  </a:lnTo>
                </a:path>
                <a:path w="340360" h="342900">
                  <a:moveTo>
                    <a:pt x="26238" y="171376"/>
                  </a:moveTo>
                  <a:lnTo>
                    <a:pt x="50101" y="171617"/>
                  </a:lnTo>
                </a:path>
                <a:path w="340360" h="342900">
                  <a:moveTo>
                    <a:pt x="291211" y="172316"/>
                  </a:moveTo>
                  <a:lnTo>
                    <a:pt x="313436" y="171731"/>
                  </a:lnTo>
                </a:path>
              </a:pathLst>
            </a:custGeom>
            <a:ln w="15219">
              <a:solidFill>
                <a:srgbClr val="3E241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1357" y="1707550"/>
              <a:ext cx="173905" cy="100284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5920930" y="2011362"/>
            <a:ext cx="4542155" cy="683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>
                <a:solidFill>
                  <a:srgbClr val="4F4C49"/>
                </a:solidFill>
                <a:latin typeface="Cambria"/>
                <a:cs typeface="Cambria"/>
              </a:rPr>
              <a:t>Faster</a:t>
            </a:r>
            <a:r>
              <a:rPr dirty="0" sz="1650" spc="8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25">
                <a:solidFill>
                  <a:srgbClr val="4F4C49"/>
                </a:solidFill>
                <a:latin typeface="Cambria"/>
                <a:cs typeface="Cambria"/>
              </a:rPr>
              <a:t>Allocation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1350" spc="-70">
                <a:solidFill>
                  <a:srgbClr val="4F4C49"/>
                </a:solidFill>
                <a:latin typeface="Verdana"/>
                <a:cs typeface="Verdana"/>
              </a:rPr>
              <a:t>Tasks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are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assigned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in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seconds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rather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than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hours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or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days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934075" y="3093986"/>
            <a:ext cx="342900" cy="288925"/>
          </a:xfrm>
          <a:custGeom>
            <a:avLst/>
            <a:gdLst/>
            <a:ahLst/>
            <a:cxnLst/>
            <a:rect l="l" t="t" r="r" b="b"/>
            <a:pathLst>
              <a:path w="342900" h="288925">
                <a:moveTo>
                  <a:pt x="303949" y="75946"/>
                </a:moveTo>
                <a:lnTo>
                  <a:pt x="301980" y="72999"/>
                </a:lnTo>
                <a:lnTo>
                  <a:pt x="299339" y="70777"/>
                </a:lnTo>
                <a:lnTo>
                  <a:pt x="297853" y="70065"/>
                </a:lnTo>
                <a:lnTo>
                  <a:pt x="294995" y="69456"/>
                </a:lnTo>
                <a:lnTo>
                  <a:pt x="292798" y="69494"/>
                </a:lnTo>
                <a:lnTo>
                  <a:pt x="291236" y="69862"/>
                </a:lnTo>
                <a:lnTo>
                  <a:pt x="288874" y="71043"/>
                </a:lnTo>
                <a:lnTo>
                  <a:pt x="286702" y="73113"/>
                </a:lnTo>
                <a:lnTo>
                  <a:pt x="284886" y="76047"/>
                </a:lnTo>
                <a:lnTo>
                  <a:pt x="281305" y="83261"/>
                </a:lnTo>
              </a:path>
              <a:path w="342900" h="288925">
                <a:moveTo>
                  <a:pt x="249491" y="146951"/>
                </a:moveTo>
                <a:lnTo>
                  <a:pt x="248551" y="148793"/>
                </a:lnTo>
                <a:lnTo>
                  <a:pt x="247319" y="152044"/>
                </a:lnTo>
                <a:lnTo>
                  <a:pt x="245808" y="156692"/>
                </a:lnTo>
              </a:path>
              <a:path w="342900" h="288925">
                <a:moveTo>
                  <a:pt x="196583" y="22555"/>
                </a:moveTo>
                <a:lnTo>
                  <a:pt x="171945" y="0"/>
                </a:lnTo>
                <a:lnTo>
                  <a:pt x="167906" y="342"/>
                </a:lnTo>
                <a:lnTo>
                  <a:pt x="149237" y="17068"/>
                </a:lnTo>
                <a:lnTo>
                  <a:pt x="148234" y="22834"/>
                </a:lnTo>
              </a:path>
              <a:path w="342900" h="288925">
                <a:moveTo>
                  <a:pt x="196583" y="22555"/>
                </a:moveTo>
                <a:lnTo>
                  <a:pt x="168579" y="45453"/>
                </a:lnTo>
                <a:lnTo>
                  <a:pt x="164668" y="44831"/>
                </a:lnTo>
                <a:lnTo>
                  <a:pt x="149009" y="28206"/>
                </a:lnTo>
                <a:lnTo>
                  <a:pt x="148234" y="22834"/>
                </a:lnTo>
              </a:path>
              <a:path w="342900" h="288925">
                <a:moveTo>
                  <a:pt x="99250" y="156692"/>
                </a:moveTo>
                <a:lnTo>
                  <a:pt x="84302" y="192125"/>
                </a:lnTo>
                <a:lnTo>
                  <a:pt x="49834" y="207073"/>
                </a:lnTo>
                <a:lnTo>
                  <a:pt x="44132" y="206819"/>
                </a:lnTo>
                <a:lnTo>
                  <a:pt x="9677" y="185597"/>
                </a:lnTo>
                <a:lnTo>
                  <a:pt x="2641" y="169964"/>
                </a:lnTo>
                <a:lnTo>
                  <a:pt x="0" y="156654"/>
                </a:lnTo>
              </a:path>
              <a:path w="342900" h="288925">
                <a:moveTo>
                  <a:pt x="58940" y="76022"/>
                </a:moveTo>
                <a:lnTo>
                  <a:pt x="56934" y="73037"/>
                </a:lnTo>
                <a:lnTo>
                  <a:pt x="54267" y="70764"/>
                </a:lnTo>
                <a:lnTo>
                  <a:pt x="52793" y="70053"/>
                </a:lnTo>
                <a:lnTo>
                  <a:pt x="49923" y="69430"/>
                </a:lnTo>
                <a:lnTo>
                  <a:pt x="47739" y="69494"/>
                </a:lnTo>
                <a:lnTo>
                  <a:pt x="46177" y="69875"/>
                </a:lnTo>
                <a:lnTo>
                  <a:pt x="43815" y="71056"/>
                </a:lnTo>
                <a:lnTo>
                  <a:pt x="41706" y="73164"/>
                </a:lnTo>
                <a:lnTo>
                  <a:pt x="39916" y="76123"/>
                </a:lnTo>
                <a:lnTo>
                  <a:pt x="36322" y="83312"/>
                </a:lnTo>
              </a:path>
              <a:path w="342900" h="288925">
                <a:moveTo>
                  <a:pt x="4254" y="147523"/>
                </a:moveTo>
                <a:lnTo>
                  <a:pt x="0" y="156654"/>
                </a:lnTo>
              </a:path>
              <a:path w="342900" h="288925">
                <a:moveTo>
                  <a:pt x="342811" y="156679"/>
                </a:moveTo>
                <a:lnTo>
                  <a:pt x="245808" y="156692"/>
                </a:lnTo>
              </a:path>
              <a:path w="342900" h="288925">
                <a:moveTo>
                  <a:pt x="342646" y="156679"/>
                </a:moveTo>
                <a:lnTo>
                  <a:pt x="326910" y="194513"/>
                </a:lnTo>
                <a:lnTo>
                  <a:pt x="297510" y="207035"/>
                </a:lnTo>
                <a:lnTo>
                  <a:pt x="294246" y="207035"/>
                </a:lnTo>
                <a:lnTo>
                  <a:pt x="290982" y="207035"/>
                </a:lnTo>
                <a:lnTo>
                  <a:pt x="287756" y="206705"/>
                </a:lnTo>
                <a:lnTo>
                  <a:pt x="284568" y="206057"/>
                </a:lnTo>
                <a:lnTo>
                  <a:pt x="281368" y="205409"/>
                </a:lnTo>
                <a:lnTo>
                  <a:pt x="278269" y="204444"/>
                </a:lnTo>
                <a:lnTo>
                  <a:pt x="275272" y="203161"/>
                </a:lnTo>
                <a:lnTo>
                  <a:pt x="272262" y="201891"/>
                </a:lnTo>
                <a:lnTo>
                  <a:pt x="259321" y="192163"/>
                </a:lnTo>
                <a:lnTo>
                  <a:pt x="257060" y="189826"/>
                </a:lnTo>
                <a:lnTo>
                  <a:pt x="248958" y="175806"/>
                </a:lnTo>
                <a:lnTo>
                  <a:pt x="247789" y="172758"/>
                </a:lnTo>
                <a:lnTo>
                  <a:pt x="246951" y="169633"/>
                </a:lnTo>
                <a:lnTo>
                  <a:pt x="246430" y="166408"/>
                </a:lnTo>
                <a:lnTo>
                  <a:pt x="245897" y="163195"/>
                </a:lnTo>
                <a:lnTo>
                  <a:pt x="245694" y="159956"/>
                </a:lnTo>
                <a:lnTo>
                  <a:pt x="245821" y="156692"/>
                </a:lnTo>
              </a:path>
              <a:path w="342900" h="288925">
                <a:moveTo>
                  <a:pt x="342900" y="154330"/>
                </a:moveTo>
                <a:lnTo>
                  <a:pt x="303949" y="75946"/>
                </a:lnTo>
              </a:path>
              <a:path w="342900" h="288925">
                <a:moveTo>
                  <a:pt x="281305" y="83261"/>
                </a:moveTo>
                <a:lnTo>
                  <a:pt x="249491" y="146951"/>
                </a:lnTo>
              </a:path>
              <a:path w="342900" h="288925">
                <a:moveTo>
                  <a:pt x="36893" y="38341"/>
                </a:moveTo>
                <a:lnTo>
                  <a:pt x="148234" y="22834"/>
                </a:lnTo>
              </a:path>
              <a:path w="342900" h="288925">
                <a:moveTo>
                  <a:pt x="171983" y="45389"/>
                </a:moveTo>
                <a:lnTo>
                  <a:pt x="171310" y="288772"/>
                </a:lnTo>
              </a:path>
              <a:path w="342900" h="288925">
                <a:moveTo>
                  <a:pt x="99441" y="288798"/>
                </a:moveTo>
                <a:lnTo>
                  <a:pt x="244017" y="288759"/>
                </a:lnTo>
              </a:path>
              <a:path w="342900" h="288925">
                <a:moveTo>
                  <a:pt x="196583" y="22555"/>
                </a:moveTo>
                <a:lnTo>
                  <a:pt x="306400" y="38150"/>
                </a:lnTo>
              </a:path>
              <a:path w="342900" h="288925">
                <a:moveTo>
                  <a:pt x="99250" y="156692"/>
                </a:moveTo>
                <a:lnTo>
                  <a:pt x="58940" y="76022"/>
                </a:lnTo>
              </a:path>
              <a:path w="342900" h="288925">
                <a:moveTo>
                  <a:pt x="36322" y="83312"/>
                </a:moveTo>
                <a:lnTo>
                  <a:pt x="4254" y="147523"/>
                </a:lnTo>
              </a:path>
              <a:path w="342900" h="288925">
                <a:moveTo>
                  <a:pt x="99250" y="156692"/>
                </a:moveTo>
                <a:lnTo>
                  <a:pt x="0" y="156654"/>
                </a:lnTo>
              </a:path>
            </a:pathLst>
          </a:custGeom>
          <a:ln w="15187">
            <a:solidFill>
              <a:srgbClr val="3E24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920930" y="3621087"/>
            <a:ext cx="4699635" cy="683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20">
                <a:solidFill>
                  <a:srgbClr val="4F4C49"/>
                </a:solidFill>
                <a:latin typeface="Cambria"/>
                <a:cs typeface="Cambria"/>
              </a:rPr>
              <a:t>Balanced</a:t>
            </a:r>
            <a:r>
              <a:rPr dirty="0" sz="1650" spc="114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30">
                <a:solidFill>
                  <a:srgbClr val="4F4C49"/>
                </a:solidFill>
                <a:latin typeface="Cambria"/>
                <a:cs typeface="Cambria"/>
              </a:rPr>
              <a:t>Workload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Equal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distribution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prevents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burnout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underutilization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926473" y="4723770"/>
            <a:ext cx="358140" cy="267970"/>
            <a:chOff x="5926473" y="4723770"/>
            <a:chExt cx="358140" cy="267970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6473" y="4729116"/>
              <a:ext cx="89828" cy="13284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5934532" y="4731372"/>
              <a:ext cx="342900" cy="252729"/>
            </a:xfrm>
            <a:custGeom>
              <a:avLst/>
              <a:gdLst/>
              <a:ahLst/>
              <a:cxnLst/>
              <a:rect l="l" t="t" r="r" b="b"/>
              <a:pathLst>
                <a:path w="342900" h="252729">
                  <a:moveTo>
                    <a:pt x="126720" y="134315"/>
                  </a:moveTo>
                  <a:lnTo>
                    <a:pt x="134226" y="143027"/>
                  </a:lnTo>
                </a:path>
                <a:path w="342900" h="252729">
                  <a:moveTo>
                    <a:pt x="341985" y="9969"/>
                  </a:moveTo>
                  <a:lnTo>
                    <a:pt x="342371" y="17578"/>
                  </a:lnTo>
                  <a:lnTo>
                    <a:pt x="342415" y="26409"/>
                  </a:lnTo>
                  <a:lnTo>
                    <a:pt x="342076" y="37697"/>
                  </a:lnTo>
                  <a:lnTo>
                    <a:pt x="338575" y="78922"/>
                  </a:lnTo>
                  <a:lnTo>
                    <a:pt x="328402" y="123056"/>
                  </a:lnTo>
                  <a:lnTo>
                    <a:pt x="308785" y="157064"/>
                  </a:lnTo>
                  <a:lnTo>
                    <a:pt x="268516" y="200291"/>
                  </a:lnTo>
                  <a:lnTo>
                    <a:pt x="265988" y="203504"/>
                  </a:lnTo>
                  <a:lnTo>
                    <a:pt x="261062" y="232216"/>
                  </a:lnTo>
                  <a:lnTo>
                    <a:pt x="260985" y="252603"/>
                  </a:lnTo>
                </a:path>
                <a:path w="342900" h="252729">
                  <a:moveTo>
                    <a:pt x="32435" y="155943"/>
                  </a:moveTo>
                  <a:lnTo>
                    <a:pt x="39325" y="163595"/>
                  </a:lnTo>
                  <a:lnTo>
                    <a:pt x="48631" y="173658"/>
                  </a:lnTo>
                  <a:lnTo>
                    <a:pt x="60514" y="186252"/>
                  </a:lnTo>
                  <a:lnTo>
                    <a:pt x="75133" y="201498"/>
                  </a:lnTo>
                  <a:lnTo>
                    <a:pt x="77406" y="204724"/>
                  </a:lnTo>
                  <a:lnTo>
                    <a:pt x="79527" y="208927"/>
                  </a:lnTo>
                  <a:lnTo>
                    <a:pt x="80848" y="213093"/>
                  </a:lnTo>
                  <a:lnTo>
                    <a:pt x="81457" y="217309"/>
                  </a:lnTo>
                </a:path>
                <a:path w="342900" h="252729">
                  <a:moveTo>
                    <a:pt x="22567" y="5346"/>
                  </a:moveTo>
                  <a:lnTo>
                    <a:pt x="10998" y="0"/>
                  </a:lnTo>
                  <a:lnTo>
                    <a:pt x="9207" y="266"/>
                  </a:lnTo>
                  <a:lnTo>
                    <a:pt x="1524" y="6083"/>
                  </a:lnTo>
                  <a:lnTo>
                    <a:pt x="990" y="7340"/>
                  </a:lnTo>
                </a:path>
                <a:path w="342900" h="252729">
                  <a:moveTo>
                    <a:pt x="45605" y="93510"/>
                  </a:moveTo>
                  <a:lnTo>
                    <a:pt x="85407" y="143916"/>
                  </a:lnTo>
                </a:path>
                <a:path w="342900" h="252729">
                  <a:moveTo>
                    <a:pt x="149339" y="252653"/>
                  </a:moveTo>
                  <a:lnTo>
                    <a:pt x="81330" y="252628"/>
                  </a:lnTo>
                </a:path>
                <a:path w="342900" h="252729">
                  <a:moveTo>
                    <a:pt x="49923" y="79616"/>
                  </a:moveTo>
                  <a:lnTo>
                    <a:pt x="41617" y="85140"/>
                  </a:lnTo>
                </a:path>
                <a:path w="342900" h="252729">
                  <a:moveTo>
                    <a:pt x="341985" y="9969"/>
                  </a:moveTo>
                  <a:lnTo>
                    <a:pt x="330606" y="203"/>
                  </a:lnTo>
                  <a:lnTo>
                    <a:pt x="329285" y="203"/>
                  </a:lnTo>
                  <a:lnTo>
                    <a:pt x="327063" y="317"/>
                  </a:lnTo>
                  <a:lnTo>
                    <a:pt x="325043" y="1003"/>
                  </a:lnTo>
                  <a:lnTo>
                    <a:pt x="323240" y="2273"/>
                  </a:lnTo>
                </a:path>
                <a:path w="342900" h="252729">
                  <a:moveTo>
                    <a:pt x="323240" y="2260"/>
                  </a:moveTo>
                  <a:lnTo>
                    <a:pt x="319062" y="6502"/>
                  </a:lnTo>
                  <a:lnTo>
                    <a:pt x="318566" y="7175"/>
                  </a:lnTo>
                  <a:lnTo>
                    <a:pt x="318135" y="7874"/>
                  </a:lnTo>
                  <a:lnTo>
                    <a:pt x="317741" y="8610"/>
                  </a:lnTo>
                  <a:lnTo>
                    <a:pt x="300380" y="87503"/>
                  </a:lnTo>
                </a:path>
                <a:path w="342900" h="252729">
                  <a:moveTo>
                    <a:pt x="260985" y="252603"/>
                  </a:moveTo>
                  <a:lnTo>
                    <a:pt x="192951" y="252628"/>
                  </a:lnTo>
                </a:path>
                <a:path w="342900" h="252729">
                  <a:moveTo>
                    <a:pt x="271195" y="78600"/>
                  </a:moveTo>
                  <a:lnTo>
                    <a:pt x="216712" y="133426"/>
                  </a:lnTo>
                </a:path>
                <a:path w="342900" h="252729">
                  <a:moveTo>
                    <a:pt x="271195" y="78600"/>
                  </a:moveTo>
                  <a:lnTo>
                    <a:pt x="280822" y="75006"/>
                  </a:lnTo>
                  <a:lnTo>
                    <a:pt x="282409" y="75031"/>
                  </a:lnTo>
                  <a:lnTo>
                    <a:pt x="284010" y="75234"/>
                  </a:lnTo>
                  <a:lnTo>
                    <a:pt x="285635" y="75615"/>
                  </a:lnTo>
                  <a:lnTo>
                    <a:pt x="287324" y="76238"/>
                  </a:lnTo>
                  <a:lnTo>
                    <a:pt x="288988" y="77101"/>
                  </a:lnTo>
                  <a:lnTo>
                    <a:pt x="300380" y="87503"/>
                  </a:lnTo>
                </a:path>
                <a:path w="342900" h="252729">
                  <a:moveTo>
                    <a:pt x="256882" y="143675"/>
                  </a:moveTo>
                  <a:lnTo>
                    <a:pt x="300380" y="87503"/>
                  </a:lnTo>
                </a:path>
                <a:path w="342900" h="252729">
                  <a:moveTo>
                    <a:pt x="13944" y="122948"/>
                  </a:moveTo>
                  <a:lnTo>
                    <a:pt x="17176" y="131983"/>
                  </a:lnTo>
                  <a:lnTo>
                    <a:pt x="21329" y="140496"/>
                  </a:lnTo>
                  <a:lnTo>
                    <a:pt x="26406" y="148491"/>
                  </a:lnTo>
                  <a:lnTo>
                    <a:pt x="32410" y="155968"/>
                  </a:lnTo>
                </a:path>
                <a:path w="342900" h="252729">
                  <a:moveTo>
                    <a:pt x="0" y="35280"/>
                  </a:moveTo>
                  <a:lnTo>
                    <a:pt x="1854" y="61480"/>
                  </a:lnTo>
                </a:path>
                <a:path w="342900" h="252729">
                  <a:moveTo>
                    <a:pt x="134315" y="142963"/>
                  </a:moveTo>
                  <a:lnTo>
                    <a:pt x="149053" y="178969"/>
                  </a:lnTo>
                  <a:lnTo>
                    <a:pt x="149363" y="185503"/>
                  </a:lnTo>
                  <a:lnTo>
                    <a:pt x="149034" y="192100"/>
                  </a:lnTo>
                </a:path>
                <a:path w="342900" h="252729">
                  <a:moveTo>
                    <a:pt x="149339" y="192138"/>
                  </a:moveTo>
                  <a:lnTo>
                    <a:pt x="149339" y="252653"/>
                  </a:lnTo>
                </a:path>
                <a:path w="342900" h="252729">
                  <a:moveTo>
                    <a:pt x="74168" y="81140"/>
                  </a:moveTo>
                  <a:lnTo>
                    <a:pt x="126720" y="134315"/>
                  </a:lnTo>
                </a:path>
                <a:path w="342900" h="252729">
                  <a:moveTo>
                    <a:pt x="216712" y="133426"/>
                  </a:moveTo>
                  <a:lnTo>
                    <a:pt x="203181" y="149778"/>
                  </a:lnTo>
                  <a:lnTo>
                    <a:pt x="195853" y="166015"/>
                  </a:lnTo>
                  <a:lnTo>
                    <a:pt x="193020" y="182255"/>
                  </a:lnTo>
                  <a:lnTo>
                    <a:pt x="192976" y="198615"/>
                  </a:lnTo>
                  <a:lnTo>
                    <a:pt x="192951" y="252628"/>
                  </a:lnTo>
                </a:path>
                <a:path w="342900" h="252729">
                  <a:moveTo>
                    <a:pt x="81457" y="217309"/>
                  </a:moveTo>
                  <a:lnTo>
                    <a:pt x="81330" y="252628"/>
                  </a:lnTo>
                </a:path>
              </a:pathLst>
            </a:custGeom>
            <a:ln w="15203">
              <a:solidFill>
                <a:srgbClr val="3E24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920930" y="5230812"/>
            <a:ext cx="4777740" cy="683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>
                <a:solidFill>
                  <a:srgbClr val="4F4C49"/>
                </a:solidFill>
                <a:latin typeface="Cambria"/>
                <a:cs typeface="Cambria"/>
              </a:rPr>
              <a:t>Reduced</a:t>
            </a:r>
            <a:r>
              <a:rPr dirty="0" sz="1650" spc="95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50">
                <a:solidFill>
                  <a:srgbClr val="4F4C49"/>
                </a:solidFill>
                <a:latin typeface="Cambria"/>
                <a:cs typeface="Cambria"/>
              </a:rPr>
              <a:t>Manual</a:t>
            </a:r>
            <a:r>
              <a:rPr dirty="0" sz="1650" spc="10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30">
                <a:solidFill>
                  <a:srgbClr val="4F4C49"/>
                </a:solidFill>
                <a:latin typeface="Cambria"/>
                <a:cs typeface="Cambria"/>
              </a:rPr>
              <a:t>Effort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Managers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focus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on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4F4C49"/>
                </a:solidFill>
                <a:latin typeface="Verdana"/>
                <a:cs typeface="Verdana"/>
              </a:rPr>
              <a:t>strategy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instead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of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administrative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tasks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934075" y="6312509"/>
            <a:ext cx="342900" cy="310515"/>
          </a:xfrm>
          <a:custGeom>
            <a:avLst/>
            <a:gdLst/>
            <a:ahLst/>
            <a:cxnLst/>
            <a:rect l="l" t="t" r="r" b="b"/>
            <a:pathLst>
              <a:path w="342900" h="310515">
                <a:moveTo>
                  <a:pt x="0" y="0"/>
                </a:moveTo>
                <a:lnTo>
                  <a:pt x="88" y="309930"/>
                </a:lnTo>
                <a:lnTo>
                  <a:pt x="342569" y="309930"/>
                </a:lnTo>
              </a:path>
              <a:path w="342900" h="310515">
                <a:moveTo>
                  <a:pt x="280758" y="21793"/>
                </a:moveTo>
                <a:lnTo>
                  <a:pt x="341223" y="3746"/>
                </a:lnTo>
                <a:lnTo>
                  <a:pt x="212280" y="177546"/>
                </a:lnTo>
                <a:lnTo>
                  <a:pt x="152577" y="114909"/>
                </a:lnTo>
              </a:path>
              <a:path w="342900" h="310515">
                <a:moveTo>
                  <a:pt x="38036" y="256133"/>
                </a:moveTo>
                <a:lnTo>
                  <a:pt x="152577" y="114909"/>
                </a:lnTo>
              </a:path>
              <a:path w="342900" h="310515">
                <a:moveTo>
                  <a:pt x="342709" y="64960"/>
                </a:moveTo>
                <a:lnTo>
                  <a:pt x="342900" y="3251"/>
                </a:lnTo>
              </a:path>
            </a:pathLst>
          </a:custGeom>
          <a:ln w="15390">
            <a:solidFill>
              <a:srgbClr val="3E24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5920930" y="6850062"/>
            <a:ext cx="4853940" cy="683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5">
                <a:solidFill>
                  <a:srgbClr val="4F4C49"/>
                </a:solidFill>
                <a:latin typeface="Cambria"/>
                <a:cs typeface="Cambria"/>
              </a:rPr>
              <a:t>Improved</a:t>
            </a:r>
            <a:r>
              <a:rPr dirty="0" sz="1650" spc="114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05">
                <a:solidFill>
                  <a:srgbClr val="4F4C49"/>
                </a:solidFill>
                <a:latin typeface="Cambria"/>
                <a:cs typeface="Cambria"/>
              </a:rPr>
              <a:t>Productivity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1350" spc="-80">
                <a:solidFill>
                  <a:srgbClr val="4F4C49"/>
                </a:solidFill>
                <a:latin typeface="Verdana"/>
                <a:cs typeface="Verdana"/>
              </a:rPr>
              <a:t>Teams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complete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more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work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with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better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resource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utilization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81025" y="7953375"/>
            <a:ext cx="5048250" cy="1581150"/>
            <a:chOff x="581025" y="7953375"/>
            <a:chExt cx="5048250" cy="1581150"/>
          </a:xfrm>
        </p:grpSpPr>
        <p:sp>
          <p:nvSpPr>
            <p:cNvPr id="17" name="object 17" descr=""/>
            <p:cNvSpPr/>
            <p:nvPr/>
          </p:nvSpPr>
          <p:spPr>
            <a:xfrm>
              <a:off x="600075" y="7962900"/>
              <a:ext cx="5019675" cy="1562100"/>
            </a:xfrm>
            <a:custGeom>
              <a:avLst/>
              <a:gdLst/>
              <a:ahLst/>
              <a:cxnLst/>
              <a:rect l="l" t="t" r="r" b="b"/>
              <a:pathLst>
                <a:path w="5019675" h="1562100">
                  <a:moveTo>
                    <a:pt x="5011051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495426"/>
                  </a:lnTo>
                  <a:lnTo>
                    <a:pt x="0" y="1499801"/>
                  </a:lnTo>
                  <a:lnTo>
                    <a:pt x="15622" y="1536105"/>
                  </a:lnTo>
                  <a:lnTo>
                    <a:pt x="51663" y="1558697"/>
                  </a:lnTo>
                  <a:lnTo>
                    <a:pt x="71194" y="1562101"/>
                  </a:lnTo>
                  <a:lnTo>
                    <a:pt x="5011051" y="1562101"/>
                  </a:lnTo>
                  <a:lnTo>
                    <a:pt x="5013858" y="1560935"/>
                  </a:lnTo>
                  <a:lnTo>
                    <a:pt x="5018519" y="1556287"/>
                  </a:lnTo>
                  <a:lnTo>
                    <a:pt x="5019675" y="1553479"/>
                  </a:lnTo>
                  <a:lnTo>
                    <a:pt x="5019675" y="8623"/>
                  </a:lnTo>
                  <a:lnTo>
                    <a:pt x="5018519" y="5803"/>
                  </a:lnTo>
                  <a:lnTo>
                    <a:pt x="5013858" y="1155"/>
                  </a:lnTo>
                  <a:lnTo>
                    <a:pt x="5011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0913" y="7953387"/>
              <a:ext cx="5028565" cy="1581150"/>
            </a:xfrm>
            <a:custGeom>
              <a:avLst/>
              <a:gdLst/>
              <a:ahLst/>
              <a:cxnLst/>
              <a:rect l="l" t="t" r="r" b="b"/>
              <a:pathLst>
                <a:path w="5028565" h="1581150">
                  <a:moveTo>
                    <a:pt x="5028349" y="15519"/>
                  </a:moveTo>
                  <a:lnTo>
                    <a:pt x="5026253" y="10464"/>
                  </a:lnTo>
                  <a:lnTo>
                    <a:pt x="5022545" y="6756"/>
                  </a:lnTo>
                  <a:lnTo>
                    <a:pt x="5022075" y="6273"/>
                  </a:lnTo>
                  <a:lnTo>
                    <a:pt x="5017884" y="2095"/>
                  </a:lnTo>
                  <a:lnTo>
                    <a:pt x="50128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008511" y="19050"/>
                  </a:lnTo>
                  <a:lnTo>
                    <a:pt x="5009223" y="19786"/>
                  </a:lnTo>
                  <a:lnTo>
                    <a:pt x="5009299" y="1561299"/>
                  </a:lnTo>
                  <a:lnTo>
                    <a:pt x="5008905" y="1561706"/>
                  </a:lnTo>
                  <a:lnTo>
                    <a:pt x="5008511" y="1562100"/>
                  </a:lnTo>
                  <a:lnTo>
                    <a:pt x="75349" y="1562100"/>
                  </a:lnTo>
                  <a:lnTo>
                    <a:pt x="33007" y="1552473"/>
                  </a:lnTo>
                  <a:lnTo>
                    <a:pt x="1092" y="1519809"/>
                  </a:lnTo>
                  <a:lnTo>
                    <a:pt x="0" y="1515694"/>
                  </a:lnTo>
                  <a:lnTo>
                    <a:pt x="609" y="1519809"/>
                  </a:lnTo>
                  <a:lnTo>
                    <a:pt x="21475" y="1558823"/>
                  </a:lnTo>
                  <a:lnTo>
                    <a:pt x="60490" y="1579689"/>
                  </a:lnTo>
                  <a:lnTo>
                    <a:pt x="75349" y="1581150"/>
                  </a:lnTo>
                  <a:lnTo>
                    <a:pt x="5012842" y="1581150"/>
                  </a:lnTo>
                  <a:lnTo>
                    <a:pt x="5017884" y="1579054"/>
                  </a:lnTo>
                  <a:lnTo>
                    <a:pt x="5022075" y="1574863"/>
                  </a:lnTo>
                  <a:lnTo>
                    <a:pt x="5022558" y="1574393"/>
                  </a:lnTo>
                  <a:lnTo>
                    <a:pt x="5026253" y="1570685"/>
                  </a:lnTo>
                  <a:lnTo>
                    <a:pt x="5028349" y="1565630"/>
                  </a:lnTo>
                  <a:lnTo>
                    <a:pt x="5028349" y="15519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81025" y="7953375"/>
              <a:ext cx="76200" cy="1581150"/>
            </a:xfrm>
            <a:custGeom>
              <a:avLst/>
              <a:gdLst/>
              <a:ahLst/>
              <a:cxnLst/>
              <a:rect l="l" t="t" r="r" b="b"/>
              <a:pathLst>
                <a:path w="76200" h="1581150">
                  <a:moveTo>
                    <a:pt x="76200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1559720"/>
                  </a:lnTo>
                  <a:lnTo>
                    <a:pt x="0" y="1562557"/>
                  </a:lnTo>
                  <a:lnTo>
                    <a:pt x="18588" y="1581151"/>
                  </a:lnTo>
                  <a:lnTo>
                    <a:pt x="76200" y="158115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E24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835025" y="8135937"/>
            <a:ext cx="4126229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>
                <a:solidFill>
                  <a:srgbClr val="4F4C49"/>
                </a:solidFill>
                <a:latin typeface="Cambria"/>
                <a:cs typeface="Cambria"/>
              </a:rPr>
              <a:t>For </a:t>
            </a:r>
            <a:r>
              <a:rPr dirty="0" sz="1650" spc="140">
                <a:solidFill>
                  <a:srgbClr val="4F4C49"/>
                </a:solidFill>
                <a:latin typeface="Cambria"/>
                <a:cs typeface="Cambria"/>
              </a:rPr>
              <a:t>Managers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Real-time</a:t>
            </a:r>
            <a:r>
              <a:rPr dirty="0" sz="1350" spc="-8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visibility</a:t>
            </a:r>
            <a:r>
              <a:rPr dirty="0" sz="1350" spc="-8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into</a:t>
            </a:r>
            <a:r>
              <a:rPr dirty="0" sz="1350" spc="-8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team</a:t>
            </a:r>
            <a:r>
              <a:rPr dirty="0" sz="1350" spc="-8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capacity,</a:t>
            </a:r>
            <a:r>
              <a:rPr dirty="0" sz="1350" spc="-8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workload distribution,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assignment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history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enables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4F4C49"/>
                </a:solidFill>
                <a:latin typeface="Verdana"/>
                <a:cs typeface="Verdana"/>
              </a:rPr>
              <a:t>data-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driven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decisions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781675" y="7953375"/>
            <a:ext cx="5048250" cy="1581150"/>
            <a:chOff x="5781675" y="7953375"/>
            <a:chExt cx="5048250" cy="1581150"/>
          </a:xfrm>
        </p:grpSpPr>
        <p:sp>
          <p:nvSpPr>
            <p:cNvPr id="22" name="object 22" descr=""/>
            <p:cNvSpPr/>
            <p:nvPr/>
          </p:nvSpPr>
          <p:spPr>
            <a:xfrm>
              <a:off x="5800725" y="7962900"/>
              <a:ext cx="5019675" cy="1562100"/>
            </a:xfrm>
            <a:custGeom>
              <a:avLst/>
              <a:gdLst/>
              <a:ahLst/>
              <a:cxnLst/>
              <a:rect l="l" t="t" r="r" b="b"/>
              <a:pathLst>
                <a:path w="5019675" h="1562100">
                  <a:moveTo>
                    <a:pt x="50110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495426"/>
                  </a:lnTo>
                  <a:lnTo>
                    <a:pt x="0" y="1499801"/>
                  </a:lnTo>
                  <a:lnTo>
                    <a:pt x="15621" y="1536105"/>
                  </a:lnTo>
                  <a:lnTo>
                    <a:pt x="51663" y="1558697"/>
                  </a:lnTo>
                  <a:lnTo>
                    <a:pt x="71196" y="1562101"/>
                  </a:lnTo>
                  <a:lnTo>
                    <a:pt x="5011051" y="1562101"/>
                  </a:lnTo>
                  <a:lnTo>
                    <a:pt x="5013858" y="1560935"/>
                  </a:lnTo>
                  <a:lnTo>
                    <a:pt x="5018506" y="1556287"/>
                  </a:lnTo>
                  <a:lnTo>
                    <a:pt x="5019675" y="1553479"/>
                  </a:lnTo>
                  <a:lnTo>
                    <a:pt x="5019675" y="8623"/>
                  </a:lnTo>
                  <a:lnTo>
                    <a:pt x="5018506" y="5803"/>
                  </a:lnTo>
                  <a:lnTo>
                    <a:pt x="5013858" y="1155"/>
                  </a:lnTo>
                  <a:lnTo>
                    <a:pt x="5011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801563" y="7953387"/>
              <a:ext cx="5028565" cy="1581150"/>
            </a:xfrm>
            <a:custGeom>
              <a:avLst/>
              <a:gdLst/>
              <a:ahLst/>
              <a:cxnLst/>
              <a:rect l="l" t="t" r="r" b="b"/>
              <a:pathLst>
                <a:path w="5028565" h="1581150">
                  <a:moveTo>
                    <a:pt x="5028349" y="15519"/>
                  </a:moveTo>
                  <a:lnTo>
                    <a:pt x="5026253" y="10464"/>
                  </a:lnTo>
                  <a:lnTo>
                    <a:pt x="5022545" y="6756"/>
                  </a:lnTo>
                  <a:lnTo>
                    <a:pt x="5022075" y="6273"/>
                  </a:lnTo>
                  <a:lnTo>
                    <a:pt x="5017884" y="2095"/>
                  </a:lnTo>
                  <a:lnTo>
                    <a:pt x="50128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008511" y="19050"/>
                  </a:lnTo>
                  <a:lnTo>
                    <a:pt x="5009223" y="19786"/>
                  </a:lnTo>
                  <a:lnTo>
                    <a:pt x="5009299" y="1561299"/>
                  </a:lnTo>
                  <a:lnTo>
                    <a:pt x="5008905" y="1561706"/>
                  </a:lnTo>
                  <a:lnTo>
                    <a:pt x="5008511" y="1562100"/>
                  </a:lnTo>
                  <a:lnTo>
                    <a:pt x="75349" y="1562100"/>
                  </a:lnTo>
                  <a:lnTo>
                    <a:pt x="33007" y="1552473"/>
                  </a:lnTo>
                  <a:lnTo>
                    <a:pt x="1079" y="1519809"/>
                  </a:lnTo>
                  <a:lnTo>
                    <a:pt x="0" y="1515706"/>
                  </a:lnTo>
                  <a:lnTo>
                    <a:pt x="609" y="1519809"/>
                  </a:lnTo>
                  <a:lnTo>
                    <a:pt x="21463" y="1558823"/>
                  </a:lnTo>
                  <a:lnTo>
                    <a:pt x="60490" y="1579689"/>
                  </a:lnTo>
                  <a:lnTo>
                    <a:pt x="75349" y="1581150"/>
                  </a:lnTo>
                  <a:lnTo>
                    <a:pt x="5012842" y="1581150"/>
                  </a:lnTo>
                  <a:lnTo>
                    <a:pt x="5017884" y="1579054"/>
                  </a:lnTo>
                  <a:lnTo>
                    <a:pt x="5022075" y="1574863"/>
                  </a:lnTo>
                  <a:lnTo>
                    <a:pt x="5022545" y="1574393"/>
                  </a:lnTo>
                  <a:lnTo>
                    <a:pt x="5026253" y="1570685"/>
                  </a:lnTo>
                  <a:lnTo>
                    <a:pt x="5028349" y="1565630"/>
                  </a:lnTo>
                  <a:lnTo>
                    <a:pt x="5028349" y="15519"/>
                  </a:lnTo>
                  <a:close/>
                </a:path>
              </a:pathLst>
            </a:custGeom>
            <a:solidFill>
              <a:srgbClr val="D8D4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781675" y="7953375"/>
              <a:ext cx="76200" cy="1581150"/>
            </a:xfrm>
            <a:custGeom>
              <a:avLst/>
              <a:gdLst/>
              <a:ahLst/>
              <a:cxnLst/>
              <a:rect l="l" t="t" r="r" b="b"/>
              <a:pathLst>
                <a:path w="76200" h="158115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559720"/>
                  </a:lnTo>
                  <a:lnTo>
                    <a:pt x="0" y="1562557"/>
                  </a:lnTo>
                  <a:lnTo>
                    <a:pt x="18592" y="1581151"/>
                  </a:lnTo>
                  <a:lnTo>
                    <a:pt x="76200" y="158115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E24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035675" y="8135937"/>
            <a:ext cx="450405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>
                <a:solidFill>
                  <a:srgbClr val="4F4C49"/>
                </a:solidFill>
                <a:latin typeface="Cambria"/>
                <a:cs typeface="Cambria"/>
              </a:rPr>
              <a:t>For </a:t>
            </a:r>
            <a:r>
              <a:rPr dirty="0" sz="1650" spc="110">
                <a:solidFill>
                  <a:srgbClr val="4F4C49"/>
                </a:solidFill>
                <a:latin typeface="Cambria"/>
                <a:cs typeface="Cambria"/>
              </a:rPr>
              <a:t>Employees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Fair,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transparent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assignment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process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ensures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everyone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receives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appropriate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work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matched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to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their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skills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and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availability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6" name="object 26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949223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2635250"/>
            <a:ext cx="58750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45"/>
              <a:t>Challenges</a:t>
            </a:r>
            <a:r>
              <a:rPr dirty="0" spc="150"/>
              <a:t> </a:t>
            </a:r>
            <a:r>
              <a:rPr dirty="0" spc="459"/>
              <a:t>&amp;</a:t>
            </a:r>
            <a:r>
              <a:rPr dirty="0" spc="155"/>
              <a:t> </a:t>
            </a:r>
            <a:r>
              <a:rPr dirty="0" spc="229"/>
              <a:t>Key</a:t>
            </a:r>
            <a:r>
              <a:rPr dirty="0" spc="155"/>
              <a:t> </a:t>
            </a:r>
            <a:r>
              <a:rPr dirty="0" spc="225"/>
              <a:t>Learnings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28650" y="41814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4F4C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28650" y="50577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77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77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4F4C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28650" y="566737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5"/>
                </a:lnTo>
                <a:lnTo>
                  <a:pt x="0" y="24785"/>
                </a:lnTo>
                <a:lnTo>
                  <a:pt x="0" y="32365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65"/>
                </a:lnTo>
                <a:lnTo>
                  <a:pt x="57150" y="28575"/>
                </a:lnTo>
                <a:lnTo>
                  <a:pt x="57150" y="24785"/>
                </a:lnTo>
                <a:lnTo>
                  <a:pt x="36010" y="725"/>
                </a:lnTo>
                <a:lnTo>
                  <a:pt x="32364" y="0"/>
                </a:lnTo>
                <a:close/>
              </a:path>
            </a:pathLst>
          </a:custGeom>
          <a:solidFill>
            <a:srgbClr val="4F4C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87375" y="3578225"/>
            <a:ext cx="4609465" cy="2498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50">
                <a:solidFill>
                  <a:srgbClr val="1F1B17"/>
                </a:solidFill>
                <a:latin typeface="Cambria"/>
                <a:cs typeface="Cambria"/>
              </a:rPr>
              <a:t>Challenges</a:t>
            </a:r>
            <a:r>
              <a:rPr dirty="0" sz="2000" spc="114">
                <a:solidFill>
                  <a:srgbClr val="1F1B17"/>
                </a:solidFill>
                <a:latin typeface="Cambria"/>
                <a:cs typeface="Cambria"/>
              </a:rPr>
              <a:t> </a:t>
            </a:r>
            <a:r>
              <a:rPr dirty="0" sz="2000" spc="185">
                <a:solidFill>
                  <a:srgbClr val="1F1B17"/>
                </a:solidFill>
                <a:latin typeface="Cambria"/>
                <a:cs typeface="Cambria"/>
              </a:rPr>
              <a:t>We</a:t>
            </a:r>
            <a:r>
              <a:rPr dirty="0" sz="2000" spc="114">
                <a:solidFill>
                  <a:srgbClr val="1F1B17"/>
                </a:solidFill>
                <a:latin typeface="Cambria"/>
                <a:cs typeface="Cambria"/>
              </a:rPr>
              <a:t> </a:t>
            </a:r>
            <a:r>
              <a:rPr dirty="0" sz="2000" spc="90">
                <a:solidFill>
                  <a:srgbClr val="1F1B17"/>
                </a:solidFill>
                <a:latin typeface="Cambria"/>
                <a:cs typeface="Cambria"/>
              </a:rPr>
              <a:t>Faced</a:t>
            </a:r>
            <a:endParaRPr sz="2000">
              <a:latin typeface="Cambria"/>
              <a:cs typeface="Cambria"/>
            </a:endParaRPr>
          </a:p>
          <a:p>
            <a:pPr marL="286385" marR="5080">
              <a:lnSpc>
                <a:spcPct val="131900"/>
              </a:lnSpc>
              <a:spcBef>
                <a:spcPts val="1030"/>
              </a:spcBef>
            </a:pPr>
            <a:r>
              <a:rPr dirty="0" sz="1350" spc="-90">
                <a:solidFill>
                  <a:srgbClr val="4F4C49"/>
                </a:solidFill>
                <a:latin typeface="Arial Black"/>
                <a:cs typeface="Arial Black"/>
              </a:rPr>
              <a:t>Defiining</a:t>
            </a:r>
            <a:r>
              <a:rPr dirty="0" sz="1350" spc="-12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114">
                <a:solidFill>
                  <a:srgbClr val="4F4C49"/>
                </a:solidFill>
                <a:latin typeface="Arial Black"/>
                <a:cs typeface="Arial Black"/>
              </a:rPr>
              <a:t>fiair</a:t>
            </a:r>
            <a:r>
              <a:rPr dirty="0" sz="1350" spc="-12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55">
                <a:solidFill>
                  <a:srgbClr val="4F4C49"/>
                </a:solidFill>
                <a:latin typeface="Arial Black"/>
                <a:cs typeface="Arial Black"/>
              </a:rPr>
              <a:t>rules:</a:t>
            </a:r>
            <a:r>
              <a:rPr dirty="0" sz="1350" spc="-9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Balancing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multiple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criteria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like skills,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availability,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workload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into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single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scoring system</a:t>
            </a:r>
            <a:endParaRPr sz="1350">
              <a:latin typeface="Verdana"/>
              <a:cs typeface="Verdana"/>
            </a:endParaRPr>
          </a:p>
          <a:p>
            <a:pPr marL="286385" marR="132715">
              <a:lnSpc>
                <a:spcPct val="134300"/>
              </a:lnSpc>
              <a:spcBef>
                <a:spcPts val="450"/>
              </a:spcBef>
            </a:pPr>
            <a:r>
              <a:rPr dirty="0" sz="1350" spc="-114">
                <a:solidFill>
                  <a:srgbClr val="4F4C49"/>
                </a:solidFill>
                <a:latin typeface="Arial Black"/>
                <a:cs typeface="Arial Black"/>
              </a:rPr>
              <a:t>Data</a:t>
            </a:r>
            <a:r>
              <a:rPr dirty="0" sz="1350" spc="-13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100">
                <a:solidFill>
                  <a:srgbClr val="4F4C49"/>
                </a:solidFill>
                <a:latin typeface="Arial Black"/>
                <a:cs typeface="Arial Black"/>
              </a:rPr>
              <a:t>accuracy: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Ensuring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employee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profiles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and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availability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information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stayed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current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reliable</a:t>
            </a:r>
            <a:endParaRPr sz="1350">
              <a:latin typeface="Verdana"/>
              <a:cs typeface="Verdana"/>
            </a:endParaRPr>
          </a:p>
          <a:p>
            <a:pPr marL="286385" marR="286385">
              <a:lnSpc>
                <a:spcPct val="134300"/>
              </a:lnSpc>
              <a:spcBef>
                <a:spcPts val="450"/>
              </a:spcBef>
            </a:pPr>
            <a:r>
              <a:rPr dirty="0" sz="1350" spc="-70">
                <a:solidFill>
                  <a:srgbClr val="4F4C49"/>
                </a:solidFill>
                <a:latin typeface="Arial Black"/>
                <a:cs typeface="Arial Black"/>
              </a:rPr>
              <a:t>Trust</a:t>
            </a:r>
            <a:r>
              <a:rPr dirty="0" sz="1350" spc="-13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>
                <a:solidFill>
                  <a:srgbClr val="4F4C49"/>
                </a:solidFill>
                <a:latin typeface="Arial Black"/>
                <a:cs typeface="Arial Black"/>
              </a:rPr>
              <a:t>in</a:t>
            </a:r>
            <a:r>
              <a:rPr dirty="0" sz="1350" spc="-13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Arial Black"/>
                <a:cs typeface="Arial Black"/>
              </a:rPr>
              <a:t>automation:</a:t>
            </a:r>
            <a:r>
              <a:rPr dirty="0" sz="1350" spc="-10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Building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confidence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among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managers</a:t>
            </a:r>
            <a:r>
              <a:rPr dirty="0" sz="1350" spc="-13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to</a:t>
            </a:r>
            <a:r>
              <a:rPr dirty="0" sz="1350" spc="-13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rely</a:t>
            </a:r>
            <a:r>
              <a:rPr dirty="0" sz="1350" spc="-13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on</a:t>
            </a:r>
            <a:r>
              <a:rPr dirty="0" sz="1350" spc="-13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algorithmic</a:t>
            </a:r>
            <a:r>
              <a:rPr dirty="0" sz="1350" spc="-13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assignments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962650" y="41814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F4C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962650" y="47815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F4C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962650" y="539114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30"/>
                </a:lnTo>
                <a:lnTo>
                  <a:pt x="0" y="24785"/>
                </a:lnTo>
                <a:lnTo>
                  <a:pt x="0" y="32365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65"/>
                </a:lnTo>
                <a:lnTo>
                  <a:pt x="57150" y="28575"/>
                </a:lnTo>
                <a:lnTo>
                  <a:pt x="57150" y="24785"/>
                </a:lnTo>
                <a:lnTo>
                  <a:pt x="36004" y="730"/>
                </a:lnTo>
                <a:lnTo>
                  <a:pt x="32359" y="0"/>
                </a:lnTo>
                <a:close/>
              </a:path>
            </a:pathLst>
          </a:custGeom>
          <a:solidFill>
            <a:srgbClr val="4F4C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920930" y="3578225"/>
            <a:ext cx="4718050" cy="2498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245">
                <a:solidFill>
                  <a:srgbClr val="1F1B17"/>
                </a:solidFill>
                <a:latin typeface="Cambria"/>
                <a:cs typeface="Cambria"/>
              </a:rPr>
              <a:t>What</a:t>
            </a:r>
            <a:r>
              <a:rPr dirty="0" sz="2000" spc="95">
                <a:solidFill>
                  <a:srgbClr val="1F1B17"/>
                </a:solidFill>
                <a:latin typeface="Cambria"/>
                <a:cs typeface="Cambria"/>
              </a:rPr>
              <a:t> </a:t>
            </a:r>
            <a:r>
              <a:rPr dirty="0" sz="2000" spc="185">
                <a:solidFill>
                  <a:srgbClr val="1F1B17"/>
                </a:solidFill>
                <a:latin typeface="Cambria"/>
                <a:cs typeface="Cambria"/>
              </a:rPr>
              <a:t>We</a:t>
            </a:r>
            <a:r>
              <a:rPr dirty="0" sz="2000" spc="95">
                <a:solidFill>
                  <a:srgbClr val="1F1B17"/>
                </a:solidFill>
                <a:latin typeface="Cambria"/>
                <a:cs typeface="Cambria"/>
              </a:rPr>
              <a:t> </a:t>
            </a:r>
            <a:r>
              <a:rPr dirty="0" sz="2000" spc="125">
                <a:solidFill>
                  <a:srgbClr val="1F1B17"/>
                </a:solidFill>
                <a:latin typeface="Cambria"/>
                <a:cs typeface="Cambria"/>
              </a:rPr>
              <a:t>Learned</a:t>
            </a:r>
            <a:endParaRPr sz="2000">
              <a:latin typeface="Cambria"/>
              <a:cs typeface="Cambria"/>
            </a:endParaRPr>
          </a:p>
          <a:p>
            <a:pPr marL="286385" marR="5080">
              <a:lnSpc>
                <a:spcPct val="129600"/>
              </a:lnSpc>
              <a:spcBef>
                <a:spcPts val="1070"/>
              </a:spcBef>
            </a:pPr>
            <a:r>
              <a:rPr dirty="0" sz="1350" spc="-100">
                <a:solidFill>
                  <a:srgbClr val="4F4C49"/>
                </a:solidFill>
                <a:latin typeface="Arial Black"/>
                <a:cs typeface="Arial Black"/>
              </a:rPr>
              <a:t>Start</a:t>
            </a:r>
            <a:r>
              <a:rPr dirty="0" sz="1350" spc="-114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Arial Black"/>
                <a:cs typeface="Arial Black"/>
              </a:rPr>
              <a:t>simple:</a:t>
            </a:r>
            <a:r>
              <a:rPr dirty="0" sz="1350" spc="-85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Begin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with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basic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rules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gradually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add complexity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4F4C49"/>
                </a:solidFill>
                <a:latin typeface="Verdana"/>
                <a:cs typeface="Verdana"/>
              </a:rPr>
              <a:t>based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on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real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4F4C49"/>
                </a:solidFill>
                <a:latin typeface="Verdana"/>
                <a:cs typeface="Verdana"/>
              </a:rPr>
              <a:t>usage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patterns</a:t>
            </a:r>
            <a:endParaRPr sz="1350">
              <a:latin typeface="Verdana"/>
              <a:cs typeface="Verdana"/>
            </a:endParaRPr>
          </a:p>
          <a:p>
            <a:pPr marL="286385" marR="330200">
              <a:lnSpc>
                <a:spcPct val="134300"/>
              </a:lnSpc>
              <a:spcBef>
                <a:spcPts val="450"/>
              </a:spcBef>
            </a:pPr>
            <a:r>
              <a:rPr dirty="0" sz="1350" spc="-140">
                <a:solidFill>
                  <a:srgbClr val="4F4C49"/>
                </a:solidFill>
                <a:latin typeface="Arial Black"/>
                <a:cs typeface="Arial Black"/>
              </a:rPr>
              <a:t>Keep</a:t>
            </a:r>
            <a:r>
              <a:rPr dirty="0" sz="1350" spc="-100">
                <a:solidFill>
                  <a:srgbClr val="4F4C49"/>
                </a:solidFill>
                <a:latin typeface="Arial Black"/>
                <a:cs typeface="Arial Black"/>
              </a:rPr>
              <a:t> decisions </a:t>
            </a:r>
            <a:r>
              <a:rPr dirty="0" sz="1350" spc="-75">
                <a:solidFill>
                  <a:srgbClr val="4F4C49"/>
                </a:solidFill>
                <a:latin typeface="Arial Black"/>
                <a:cs typeface="Arial Black"/>
              </a:rPr>
              <a:t>explainable:</a:t>
            </a:r>
            <a:r>
              <a:rPr dirty="0" sz="1350" spc="-95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Transparency</a:t>
            </a:r>
            <a:r>
              <a:rPr dirty="0" sz="1350" spc="-8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in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why 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assignments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were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4F4C49"/>
                </a:solidFill>
                <a:latin typeface="Verdana"/>
                <a:cs typeface="Verdana"/>
              </a:rPr>
              <a:t>made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builds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trust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adoption</a:t>
            </a:r>
            <a:endParaRPr sz="1350">
              <a:latin typeface="Verdana"/>
              <a:cs typeface="Verdana"/>
            </a:endParaRPr>
          </a:p>
          <a:p>
            <a:pPr algn="just" marL="286385" marR="476250">
              <a:lnSpc>
                <a:spcPct val="134300"/>
              </a:lnSpc>
              <a:spcBef>
                <a:spcPts val="450"/>
              </a:spcBef>
            </a:pPr>
            <a:r>
              <a:rPr dirty="0" sz="1350" spc="-145">
                <a:solidFill>
                  <a:srgbClr val="4F4C49"/>
                </a:solidFill>
                <a:latin typeface="Arial Black"/>
                <a:cs typeface="Arial Black"/>
              </a:rPr>
              <a:t>Always</a:t>
            </a:r>
            <a:r>
              <a:rPr dirty="0" sz="1350" spc="3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95">
                <a:solidFill>
                  <a:srgbClr val="4F4C49"/>
                </a:solidFill>
                <a:latin typeface="Arial Black"/>
                <a:cs typeface="Arial Black"/>
              </a:rPr>
              <a:t>allow</a:t>
            </a:r>
            <a:r>
              <a:rPr dirty="0" sz="1350" spc="-15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85">
                <a:solidFill>
                  <a:srgbClr val="4F4C49"/>
                </a:solidFill>
                <a:latin typeface="Arial Black"/>
                <a:cs typeface="Arial Black"/>
              </a:rPr>
              <a:t>manual</a:t>
            </a:r>
            <a:r>
              <a:rPr dirty="0" sz="1350" spc="-3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80">
                <a:solidFill>
                  <a:srgbClr val="4F4C49"/>
                </a:solidFill>
                <a:latin typeface="Arial Black"/>
                <a:cs typeface="Arial Black"/>
              </a:rPr>
              <a:t>control:</a:t>
            </a:r>
            <a:r>
              <a:rPr dirty="0" sz="1350" spc="-10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Human</a:t>
            </a:r>
            <a:r>
              <a:rPr dirty="0" sz="1350" spc="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oversight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remains</a:t>
            </a:r>
            <a:r>
              <a:rPr dirty="0" sz="1350" spc="-8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essential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for </a:t>
            </a:r>
            <a:r>
              <a:rPr dirty="0" sz="1350" spc="-125">
                <a:solidFill>
                  <a:srgbClr val="4F4C49"/>
                </a:solidFill>
                <a:latin typeface="Verdana"/>
                <a:cs typeface="Verdana"/>
              </a:rPr>
              <a:t>edge</a:t>
            </a:r>
            <a:r>
              <a:rPr dirty="0" sz="1350" spc="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cases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exceptional circumstances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1" name="object 11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127242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0"/>
            <a:ext cx="4286250" cy="7820025"/>
            <a:chOff x="7143750" y="0"/>
            <a:chExt cx="4286250" cy="78200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50" cy="7820024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7309866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85"/>
              <a:t>Future</a:t>
            </a:r>
            <a:r>
              <a:rPr dirty="0" spc="145"/>
              <a:t> </a:t>
            </a:r>
            <a:r>
              <a:rPr dirty="0" spc="254"/>
              <a:t>Roadmap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600075" y="1409700"/>
            <a:ext cx="514350" cy="1123950"/>
            <a:chOff x="600075" y="1409700"/>
            <a:chExt cx="514350" cy="1123950"/>
          </a:xfrm>
        </p:grpSpPr>
        <p:sp>
          <p:nvSpPr>
            <p:cNvPr id="7" name="object 7" descr=""/>
            <p:cNvSpPr/>
            <p:nvPr/>
          </p:nvSpPr>
          <p:spPr>
            <a:xfrm>
              <a:off x="600075" y="1409699"/>
              <a:ext cx="514350" cy="1123950"/>
            </a:xfrm>
            <a:custGeom>
              <a:avLst/>
              <a:gdLst/>
              <a:ahLst/>
              <a:cxnLst/>
              <a:rect l="l" t="t" r="r" b="b"/>
              <a:pathLst>
                <a:path w="514350" h="1123950">
                  <a:moveTo>
                    <a:pt x="514350" y="248754"/>
                  </a:moveTo>
                  <a:lnTo>
                    <a:pt x="507758" y="198742"/>
                  </a:lnTo>
                  <a:lnTo>
                    <a:pt x="491540" y="150977"/>
                  </a:lnTo>
                  <a:lnTo>
                    <a:pt x="466318" y="107289"/>
                  </a:lnTo>
                  <a:lnTo>
                    <a:pt x="433070" y="69367"/>
                  </a:lnTo>
                  <a:lnTo>
                    <a:pt x="393039" y="38671"/>
                  </a:lnTo>
                  <a:lnTo>
                    <a:pt x="347802" y="16344"/>
                  </a:lnTo>
                  <a:lnTo>
                    <a:pt x="299085" y="3302"/>
                  </a:lnTo>
                  <a:lnTo>
                    <a:pt x="282371" y="1244"/>
                  </a:lnTo>
                  <a:lnTo>
                    <a:pt x="274002" y="419"/>
                  </a:lnTo>
                  <a:lnTo>
                    <a:pt x="265595" y="0"/>
                  </a:lnTo>
                  <a:lnTo>
                    <a:pt x="248742" y="0"/>
                  </a:lnTo>
                  <a:lnTo>
                    <a:pt x="240347" y="419"/>
                  </a:lnTo>
                  <a:lnTo>
                    <a:pt x="231965" y="1244"/>
                  </a:lnTo>
                  <a:lnTo>
                    <a:pt x="223583" y="2057"/>
                  </a:lnTo>
                  <a:lnTo>
                    <a:pt x="174459" y="13512"/>
                  </a:lnTo>
                  <a:lnTo>
                    <a:pt x="128511" y="34340"/>
                  </a:lnTo>
                  <a:lnTo>
                    <a:pt x="87515" y="63715"/>
                  </a:lnTo>
                  <a:lnTo>
                    <a:pt x="53022" y="100533"/>
                  </a:lnTo>
                  <a:lnTo>
                    <a:pt x="26390" y="143370"/>
                  </a:lnTo>
                  <a:lnTo>
                    <a:pt x="8623" y="190576"/>
                  </a:lnTo>
                  <a:lnTo>
                    <a:pt x="406" y="240347"/>
                  </a:lnTo>
                  <a:lnTo>
                    <a:pt x="0" y="248754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171450" y="499757"/>
                  </a:lnTo>
                  <a:lnTo>
                    <a:pt x="171450" y="1102512"/>
                  </a:lnTo>
                  <a:lnTo>
                    <a:pt x="171450" y="1105369"/>
                  </a:lnTo>
                  <a:lnTo>
                    <a:pt x="171983" y="1108087"/>
                  </a:lnTo>
                  <a:lnTo>
                    <a:pt x="190030" y="1123950"/>
                  </a:lnTo>
                  <a:lnTo>
                    <a:pt x="324307" y="1123950"/>
                  </a:lnTo>
                  <a:lnTo>
                    <a:pt x="342900" y="1105369"/>
                  </a:lnTo>
                  <a:lnTo>
                    <a:pt x="342900" y="499745"/>
                  </a:lnTo>
                  <a:lnTo>
                    <a:pt x="347802" y="497992"/>
                  </a:lnTo>
                  <a:lnTo>
                    <a:pt x="385826" y="480009"/>
                  </a:lnTo>
                  <a:lnTo>
                    <a:pt x="426834" y="450634"/>
                  </a:lnTo>
                  <a:lnTo>
                    <a:pt x="461314" y="413816"/>
                  </a:lnTo>
                  <a:lnTo>
                    <a:pt x="487946" y="370992"/>
                  </a:lnTo>
                  <a:lnTo>
                    <a:pt x="505714" y="323786"/>
                  </a:lnTo>
                  <a:lnTo>
                    <a:pt x="513930" y="274002"/>
                  </a:lnTo>
                  <a:lnTo>
                    <a:pt x="514350" y="265595"/>
                  </a:lnTo>
                  <a:lnTo>
                    <a:pt x="514350" y="257175"/>
                  </a:lnTo>
                  <a:lnTo>
                    <a:pt x="514350" y="248754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279" y="1537354"/>
              <a:ext cx="211441" cy="268565"/>
            </a:xfrm>
            <a:prstGeom prst="rect">
              <a:avLst/>
            </a:prstGeom>
          </p:spPr>
        </p:pic>
      </p:grpSp>
      <p:sp>
        <p:nvSpPr>
          <p:cNvPr id="9" name="object 9" descr=""/>
          <p:cNvSpPr/>
          <p:nvPr/>
        </p:nvSpPr>
        <p:spPr>
          <a:xfrm>
            <a:off x="1028700" y="2962275"/>
            <a:ext cx="171450" cy="1276350"/>
          </a:xfrm>
          <a:custGeom>
            <a:avLst/>
            <a:gdLst/>
            <a:ahLst/>
            <a:cxnLst/>
            <a:rect l="l" t="t" r="r" b="b"/>
            <a:pathLst>
              <a:path w="171450" h="1276350">
                <a:moveTo>
                  <a:pt x="152861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1254912"/>
                </a:lnTo>
                <a:lnTo>
                  <a:pt x="0" y="1257757"/>
                </a:lnTo>
                <a:lnTo>
                  <a:pt x="18588" y="1276350"/>
                </a:lnTo>
                <a:lnTo>
                  <a:pt x="152861" y="1276350"/>
                </a:lnTo>
                <a:lnTo>
                  <a:pt x="171450" y="1257757"/>
                </a:lnTo>
                <a:lnTo>
                  <a:pt x="171450" y="18592"/>
                </a:lnTo>
                <a:lnTo>
                  <a:pt x="155595" y="546"/>
                </a:lnTo>
                <a:lnTo>
                  <a:pt x="152861" y="0"/>
                </a:lnTo>
                <a:close/>
              </a:path>
            </a:pathLst>
          </a:custGeom>
          <a:solidFill>
            <a:srgbClr val="F9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273175" y="1430337"/>
            <a:ext cx="5250815" cy="2598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>
                <a:solidFill>
                  <a:srgbClr val="4F4C49"/>
                </a:solidFill>
                <a:latin typeface="Cambria"/>
                <a:cs typeface="Cambria"/>
              </a:rPr>
              <a:t>Predictive</a:t>
            </a:r>
            <a:r>
              <a:rPr dirty="0" sz="1650" spc="9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50">
                <a:solidFill>
                  <a:srgbClr val="4F4C49"/>
                </a:solidFill>
                <a:latin typeface="Cambria"/>
                <a:cs typeface="Cambria"/>
              </a:rPr>
              <a:t>Ÿask</a:t>
            </a:r>
            <a:r>
              <a:rPr dirty="0" sz="1650" spc="95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50">
                <a:solidFill>
                  <a:srgbClr val="4F4C49"/>
                </a:solidFill>
                <a:latin typeface="Cambria"/>
                <a:cs typeface="Cambria"/>
              </a:rPr>
              <a:t>Assignment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70">
                <a:solidFill>
                  <a:srgbClr val="4F4C49"/>
                </a:solidFill>
                <a:latin typeface="Verdana"/>
                <a:cs typeface="Verdana"/>
              </a:rPr>
              <a:t>Use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historical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data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machine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learning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to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anticipate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workload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patterns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proactively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assign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tasks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before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they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become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urgent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350">
              <a:latin typeface="Verdana"/>
              <a:cs typeface="Verdana"/>
            </a:endParaRPr>
          </a:p>
          <a:p>
            <a:pPr marL="269875">
              <a:lnSpc>
                <a:spcPct val="100000"/>
              </a:lnSpc>
            </a:pPr>
            <a:r>
              <a:rPr dirty="0" sz="1650" spc="110">
                <a:solidFill>
                  <a:srgbClr val="4F4C49"/>
                </a:solidFill>
                <a:latin typeface="Cambria"/>
                <a:cs typeface="Cambria"/>
              </a:rPr>
              <a:t>Self-</a:t>
            </a:r>
            <a:r>
              <a:rPr dirty="0" sz="1650" spc="130">
                <a:solidFill>
                  <a:srgbClr val="4F4C49"/>
                </a:solidFill>
                <a:latin typeface="Cambria"/>
                <a:cs typeface="Cambria"/>
              </a:rPr>
              <a:t>Learning</a:t>
            </a:r>
            <a:r>
              <a:rPr dirty="0" sz="1650" spc="90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20">
                <a:solidFill>
                  <a:srgbClr val="4F4C49"/>
                </a:solidFill>
                <a:latin typeface="Cambria"/>
                <a:cs typeface="Cambria"/>
              </a:rPr>
              <a:t>Improvements</a:t>
            </a:r>
            <a:endParaRPr sz="1650">
              <a:latin typeface="Cambria"/>
              <a:cs typeface="Cambria"/>
            </a:endParaRPr>
          </a:p>
          <a:p>
            <a:pPr marL="269875" marR="255904">
              <a:lnSpc>
                <a:spcPct val="134300"/>
              </a:lnSpc>
              <a:spcBef>
                <a:spcPts val="390"/>
              </a:spcBef>
            </a:pP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Implement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feedback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loops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that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continuously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refine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assignment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algorithms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4F4C49"/>
                </a:solidFill>
                <a:latin typeface="Verdana"/>
                <a:cs typeface="Verdana"/>
              </a:rPr>
              <a:t>based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on</a:t>
            </a:r>
            <a:r>
              <a:rPr dirty="0" sz="1350" spc="-9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completion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rates,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quality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metrics,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employee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feedback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114425" y="4552950"/>
            <a:ext cx="514350" cy="1390650"/>
            <a:chOff x="1114425" y="4552950"/>
            <a:chExt cx="514350" cy="1390650"/>
          </a:xfrm>
        </p:grpSpPr>
        <p:sp>
          <p:nvSpPr>
            <p:cNvPr id="12" name="object 12" descr=""/>
            <p:cNvSpPr/>
            <p:nvPr/>
          </p:nvSpPr>
          <p:spPr>
            <a:xfrm>
              <a:off x="1285875" y="4667250"/>
              <a:ext cx="171450" cy="1276350"/>
            </a:xfrm>
            <a:custGeom>
              <a:avLst/>
              <a:gdLst/>
              <a:ahLst/>
              <a:cxnLst/>
              <a:rect l="l" t="t" r="r" b="b"/>
              <a:pathLst>
                <a:path w="171450" h="1276350">
                  <a:moveTo>
                    <a:pt x="15285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254912"/>
                  </a:lnTo>
                  <a:lnTo>
                    <a:pt x="0" y="1257757"/>
                  </a:lnTo>
                  <a:lnTo>
                    <a:pt x="18592" y="1276350"/>
                  </a:lnTo>
                  <a:lnTo>
                    <a:pt x="152857" y="1276350"/>
                  </a:lnTo>
                  <a:lnTo>
                    <a:pt x="171450" y="1257757"/>
                  </a:lnTo>
                  <a:lnTo>
                    <a:pt x="171450" y="18592"/>
                  </a:lnTo>
                  <a:lnTo>
                    <a:pt x="155600" y="546"/>
                  </a:lnTo>
                  <a:lnTo>
                    <a:pt x="152857" y="0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114425" y="455295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71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5717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44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1742" y="4680527"/>
              <a:ext cx="268853" cy="268453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787525" y="4573587"/>
            <a:ext cx="4594860" cy="11601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5">
                <a:solidFill>
                  <a:srgbClr val="4F4C49"/>
                </a:solidFill>
                <a:latin typeface="Cambria"/>
                <a:cs typeface="Cambria"/>
              </a:rPr>
              <a:t>System</a:t>
            </a:r>
            <a:r>
              <a:rPr dirty="0" sz="1650" spc="105">
                <a:solidFill>
                  <a:srgbClr val="4F4C49"/>
                </a:solidFill>
                <a:latin typeface="Cambria"/>
                <a:cs typeface="Cambria"/>
              </a:rPr>
              <a:t> </a:t>
            </a:r>
            <a:r>
              <a:rPr dirty="0" sz="1650" spc="110">
                <a:solidFill>
                  <a:srgbClr val="4F4C49"/>
                </a:solidFill>
                <a:latin typeface="Cambria"/>
                <a:cs typeface="Cambria"/>
              </a:rPr>
              <a:t>Integration</a:t>
            </a:r>
            <a:endParaRPr sz="1650">
              <a:latin typeface="Cambria"/>
              <a:cs typeface="Cambria"/>
            </a:endParaRPr>
          </a:p>
          <a:p>
            <a:pPr algn="just" marL="12700" marR="5080">
              <a:lnSpc>
                <a:spcPct val="131900"/>
              </a:lnSpc>
              <a:spcBef>
                <a:spcPts val="505"/>
              </a:spcBef>
            </a:pP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Connect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with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HR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4F4C49"/>
                </a:solidFill>
                <a:latin typeface="Verdana"/>
                <a:cs typeface="Verdana"/>
              </a:rPr>
              <a:t>systems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for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 real-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time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skill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updates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and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CRM</a:t>
            </a:r>
            <a:r>
              <a:rPr dirty="0" sz="1350" spc="-12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tools </a:t>
            </a:r>
            <a:r>
              <a:rPr dirty="0" sz="1350" spc="-155">
                <a:solidFill>
                  <a:srgbClr val="4F4C49"/>
                </a:solidFill>
                <a:latin typeface="Verdana"/>
                <a:cs typeface="Verdana"/>
              </a:rPr>
              <a:t>to</a:t>
            </a:r>
            <a:r>
              <a:rPr dirty="0" sz="1350" spc="3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align</a:t>
            </a:r>
            <a:r>
              <a:rPr dirty="0" sz="1350" spc="-7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assignments </a:t>
            </a:r>
            <a:r>
              <a:rPr dirty="0" sz="1350">
                <a:solidFill>
                  <a:srgbClr val="4F4C49"/>
                </a:solidFill>
                <a:latin typeface="Verdana"/>
                <a:cs typeface="Verdana"/>
              </a:rPr>
              <a:t>with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customer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priorities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and</a:t>
            </a:r>
            <a:r>
              <a:rPr dirty="0" sz="1350" spc="-13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relationships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44550" y="6279515"/>
            <a:ext cx="5362575" cy="83502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Assignment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Agent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transforms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4F4C49"/>
                </a:solidFill>
                <a:latin typeface="Verdana"/>
                <a:cs typeface="Verdana"/>
              </a:rPr>
              <a:t>task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allocation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into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4F4C49"/>
                </a:solidFill>
                <a:latin typeface="Verdana"/>
                <a:cs typeface="Verdana"/>
              </a:rPr>
              <a:t>a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smart,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data-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driven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process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that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empowers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4F4C49"/>
                </a:solidFill>
                <a:latin typeface="Verdana"/>
                <a:cs typeface="Verdana"/>
              </a:rPr>
              <a:t>teams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to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work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more</a:t>
            </a:r>
            <a:r>
              <a:rPr dirty="0" sz="1350" spc="-114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efficiently</a:t>
            </a:r>
            <a:r>
              <a:rPr dirty="0" sz="1350" spc="-11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and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effectively.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00075" y="6134098"/>
            <a:ext cx="19050" cy="1209675"/>
          </a:xfrm>
          <a:custGeom>
            <a:avLst/>
            <a:gdLst/>
            <a:ahLst/>
            <a:cxnLst/>
            <a:rect l="l" t="t" r="r" b="b"/>
            <a:pathLst>
              <a:path w="19050" h="1209675">
                <a:moveTo>
                  <a:pt x="19050" y="0"/>
                </a:moveTo>
                <a:lnTo>
                  <a:pt x="0" y="0"/>
                </a:lnTo>
                <a:lnTo>
                  <a:pt x="0" y="1209675"/>
                </a:lnTo>
                <a:lnTo>
                  <a:pt x="19050" y="1209675"/>
                </a:lnTo>
                <a:lnTo>
                  <a:pt x="19050" y="0"/>
                </a:lnTo>
                <a:close/>
              </a:path>
            </a:pathLst>
          </a:custGeom>
          <a:solidFill>
            <a:srgbClr val="3E241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857250" y="2847975"/>
            <a:ext cx="514350" cy="514350"/>
            <a:chOff x="857250" y="2847975"/>
            <a:chExt cx="514350" cy="514350"/>
          </a:xfrm>
        </p:grpSpPr>
        <p:sp>
          <p:nvSpPr>
            <p:cNvPr id="19" name="object 19" descr=""/>
            <p:cNvSpPr/>
            <p:nvPr/>
          </p:nvSpPr>
          <p:spPr>
            <a:xfrm>
              <a:off x="857250" y="28479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231968" y="1244"/>
                  </a:lnTo>
                  <a:lnTo>
                    <a:pt x="223584" y="2057"/>
                  </a:lnTo>
                  <a:lnTo>
                    <a:pt x="174461" y="13512"/>
                  </a:lnTo>
                  <a:lnTo>
                    <a:pt x="128512" y="34340"/>
                  </a:lnTo>
                  <a:lnTo>
                    <a:pt x="87515" y="63715"/>
                  </a:lnTo>
                  <a:lnTo>
                    <a:pt x="53032" y="100533"/>
                  </a:lnTo>
                  <a:lnTo>
                    <a:pt x="26396" y="143370"/>
                  </a:lnTo>
                  <a:lnTo>
                    <a:pt x="8627" y="190588"/>
                  </a:lnTo>
                  <a:lnTo>
                    <a:pt x="411" y="240347"/>
                  </a:lnTo>
                  <a:lnTo>
                    <a:pt x="0" y="248754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71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5717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82381" y="1244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F9F7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4832" y="2967931"/>
              <a:ext cx="268739" cy="2649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377950"/>
            <a:ext cx="22980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25"/>
              <a:t>Ÿknnk</a:t>
            </a:r>
            <a:r>
              <a:rPr dirty="0" spc="160"/>
              <a:t> </a:t>
            </a:r>
            <a:r>
              <a:rPr dirty="0" spc="125"/>
              <a:t>Vou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886325" y="4310062"/>
            <a:ext cx="5943600" cy="28575"/>
            <a:chOff x="4886325" y="4310062"/>
            <a:chExt cx="5943600" cy="28575"/>
          </a:xfrm>
        </p:grpSpPr>
        <p:sp>
          <p:nvSpPr>
            <p:cNvPr id="5" name="object 5" descr=""/>
            <p:cNvSpPr/>
            <p:nvPr/>
          </p:nvSpPr>
          <p:spPr>
            <a:xfrm>
              <a:off x="4886325" y="4310062"/>
              <a:ext cx="5943600" cy="28575"/>
            </a:xfrm>
            <a:custGeom>
              <a:avLst/>
              <a:gdLst/>
              <a:ahLst/>
              <a:cxnLst/>
              <a:rect l="l" t="t" r="r" b="b"/>
              <a:pathLst>
                <a:path w="5943600" h="28575">
                  <a:moveTo>
                    <a:pt x="59436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5943600" y="2857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4F4C4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86325" y="4329112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59436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5943600" y="952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35"/>
              <a:t>Qugstions?</a:t>
            </a:r>
          </a:p>
          <a:p>
            <a:pPr marL="12700" marR="5080">
              <a:lnSpc>
                <a:spcPct val="134300"/>
              </a:lnSpc>
              <a:spcBef>
                <a:spcPts val="1545"/>
              </a:spcBef>
            </a:pPr>
            <a:r>
              <a:rPr dirty="0" sz="1350" spc="-70">
                <a:solidFill>
                  <a:srgbClr val="4F4C49"/>
                </a:solidFill>
                <a:latin typeface="Verdana"/>
                <a:cs typeface="Verdana"/>
              </a:rPr>
              <a:t>CoastalSeven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Consulting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is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committed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4F4C49"/>
                </a:solidFill>
                <a:latin typeface="Verdana"/>
                <a:cs typeface="Verdana"/>
              </a:rPr>
              <a:t>to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4F4C49"/>
                </a:solidFill>
                <a:latin typeface="Verdana"/>
                <a:cs typeface="Verdana"/>
              </a:rPr>
              <a:t>delivering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intelligent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automation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4F4C49"/>
                </a:solidFill>
                <a:latin typeface="Verdana"/>
                <a:cs typeface="Verdana"/>
              </a:rPr>
              <a:t>solutions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that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4F4C49"/>
                </a:solidFill>
                <a:latin typeface="Verdana"/>
                <a:cs typeface="Verdana"/>
              </a:rPr>
              <a:t>drive</a:t>
            </a:r>
            <a:r>
              <a:rPr dirty="0" sz="1350" spc="-100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4F4C49"/>
                </a:solidFill>
                <a:latin typeface="Verdana"/>
                <a:cs typeface="Verdana"/>
              </a:rPr>
              <a:t>real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4F4C49"/>
                </a:solidFill>
                <a:latin typeface="Verdana"/>
                <a:cs typeface="Verdana"/>
              </a:rPr>
              <a:t>business</a:t>
            </a:r>
            <a:r>
              <a:rPr dirty="0" sz="1350" spc="-10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value.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350">
              <a:latin typeface="Verdana"/>
              <a:cs typeface="Verdana"/>
            </a:endParaRPr>
          </a:p>
          <a:p>
            <a:pPr marL="12700" marR="2028825">
              <a:lnSpc>
                <a:spcPct val="134300"/>
              </a:lnSpc>
            </a:pPr>
            <a:r>
              <a:rPr dirty="0" sz="1350" spc="-110">
                <a:solidFill>
                  <a:srgbClr val="4F4C49"/>
                </a:solidFill>
                <a:latin typeface="Arial Black"/>
                <a:cs typeface="Arial Black"/>
              </a:rPr>
              <a:t>Contact:</a:t>
            </a:r>
            <a:r>
              <a:rPr dirty="0" sz="1350" spc="-45">
                <a:solidFill>
                  <a:srgbClr val="4F4C49"/>
                </a:solidFill>
                <a:latin typeface="Arial Black"/>
                <a:cs typeface="Arial Black"/>
              </a:rPr>
              <a:t> </a:t>
            </a:r>
            <a:r>
              <a:rPr dirty="0" sz="1350" spc="-45">
                <a:solidFill>
                  <a:srgbClr val="4F4C49"/>
                </a:solidFill>
                <a:latin typeface="Verdana"/>
                <a:cs typeface="Verdana"/>
              </a:rPr>
              <a:t>Subramanian</a:t>
            </a:r>
            <a:r>
              <a:rPr dirty="0" sz="1350" spc="-6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4F4C49"/>
                </a:solidFill>
                <a:latin typeface="Verdana"/>
                <a:cs typeface="Verdana"/>
              </a:rPr>
              <a:t>Rajaganapathi </a:t>
            </a:r>
            <a:r>
              <a:rPr dirty="0" sz="1350" spc="-70">
                <a:solidFill>
                  <a:srgbClr val="4F4C49"/>
                </a:solidFill>
                <a:latin typeface="Verdana"/>
                <a:cs typeface="Verdana"/>
              </a:rPr>
              <a:t>CoastalSeven</a:t>
            </a:r>
            <a:r>
              <a:rPr dirty="0" sz="1350" spc="-55">
                <a:solidFill>
                  <a:srgbClr val="4F4C49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4F4C49"/>
                </a:solidFill>
                <a:latin typeface="Verdana"/>
                <a:cs typeface="Verdana"/>
              </a:rPr>
              <a:t>Consulting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8" name="object 8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2025-12-30T02:23:14Z</dcterms:created>
  <dcterms:modified xsi:type="dcterms:W3CDTF">2025-12-30T02:23:14Z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2025-12-30T00:00:00Z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2025-12-30T00:00:00Z</vt:filetime>
  </property>
  <property fmtid="{D5CDD505-2E9C-101B-9397-08002B2CF9AE}" pid="5" name="Producer">
    <vt:lpwstr>GPL Ghostscript 9.56.1</vt:lpwstr>
  </property>
</Properties>
</file>