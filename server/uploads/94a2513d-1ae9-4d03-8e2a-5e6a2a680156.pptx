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Bold" panose="020B0604020202020204" charset="0"/>
      <p:regular r:id="rId15"/>
    </p:embeddedFont>
    <p:embeddedFont>
      <p:font typeface="Poppins" panose="020B0604020202020204" charset="0"/>
      <p:regular r:id="rId16"/>
      <p:bold r:id="rId17"/>
      <p:italic r:id="rId18"/>
      <p:boldItalic r:id="rId19"/>
    </p:embeddedFont>
    <p:embeddedFont>
      <p:font typeface="Poppins Bold" panose="020B0604020202020204" charset="0"/>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C78B3-6B59-C8D5-C84A-5821D635530D}" v="2" dt="2025-12-27T12:49:28.784"/>
    <p1510:client id="{79718774-2461-932D-086C-6EE130AD51EA}" v="3" dt="2025-12-26T14:39:49.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63d9f253-125e-41bd-b481-8be69061e846::" providerId="AD" clId="Web-{01BC78B3-6B59-C8D5-C84A-5821D635530D}"/>
    <pc:docChg chg="addSld delSld">
      <pc:chgData name="Guest User" userId="S::urn:spo:tenantanon#63d9f253-125e-41bd-b481-8be69061e846::" providerId="AD" clId="Web-{01BC78B3-6B59-C8D5-C84A-5821D635530D}" dt="2025-12-27T12:49:28.784" v="1"/>
      <pc:docMkLst>
        <pc:docMk/>
      </pc:docMkLst>
      <pc:sldChg chg="new del">
        <pc:chgData name="Guest User" userId="S::urn:spo:tenantanon#63d9f253-125e-41bd-b481-8be69061e846::" providerId="AD" clId="Web-{01BC78B3-6B59-C8D5-C84A-5821D635530D}" dt="2025-12-27T12:49:28.784" v="1"/>
        <pc:sldMkLst>
          <pc:docMk/>
          <pc:sldMk cId="135467594" sldId="269"/>
        </pc:sldMkLst>
      </pc:sldChg>
    </pc:docChg>
  </pc:docChgLst>
  <pc:docChgLst>
    <pc:chgData name="Guest User" userId="S::urn:spo:tenantanon#63d9f253-125e-41bd-b481-8be69061e846::" providerId="AD" clId="Web-{79718774-2461-932D-086C-6EE130AD51EA}"/>
    <pc:docChg chg="modSld">
      <pc:chgData name="Guest User" userId="S::urn:spo:tenantanon#63d9f253-125e-41bd-b481-8be69061e846::" providerId="AD" clId="Web-{79718774-2461-932D-086C-6EE130AD51EA}" dt="2025-12-26T14:39:49.188" v="2" actId="1076"/>
      <pc:docMkLst>
        <pc:docMk/>
      </pc:docMkLst>
      <pc:sldChg chg="modSp">
        <pc:chgData name="Guest User" userId="S::urn:spo:tenantanon#63d9f253-125e-41bd-b481-8be69061e846::" providerId="AD" clId="Web-{79718774-2461-932D-086C-6EE130AD51EA}" dt="2025-12-26T14:39:49.188" v="2" actId="1076"/>
        <pc:sldMkLst>
          <pc:docMk/>
          <pc:sldMk cId="0" sldId="266"/>
        </pc:sldMkLst>
        <pc:spChg chg="mod">
          <ac:chgData name="Guest User" userId="S::urn:spo:tenantanon#63d9f253-125e-41bd-b481-8be69061e846::" providerId="AD" clId="Web-{79718774-2461-932D-086C-6EE130AD51EA}" dt="2025-12-26T14:39:49.188" v="2" actId="1076"/>
          <ac:spMkLst>
            <pc:docMk/>
            <pc:sldMk cId="0" sldId="26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hiverhq.com/blog/escalation-email-templates-and-best-practices" TargetMode="Externa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hiverhq.com/blog/escalation-email-templates-and-best-practice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208763" y="1666891"/>
            <a:ext cx="11870475" cy="3476609"/>
          </a:xfrm>
          <a:custGeom>
            <a:avLst/>
            <a:gdLst/>
            <a:ahLst/>
            <a:cxnLst/>
            <a:rect l="l" t="t" r="r" b="b"/>
            <a:pathLst>
              <a:path w="11870475" h="3476609">
                <a:moveTo>
                  <a:pt x="0" y="0"/>
                </a:moveTo>
                <a:lnTo>
                  <a:pt x="11870474" y="0"/>
                </a:lnTo>
                <a:lnTo>
                  <a:pt x="11870474" y="3476609"/>
                </a:lnTo>
                <a:lnTo>
                  <a:pt x="0" y="3476609"/>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597470" y="6007612"/>
            <a:ext cx="11093060" cy="669441"/>
          </a:xfrm>
          <a:prstGeom prst="rect">
            <a:avLst/>
          </a:prstGeom>
        </p:spPr>
        <p:txBody>
          <a:bodyPr lIns="0" tIns="0" rIns="0" bIns="0" rtlCol="0" anchor="t">
            <a:spAutoFit/>
          </a:bodyPr>
          <a:lstStyle/>
          <a:p>
            <a:pPr algn="ctr">
              <a:lnSpc>
                <a:spcPts val="5472"/>
              </a:lnSpc>
              <a:spcBef>
                <a:spcPct val="0"/>
              </a:spcBef>
            </a:pPr>
            <a:r>
              <a:rPr lang="en-US" sz="3908" b="1">
                <a:solidFill>
                  <a:srgbClr val="000000"/>
                </a:solidFill>
                <a:latin typeface="Canva Sans Bold"/>
                <a:ea typeface="Canva Sans Bold"/>
                <a:cs typeface="Canva Sans Bold"/>
                <a:sym typeface="Canva Sans Bold"/>
              </a:rPr>
              <a:t>Day 10, 11 and 12 - Professional Email Mastery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924507" y="2909108"/>
            <a:ext cx="14741950" cy="5487279"/>
          </a:xfrm>
          <a:prstGeom prst="rect">
            <a:avLst/>
          </a:prstGeom>
        </p:spPr>
        <p:txBody>
          <a:bodyPr lIns="0" tIns="0" rIns="0" bIns="0" rtlCol="0" anchor="t">
            <a:spAutoFit/>
          </a:bodyPr>
          <a:lstStyle/>
          <a:p>
            <a:pPr marL="777237" lvl="1" indent="-388618" algn="l">
              <a:lnSpc>
                <a:spcPts val="5435"/>
              </a:lnSpc>
              <a:buFont typeface="Arial"/>
              <a:buChar char="•"/>
            </a:pPr>
            <a:r>
              <a:rPr lang="en-US" sz="3599">
                <a:solidFill>
                  <a:srgbClr val="000000"/>
                </a:solidFill>
                <a:latin typeface="Poppins"/>
                <a:ea typeface="Poppins"/>
                <a:cs typeface="Poppins"/>
                <a:sym typeface="Poppins"/>
              </a:rPr>
              <a:t>A collection of messages (original + replies/forwards) on the same topic, linked chronologically by subject line.</a:t>
            </a:r>
          </a:p>
          <a:p>
            <a:pPr marL="777237" lvl="1" indent="-388618" algn="l">
              <a:lnSpc>
                <a:spcPts val="5435"/>
              </a:lnSpc>
              <a:buFont typeface="Arial"/>
              <a:buChar char="•"/>
            </a:pPr>
            <a:r>
              <a:rPr lang="en-US" sz="3599">
                <a:solidFill>
                  <a:srgbClr val="000000"/>
                </a:solidFill>
                <a:latin typeface="Poppins"/>
                <a:ea typeface="Poppins"/>
                <a:cs typeface="Poppins"/>
                <a:sym typeface="Poppins"/>
              </a:rPr>
              <a:t>An </a:t>
            </a:r>
            <a:r>
              <a:rPr lang="en-US" sz="3599" b="1">
                <a:solidFill>
                  <a:srgbClr val="000000"/>
                </a:solidFill>
                <a:latin typeface="Poppins Bold"/>
                <a:ea typeface="Poppins Bold"/>
                <a:cs typeface="Poppins Bold"/>
                <a:sym typeface="Poppins Bold"/>
              </a:rPr>
              <a:t>email thread</a:t>
            </a:r>
            <a:r>
              <a:rPr lang="en-US" sz="3599">
                <a:solidFill>
                  <a:srgbClr val="000000"/>
                </a:solidFill>
                <a:latin typeface="Poppins"/>
                <a:ea typeface="Poppins"/>
                <a:cs typeface="Poppins"/>
                <a:sym typeface="Poppins"/>
              </a:rPr>
              <a:t> is a series of related emails that are grouped together, most often by the topic of conversation or the subject line. Email threads allow you to follow a conversation through a series of connected replies. They make it easier to track the progression of a conversation, especially in long email chains involving many participants.</a:t>
            </a:r>
          </a:p>
        </p:txBody>
      </p:sp>
      <p:sp>
        <p:nvSpPr>
          <p:cNvPr id="4" name="TextBox 4"/>
          <p:cNvSpPr txBox="1"/>
          <p:nvPr/>
        </p:nvSpPr>
        <p:spPr>
          <a:xfrm>
            <a:off x="1416842"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What are Email Threads?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924507" y="2909108"/>
            <a:ext cx="14741950" cy="5487279"/>
          </a:xfrm>
          <a:prstGeom prst="rect">
            <a:avLst/>
          </a:prstGeom>
        </p:spPr>
        <p:txBody>
          <a:bodyPr lIns="0" tIns="0" rIns="0" bIns="0" rtlCol="0" anchor="t">
            <a:spAutoFit/>
          </a:bodyPr>
          <a:lstStyle/>
          <a:p>
            <a:pPr marL="777237" lvl="1" indent="-388618" algn="l">
              <a:lnSpc>
                <a:spcPts val="5435"/>
              </a:lnSpc>
              <a:buFont typeface="Arial"/>
              <a:buChar char="•"/>
            </a:pPr>
            <a:r>
              <a:rPr lang="en-US" sz="3599">
                <a:solidFill>
                  <a:srgbClr val="000000"/>
                </a:solidFill>
                <a:latin typeface="Poppins"/>
                <a:ea typeface="Poppins"/>
                <a:cs typeface="Poppins"/>
                <a:sym typeface="Poppins"/>
              </a:rPr>
              <a:t>An </a:t>
            </a:r>
            <a:r>
              <a:rPr lang="en-US" sz="3599" b="1">
                <a:solidFill>
                  <a:srgbClr val="000000"/>
                </a:solidFill>
                <a:latin typeface="Poppins Bold"/>
                <a:ea typeface="Poppins Bold"/>
                <a:cs typeface="Poppins Bold"/>
                <a:sym typeface="Poppins Bold"/>
              </a:rPr>
              <a:t>"Email chain"</a:t>
            </a:r>
            <a:r>
              <a:rPr lang="en-US" sz="3599">
                <a:solidFill>
                  <a:srgbClr val="000000"/>
                </a:solidFill>
                <a:latin typeface="Poppins"/>
                <a:ea typeface="Poppins"/>
                <a:cs typeface="Poppins"/>
                <a:sym typeface="Poppins"/>
              </a:rPr>
              <a:t> (or email chain/thread) is a series of connected emails, often growing long as recipients reply and forward, forming a continuous conversation, but it can also refer to chain emails, which are messages urging mass forwarding, sometimes containing hoaxes or spam, linking back to old chain letters. In simple terms, it's a group discussion via email, whether for work, personal updates, or potentially unwanted messages.  </a:t>
            </a:r>
          </a:p>
        </p:txBody>
      </p:sp>
      <p:sp>
        <p:nvSpPr>
          <p:cNvPr id="4" name="TextBox 4"/>
          <p:cNvSpPr txBox="1"/>
          <p:nvPr/>
        </p:nvSpPr>
        <p:spPr>
          <a:xfrm>
            <a:off x="1416842"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What are Email Chain?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1273302" y="1081143"/>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Email Thread Vs Email Chain?</a:t>
            </a:r>
          </a:p>
        </p:txBody>
      </p:sp>
      <p:graphicFrame>
        <p:nvGraphicFramePr>
          <p:cNvPr id="5" name="Table 4">
            <a:extLst>
              <a:ext uri="{FF2B5EF4-FFF2-40B4-BE49-F238E27FC236}">
                <a16:creationId xmlns:a16="http://schemas.microsoft.com/office/drawing/2014/main" id="{3F136631-2C06-9054-896D-4C379F14C92F}"/>
              </a:ext>
            </a:extLst>
          </p:cNvPr>
          <p:cNvGraphicFramePr>
            <a:graphicFrameLocks noGrp="1"/>
          </p:cNvGraphicFramePr>
          <p:nvPr>
            <p:extLst>
              <p:ext uri="{D42A27DB-BD31-4B8C-83A1-F6EECF244321}">
                <p14:modId xmlns:p14="http://schemas.microsoft.com/office/powerpoint/2010/main" val="354188028"/>
              </p:ext>
            </p:extLst>
          </p:nvPr>
        </p:nvGraphicFramePr>
        <p:xfrm>
          <a:off x="1600732" y="2349205"/>
          <a:ext cx="13944600" cy="7340937"/>
        </p:xfrm>
        <a:graphic>
          <a:graphicData uri="http://schemas.openxmlformats.org/drawingml/2006/table">
            <a:tbl>
              <a:tblPr/>
              <a:tblGrid>
                <a:gridCol w="4648200">
                  <a:extLst>
                    <a:ext uri="{9D8B030D-6E8A-4147-A177-3AD203B41FA5}">
                      <a16:colId xmlns:a16="http://schemas.microsoft.com/office/drawing/2014/main" val="3384741495"/>
                    </a:ext>
                  </a:extLst>
                </a:gridCol>
                <a:gridCol w="4648200">
                  <a:extLst>
                    <a:ext uri="{9D8B030D-6E8A-4147-A177-3AD203B41FA5}">
                      <a16:colId xmlns:a16="http://schemas.microsoft.com/office/drawing/2014/main" val="291184597"/>
                    </a:ext>
                  </a:extLst>
                </a:gridCol>
                <a:gridCol w="4648200">
                  <a:extLst>
                    <a:ext uri="{9D8B030D-6E8A-4147-A177-3AD203B41FA5}">
                      <a16:colId xmlns:a16="http://schemas.microsoft.com/office/drawing/2014/main" val="3974181006"/>
                    </a:ext>
                  </a:extLst>
                </a:gridCol>
              </a:tblGrid>
              <a:tr h="430507">
                <a:tc>
                  <a:txBody>
                    <a:bodyPr/>
                    <a:lstStyle/>
                    <a:p>
                      <a:pPr>
                        <a:buNone/>
                      </a:pPr>
                      <a:r>
                        <a:rPr lang="en-US" sz="2400" b="1">
                          <a:effectLst/>
                        </a:rPr>
                        <a:t>Aspect</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16BAAD"/>
                    </a:solidFill>
                  </a:tcPr>
                </a:tc>
                <a:tc>
                  <a:txBody>
                    <a:bodyPr/>
                    <a:lstStyle/>
                    <a:p>
                      <a:pPr>
                        <a:buNone/>
                      </a:pPr>
                      <a:r>
                        <a:rPr lang="en-US" sz="2400" b="1">
                          <a:effectLst/>
                        </a:rPr>
                        <a:t>Email Thread</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16BAAD"/>
                    </a:solidFill>
                  </a:tcPr>
                </a:tc>
                <a:tc>
                  <a:txBody>
                    <a:bodyPr/>
                    <a:lstStyle/>
                    <a:p>
                      <a:pPr>
                        <a:buNone/>
                      </a:pPr>
                      <a:r>
                        <a:rPr lang="en-US" sz="2400" b="1">
                          <a:effectLst/>
                        </a:rPr>
                        <a:t>Email Chain</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16BAAD"/>
                    </a:solidFill>
                  </a:tcPr>
                </a:tc>
                <a:extLst>
                  <a:ext uri="{0D108BD9-81ED-4DB2-BD59-A6C34878D82A}">
                    <a16:rowId xmlns:a16="http://schemas.microsoft.com/office/drawing/2014/main" val="2418470394"/>
                  </a:ext>
                </a:extLst>
              </a:tr>
              <a:tr h="785154">
                <a:tc>
                  <a:txBody>
                    <a:bodyPr/>
                    <a:lstStyle/>
                    <a:p>
                      <a:pPr>
                        <a:buNone/>
                      </a:pPr>
                      <a:r>
                        <a:rPr lang="en-US" sz="2400" b="1">
                          <a:effectLst/>
                        </a:rPr>
                        <a:t>Definition</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A structured group of related emails linked to one original message</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A sequence of emails passed along without strict topic control</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628099048"/>
                  </a:ext>
                </a:extLst>
              </a:tr>
              <a:tr h="1243351">
                <a:tc>
                  <a:txBody>
                    <a:bodyPr/>
                    <a:lstStyle/>
                    <a:p>
                      <a:pPr>
                        <a:buNone/>
                      </a:pPr>
                      <a:r>
                        <a:rPr lang="en-US" sz="2400" b="1">
                          <a:effectLst/>
                        </a:rPr>
                        <a:t>Topic Focus</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Stays focused on a </a:t>
                      </a:r>
                      <a:r>
                        <a:rPr lang="en-US" sz="2400" b="1" i="0">
                          <a:solidFill>
                            <a:srgbClr val="000000"/>
                          </a:solidFill>
                          <a:effectLst/>
                        </a:rPr>
                        <a:t>single topic or discussion</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Often </a:t>
                      </a:r>
                      <a:r>
                        <a:rPr lang="en-US" sz="2400" b="1" i="0">
                          <a:solidFill>
                            <a:srgbClr val="000000"/>
                          </a:solidFill>
                          <a:effectLst/>
                        </a:rPr>
                        <a:t>drifts into multiple or unrelated topics</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48905683"/>
                  </a:ext>
                </a:extLst>
              </a:tr>
              <a:tr h="777243">
                <a:tc>
                  <a:txBody>
                    <a:bodyPr/>
                    <a:lstStyle/>
                    <a:p>
                      <a:pPr>
                        <a:buNone/>
                      </a:pPr>
                      <a:r>
                        <a:rPr lang="en-US" sz="2400" b="1">
                          <a:effectLst/>
                        </a:rPr>
                        <a:t>Structure</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Organized in a </a:t>
                      </a:r>
                      <a:r>
                        <a:rPr lang="en-US" sz="2400" b="1" i="0">
                          <a:solidFill>
                            <a:srgbClr val="000000"/>
                          </a:solidFill>
                          <a:effectLst/>
                        </a:rPr>
                        <a:t>hierarchical or tree layout</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Linear and unstructured</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707390363"/>
                  </a:ext>
                </a:extLst>
              </a:tr>
              <a:tr h="785154">
                <a:tc>
                  <a:txBody>
                    <a:bodyPr/>
                    <a:lstStyle/>
                    <a:p>
                      <a:pPr>
                        <a:buNone/>
                      </a:pPr>
                      <a:r>
                        <a:rPr lang="en-US" sz="2400" b="1">
                          <a:effectLst/>
                        </a:rPr>
                        <a:t>Conversation Flow</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Clear flow showing </a:t>
                      </a:r>
                      <a:r>
                        <a:rPr lang="en-US" sz="2400" b="1" i="0">
                          <a:solidFill>
                            <a:srgbClr val="000000"/>
                          </a:solidFill>
                          <a:effectLst/>
                        </a:rPr>
                        <a:t>who replied to whom and when</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Flow becomes confusing due to multiple forwards and replies</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978019583"/>
                  </a:ext>
                </a:extLst>
              </a:tr>
              <a:tr h="579183">
                <a:tc>
                  <a:txBody>
                    <a:bodyPr/>
                    <a:lstStyle/>
                    <a:p>
                      <a:pPr>
                        <a:buNone/>
                      </a:pPr>
                      <a:r>
                        <a:rPr lang="en-US" sz="2400" b="1">
                          <a:effectLst/>
                        </a:rPr>
                        <a:t>Reply Behavior</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Replies stay relevant to the original subject</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lgn="l" rtl="0">
                        <a:buNone/>
                      </a:pPr>
                      <a:r>
                        <a:rPr lang="en-US" sz="2400" b="0" i="0">
                          <a:solidFill>
                            <a:srgbClr val="000000"/>
                          </a:solidFill>
                          <a:effectLst/>
                        </a:rPr>
                        <a:t>Frequent </a:t>
                      </a:r>
                      <a:r>
                        <a:rPr lang="en-US" sz="2400" b="1" i="0">
                          <a:solidFill>
                            <a:srgbClr val="000000"/>
                          </a:solidFill>
                          <a:effectLst/>
                        </a:rPr>
                        <a:t>Reply All</a:t>
                      </a:r>
                      <a:r>
                        <a:rPr lang="en-US" sz="2400" b="0" i="0">
                          <a:solidFill>
                            <a:srgbClr val="000000"/>
                          </a:solidFill>
                          <a:effectLst/>
                        </a:rPr>
                        <a:t> and forwards</a:t>
                      </a:r>
                      <a:endParaRPr lang="en-US" sz="2400">
                        <a:effectLst/>
                      </a:endParaRP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639163295"/>
                  </a:ext>
                </a:extLst>
              </a:tr>
              <a:tr h="579183">
                <a:tc>
                  <a:txBody>
                    <a:bodyPr/>
                    <a:lstStyle/>
                    <a:p>
                      <a:pPr>
                        <a:buNone/>
                      </a:pPr>
                      <a:r>
                        <a:rPr lang="en-US" sz="2400" b="1">
                          <a:effectLst/>
                        </a:rPr>
                        <a:t>Clarity</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High clarity and easy to follow</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Low clarity; context gets lost</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47441379"/>
                  </a:ext>
                </a:extLst>
              </a:tr>
              <a:tr h="579183">
                <a:tc>
                  <a:txBody>
                    <a:bodyPr/>
                    <a:lstStyle/>
                    <a:p>
                      <a:pPr>
                        <a:buNone/>
                      </a:pPr>
                      <a:r>
                        <a:rPr lang="en-US" sz="2400" b="1">
                          <a:effectLst/>
                        </a:rPr>
                        <a:t>Searchability</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Easy to search and review later</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Difficult to search and understand</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487010080"/>
                  </a:ext>
                </a:extLst>
              </a:tr>
              <a:tr h="728661">
                <a:tc>
                  <a:txBody>
                    <a:bodyPr/>
                    <a:lstStyle/>
                    <a:p>
                      <a:pPr>
                        <a:buNone/>
                      </a:pPr>
                      <a:r>
                        <a:rPr lang="en-US" sz="2400" b="1">
                          <a:effectLst/>
                        </a:rPr>
                        <a:t>Best Use Case</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Professional discussions, decision tracking</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Casual sharing or poorly managed conversations</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563149989"/>
                  </a:ext>
                </a:extLst>
              </a:tr>
              <a:tr h="579183">
                <a:tc>
                  <a:txBody>
                    <a:bodyPr/>
                    <a:lstStyle/>
                    <a:p>
                      <a:pPr>
                        <a:buNone/>
                      </a:pPr>
                      <a:r>
                        <a:rPr lang="en-US" sz="2400" b="1">
                          <a:effectLst/>
                        </a:rPr>
                        <a:t>Risk Level</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Low risk of confusion</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tc>
                  <a:txBody>
                    <a:bodyPr/>
                    <a:lstStyle/>
                    <a:p>
                      <a:pPr>
                        <a:buNone/>
                      </a:pPr>
                      <a:r>
                        <a:rPr lang="en-US" sz="2400">
                          <a:effectLst/>
                        </a:rPr>
                        <a:t>High risk of miscommunication</a:t>
                      </a:r>
                    </a:p>
                  </a:txBody>
                  <a:tcPr marL="54387" marR="54387" marT="27193" marB="27193" anchor="ctr">
                    <a:lnL w="28575" cap="flat" cmpd="sng" algn="ctr">
                      <a:solidFill>
                        <a:srgbClr val="D9D9D9"/>
                      </a:solidFill>
                      <a:prstDash val="solid"/>
                      <a:round/>
                      <a:headEnd type="none" w="med" len="med"/>
                      <a:tailEnd type="none" w="med" len="med"/>
                    </a:lnL>
                    <a:lnR w="28575" cap="flat" cmpd="sng" algn="ctr">
                      <a:solidFill>
                        <a:srgbClr val="D9D9D9"/>
                      </a:solidFill>
                      <a:prstDash val="solid"/>
                      <a:round/>
                      <a:headEnd type="none" w="med" len="med"/>
                      <a:tailEnd type="none" w="med" len="med"/>
                    </a:lnR>
                    <a:lnT w="28575" cap="flat" cmpd="sng" algn="ctr">
                      <a:solidFill>
                        <a:srgbClr val="D9D9D9"/>
                      </a:solidFill>
                      <a:prstDash val="solid"/>
                      <a:round/>
                      <a:headEnd type="none" w="med" len="med"/>
                      <a:tailEnd type="none" w="med" len="med"/>
                    </a:lnT>
                    <a:lnB w="2857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784681131"/>
                  </a:ext>
                </a:extLst>
              </a:tr>
            </a:tbl>
          </a:graphicData>
        </a:graphic>
      </p:graphicFrame>
      <p:sp>
        <p:nvSpPr>
          <p:cNvPr id="6" name="Rectangle 1">
            <a:extLst>
              <a:ext uri="{FF2B5EF4-FFF2-40B4-BE49-F238E27FC236}">
                <a16:creationId xmlns:a16="http://schemas.microsoft.com/office/drawing/2014/main" id="{ED9D4287-393C-61BE-E952-98D956BEA137}"/>
              </a:ext>
            </a:extLst>
          </p:cNvPr>
          <p:cNvSpPr>
            <a:spLocks noChangeArrowheads="1"/>
          </p:cNvSpPr>
          <p:nvPr/>
        </p:nvSpPr>
        <p:spPr bwMode="auto">
          <a:xfrm>
            <a:off x="2742668" y="2303486"/>
            <a:ext cx="4697548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924507" y="2909108"/>
            <a:ext cx="10962075" cy="4801512"/>
          </a:xfrm>
          <a:prstGeom prst="rect">
            <a:avLst/>
          </a:prstGeom>
        </p:spPr>
        <p:txBody>
          <a:bodyPr lIns="0" tIns="0" rIns="0" bIns="0" rtlCol="0" anchor="t">
            <a:spAutoFit/>
          </a:bodyPr>
          <a:lstStyle/>
          <a:p>
            <a:pPr marL="777237" lvl="1" indent="-388618" algn="l">
              <a:lnSpc>
                <a:spcPts val="5435"/>
              </a:lnSpc>
              <a:buFont typeface="Arial"/>
              <a:buChar char="•"/>
            </a:pPr>
            <a:r>
              <a:rPr lang="en-US" sz="3599">
                <a:solidFill>
                  <a:srgbClr val="000000"/>
                </a:solidFill>
                <a:latin typeface="Poppins"/>
                <a:ea typeface="Poppins"/>
                <a:cs typeface="Poppins"/>
                <a:sym typeface="Poppins"/>
              </a:rPr>
              <a:t>Use clear, action-oriented </a:t>
            </a:r>
            <a:r>
              <a:rPr lang="en-US" sz="3599" b="1">
                <a:solidFill>
                  <a:srgbClr val="000000"/>
                </a:solidFill>
                <a:latin typeface="Poppins Bold"/>
                <a:ea typeface="Poppins Bold"/>
                <a:cs typeface="Poppins Bold"/>
                <a:sym typeface="Poppins Bold"/>
              </a:rPr>
              <a:t>subject lines</a:t>
            </a:r>
          </a:p>
          <a:p>
            <a:pPr marL="777237" lvl="1" indent="-388618" algn="l">
              <a:lnSpc>
                <a:spcPts val="5435"/>
              </a:lnSpc>
              <a:buFont typeface="Arial"/>
              <a:buChar char="•"/>
            </a:pPr>
            <a:r>
              <a:rPr lang="en-US" sz="3599">
                <a:solidFill>
                  <a:srgbClr val="000000"/>
                </a:solidFill>
                <a:latin typeface="Poppins"/>
                <a:ea typeface="Poppins"/>
                <a:cs typeface="Poppins"/>
                <a:sym typeface="Poppins"/>
              </a:rPr>
              <a:t>Avoid unnecessary </a:t>
            </a:r>
            <a:r>
              <a:rPr lang="en-US" sz="3599" b="1">
                <a:solidFill>
                  <a:srgbClr val="000000"/>
                </a:solidFill>
                <a:latin typeface="Poppins Bold"/>
                <a:ea typeface="Poppins Bold"/>
                <a:cs typeface="Poppins Bold"/>
                <a:sym typeface="Poppins Bold"/>
              </a:rPr>
              <a:t>Reply All</a:t>
            </a:r>
          </a:p>
          <a:p>
            <a:pPr marL="777237" lvl="1" indent="-388618" algn="l">
              <a:lnSpc>
                <a:spcPts val="5435"/>
              </a:lnSpc>
              <a:buFont typeface="Arial"/>
              <a:buChar char="•"/>
            </a:pPr>
            <a:r>
              <a:rPr lang="en-US" sz="3599" b="1">
                <a:solidFill>
                  <a:srgbClr val="000000"/>
                </a:solidFill>
                <a:latin typeface="Poppins Bold"/>
                <a:ea typeface="Poppins Bold"/>
                <a:cs typeface="Poppins Bold"/>
                <a:sym typeface="Poppins Bold"/>
              </a:rPr>
              <a:t>Fork the conversation</a:t>
            </a:r>
            <a:r>
              <a:rPr lang="en-US" sz="3599">
                <a:solidFill>
                  <a:srgbClr val="000000"/>
                </a:solidFill>
                <a:latin typeface="Poppins"/>
                <a:ea typeface="Poppins"/>
                <a:cs typeface="Poppins"/>
                <a:sym typeface="Poppins"/>
              </a:rPr>
              <a:t> when topic changes</a:t>
            </a:r>
          </a:p>
          <a:p>
            <a:pPr marL="777237" lvl="1" indent="-388618" algn="l">
              <a:lnSpc>
                <a:spcPts val="5435"/>
              </a:lnSpc>
              <a:buFont typeface="Arial"/>
              <a:buChar char="•"/>
            </a:pPr>
            <a:r>
              <a:rPr lang="en-US" sz="3599">
                <a:solidFill>
                  <a:srgbClr val="000000"/>
                </a:solidFill>
                <a:latin typeface="Poppins"/>
                <a:ea typeface="Poppins"/>
                <a:cs typeface="Poppins"/>
                <a:sym typeface="Poppins"/>
              </a:rPr>
              <a:t>Trim old or irrelevant content</a:t>
            </a:r>
          </a:p>
          <a:p>
            <a:pPr marL="777237" lvl="1" indent="-388618" algn="l">
              <a:lnSpc>
                <a:spcPts val="5435"/>
              </a:lnSpc>
              <a:buFont typeface="Arial"/>
              <a:buChar char="•"/>
            </a:pPr>
            <a:r>
              <a:rPr lang="en-US" sz="3599">
                <a:solidFill>
                  <a:srgbClr val="000000"/>
                </a:solidFill>
                <a:latin typeface="Poppins"/>
                <a:ea typeface="Poppins"/>
                <a:cs typeface="Poppins"/>
                <a:sym typeface="Poppins"/>
              </a:rPr>
              <a:t>Use </a:t>
            </a:r>
            <a:r>
              <a:rPr lang="en-US" sz="3599" b="1">
                <a:solidFill>
                  <a:srgbClr val="000000"/>
                </a:solidFill>
                <a:latin typeface="Poppins Bold"/>
                <a:ea typeface="Poppins Bold"/>
                <a:cs typeface="Poppins Bold"/>
                <a:sym typeface="Poppins Bold"/>
              </a:rPr>
              <a:t>CC </a:t>
            </a:r>
            <a:r>
              <a:rPr lang="en-US" sz="3599">
                <a:solidFill>
                  <a:srgbClr val="000000"/>
                </a:solidFill>
                <a:latin typeface="Poppins"/>
                <a:ea typeface="Poppins"/>
                <a:cs typeface="Poppins"/>
                <a:sym typeface="Poppins"/>
              </a:rPr>
              <a:t>and </a:t>
            </a:r>
            <a:r>
              <a:rPr lang="en-US" sz="3599" b="1">
                <a:solidFill>
                  <a:srgbClr val="000000"/>
                </a:solidFill>
                <a:latin typeface="Poppins Bold"/>
                <a:ea typeface="Poppins Bold"/>
                <a:cs typeface="Poppins Bold"/>
                <a:sym typeface="Poppins Bold"/>
              </a:rPr>
              <a:t>BCC </a:t>
            </a:r>
            <a:r>
              <a:rPr lang="en-US" sz="3599">
                <a:solidFill>
                  <a:srgbClr val="000000"/>
                </a:solidFill>
                <a:latin typeface="Poppins"/>
                <a:ea typeface="Poppins"/>
                <a:cs typeface="Poppins"/>
                <a:sym typeface="Poppins"/>
              </a:rPr>
              <a:t>responsibly</a:t>
            </a:r>
          </a:p>
          <a:p>
            <a:pPr algn="l">
              <a:lnSpc>
                <a:spcPts val="5435"/>
              </a:lnSpc>
            </a:pPr>
            <a:endParaRPr lang="en-US" sz="3599">
              <a:solidFill>
                <a:srgbClr val="000000"/>
              </a:solidFill>
              <a:latin typeface="Poppins"/>
              <a:ea typeface="Poppins"/>
              <a:cs typeface="Poppins"/>
              <a:sym typeface="Poppins"/>
            </a:endParaRPr>
          </a:p>
          <a:p>
            <a:pPr algn="l">
              <a:lnSpc>
                <a:spcPts val="5435"/>
              </a:lnSpc>
            </a:pPr>
            <a:r>
              <a:rPr lang="en-US" sz="3599" b="1">
                <a:solidFill>
                  <a:srgbClr val="000000"/>
                </a:solidFill>
                <a:latin typeface="Poppins Bold"/>
                <a:ea typeface="Poppins Bold"/>
                <a:cs typeface="Poppins Bold"/>
                <a:sym typeface="Poppins Bold"/>
              </a:rPr>
              <a:t>📌 One email = one purpose</a:t>
            </a:r>
          </a:p>
        </p:txBody>
      </p:sp>
      <p:sp>
        <p:nvSpPr>
          <p:cNvPr id="4" name="Freeform 4"/>
          <p:cNvSpPr/>
          <p:nvPr/>
        </p:nvSpPr>
        <p:spPr>
          <a:xfrm>
            <a:off x="14424340" y="3711223"/>
            <a:ext cx="2834960" cy="3340159"/>
          </a:xfrm>
          <a:custGeom>
            <a:avLst/>
            <a:gdLst/>
            <a:ahLst/>
            <a:cxnLst/>
            <a:rect l="l" t="t" r="r" b="b"/>
            <a:pathLst>
              <a:path w="2834960" h="3340159">
                <a:moveTo>
                  <a:pt x="0" y="0"/>
                </a:moveTo>
                <a:lnTo>
                  <a:pt x="2834960" y="0"/>
                </a:lnTo>
                <a:lnTo>
                  <a:pt x="2834960" y="3340158"/>
                </a:lnTo>
                <a:lnTo>
                  <a:pt x="0" y="33401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924507" y="1081684"/>
            <a:ext cx="8144409" cy="1451606"/>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Best Practices – Email Chains &amp; Threads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924507" y="2909108"/>
            <a:ext cx="14741950" cy="4801512"/>
          </a:xfrm>
          <a:prstGeom prst="rect">
            <a:avLst/>
          </a:prstGeom>
        </p:spPr>
        <p:txBody>
          <a:bodyPr lIns="0" tIns="0" rIns="0" bIns="0" rtlCol="0" anchor="t">
            <a:spAutoFit/>
          </a:bodyPr>
          <a:lstStyle/>
          <a:p>
            <a:pPr marL="777237" lvl="1" indent="-388618" algn="l">
              <a:lnSpc>
                <a:spcPts val="5435"/>
              </a:lnSpc>
              <a:buFont typeface="Arial"/>
              <a:buChar char="•"/>
            </a:pPr>
            <a:r>
              <a:rPr lang="en-US" sz="3599">
                <a:solidFill>
                  <a:srgbClr val="000000"/>
                </a:solidFill>
                <a:latin typeface="Poppins"/>
                <a:ea typeface="Poppins"/>
                <a:cs typeface="Poppins"/>
                <a:sym typeface="Poppins"/>
              </a:rPr>
              <a:t>An escalation email is a formal communication sent to raise an issue to a higher authority or seek intervention when initial attempts at resolution have failed.</a:t>
            </a:r>
          </a:p>
          <a:p>
            <a:pPr marL="777237" lvl="1" indent="-388618" algn="l">
              <a:lnSpc>
                <a:spcPts val="5435"/>
              </a:lnSpc>
              <a:buFont typeface="Arial"/>
              <a:buChar char="•"/>
            </a:pPr>
            <a:r>
              <a:rPr lang="en-US" sz="3599" b="1">
                <a:solidFill>
                  <a:srgbClr val="000000"/>
                </a:solidFill>
                <a:latin typeface="Poppins Bold"/>
                <a:ea typeface="Poppins Bold"/>
                <a:cs typeface="Poppins Bold"/>
                <a:sym typeface="Poppins Bold"/>
              </a:rPr>
              <a:t>For example, </a:t>
            </a:r>
            <a:r>
              <a:rPr lang="en-US" sz="3599">
                <a:solidFill>
                  <a:srgbClr val="000000"/>
                </a:solidFill>
                <a:latin typeface="Poppins"/>
                <a:ea typeface="Poppins"/>
                <a:cs typeface="Poppins"/>
                <a:sym typeface="Poppins"/>
              </a:rPr>
              <a:t>you might write to your manager about a recurring technical problem impacting your team’s productivity or to a customer service manager about a product defect that hasn’t been satisfactorily resolved.</a:t>
            </a:r>
          </a:p>
        </p:txBody>
      </p:sp>
      <p:sp>
        <p:nvSpPr>
          <p:cNvPr id="4" name="Freeform 4"/>
          <p:cNvSpPr/>
          <p:nvPr/>
        </p:nvSpPr>
        <p:spPr>
          <a:xfrm>
            <a:off x="16357228" y="8986331"/>
            <a:ext cx="902072" cy="895512"/>
          </a:xfrm>
          <a:custGeom>
            <a:avLst/>
            <a:gdLst/>
            <a:ahLst/>
            <a:cxnLst/>
            <a:rect l="l" t="t" r="r" b="b"/>
            <a:pathLst>
              <a:path w="902072" h="895512">
                <a:moveTo>
                  <a:pt x="0" y="0"/>
                </a:moveTo>
                <a:lnTo>
                  <a:pt x="902072" y="0"/>
                </a:lnTo>
                <a:lnTo>
                  <a:pt x="902072" y="895511"/>
                </a:lnTo>
                <a:lnTo>
                  <a:pt x="0" y="89551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416842"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What are Escalation Email?</a:t>
            </a:r>
          </a:p>
        </p:txBody>
      </p:sp>
      <p:sp>
        <p:nvSpPr>
          <p:cNvPr id="6" name="TextBox 6"/>
          <p:cNvSpPr txBox="1"/>
          <p:nvPr/>
        </p:nvSpPr>
        <p:spPr>
          <a:xfrm>
            <a:off x="8978573" y="8339271"/>
            <a:ext cx="8046732" cy="1170296"/>
          </a:xfrm>
          <a:prstGeom prst="rect">
            <a:avLst/>
          </a:prstGeom>
        </p:spPr>
        <p:txBody>
          <a:bodyPr lIns="0" tIns="0" rIns="0" bIns="0" rtlCol="0" anchor="t">
            <a:spAutoFit/>
          </a:bodyPr>
          <a:lstStyle/>
          <a:p>
            <a:pPr algn="l">
              <a:lnSpc>
                <a:spcPts val="4625"/>
              </a:lnSpc>
            </a:pPr>
            <a:r>
              <a:rPr lang="en-US" sz="3063" u="sng">
                <a:solidFill>
                  <a:srgbClr val="000000"/>
                </a:solidFill>
                <a:latin typeface="Poppins"/>
                <a:ea typeface="Poppins"/>
                <a:cs typeface="Poppins"/>
                <a:sym typeface="Poppins"/>
                <a:hlinkClick r:id="rId5" tooltip="https://hiverhq.com/blog/escalation-email-templates-and-best-practices"/>
              </a:rPr>
              <a:t>https://hiverhq.com/blog/escalation-email-templates-and-best-practices</a:t>
            </a:r>
          </a:p>
        </p:txBody>
      </p:sp>
      <p:sp>
        <p:nvSpPr>
          <p:cNvPr id="7" name="TextBox 7"/>
          <p:cNvSpPr txBox="1"/>
          <p:nvPr/>
        </p:nvSpPr>
        <p:spPr>
          <a:xfrm>
            <a:off x="1028700" y="8530660"/>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Learning Resource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6495530" y="5298118"/>
            <a:ext cx="902072" cy="895512"/>
          </a:xfrm>
          <a:custGeom>
            <a:avLst/>
            <a:gdLst/>
            <a:ahLst/>
            <a:cxnLst/>
            <a:rect l="l" t="t" r="r" b="b"/>
            <a:pathLst>
              <a:path w="902072" h="895512">
                <a:moveTo>
                  <a:pt x="0" y="0"/>
                </a:moveTo>
                <a:lnTo>
                  <a:pt x="902072" y="0"/>
                </a:lnTo>
                <a:lnTo>
                  <a:pt x="902072" y="895512"/>
                </a:lnTo>
                <a:lnTo>
                  <a:pt x="0" y="8955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8601600" y="2822968"/>
            <a:ext cx="32177" cy="6435332"/>
          </a:xfrm>
          <a:custGeom>
            <a:avLst/>
            <a:gdLst/>
            <a:ahLst/>
            <a:cxnLst/>
            <a:rect l="l" t="t" r="r" b="b"/>
            <a:pathLst>
              <a:path w="32177" h="6435332">
                <a:moveTo>
                  <a:pt x="0" y="0"/>
                </a:moveTo>
                <a:lnTo>
                  <a:pt x="32177" y="0"/>
                </a:lnTo>
                <a:lnTo>
                  <a:pt x="32177" y="6435332"/>
                </a:lnTo>
                <a:lnTo>
                  <a:pt x="0" y="643533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1430210"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When Should You Escalate?</a:t>
            </a:r>
          </a:p>
        </p:txBody>
      </p:sp>
      <p:sp>
        <p:nvSpPr>
          <p:cNvPr id="6" name="TextBox 6"/>
          <p:cNvSpPr txBox="1"/>
          <p:nvPr/>
        </p:nvSpPr>
        <p:spPr>
          <a:xfrm>
            <a:off x="1416842" y="3805742"/>
            <a:ext cx="6348181" cy="1746496"/>
          </a:xfrm>
          <a:prstGeom prst="rect">
            <a:avLst/>
          </a:prstGeom>
        </p:spPr>
        <p:txBody>
          <a:bodyPr lIns="0" tIns="0" rIns="0" bIns="0" rtlCol="0" anchor="t">
            <a:spAutoFit/>
          </a:bodyPr>
          <a:lstStyle/>
          <a:p>
            <a:pPr marL="661371" lvl="1" indent="-330686" algn="l">
              <a:lnSpc>
                <a:spcPts val="4625"/>
              </a:lnSpc>
              <a:buFont typeface="Arial"/>
              <a:buChar char="•"/>
            </a:pPr>
            <a:r>
              <a:rPr lang="en-US" sz="3063" u="sng">
                <a:solidFill>
                  <a:srgbClr val="000000"/>
                </a:solidFill>
                <a:latin typeface="Poppins"/>
                <a:ea typeface="Poppins"/>
                <a:cs typeface="Poppins"/>
                <a:sym typeface="Poppins"/>
                <a:hlinkClick r:id="rId7" tooltip="https://hiverhq.com/blog/escalation-email-templates-and-best-practices"/>
              </a:rPr>
              <a:t>https://hiverhq.com/blog/escalation-email-templates-and-best-practices</a:t>
            </a:r>
          </a:p>
        </p:txBody>
      </p:sp>
      <p:sp>
        <p:nvSpPr>
          <p:cNvPr id="7" name="TextBox 7"/>
          <p:cNvSpPr txBox="1"/>
          <p:nvPr/>
        </p:nvSpPr>
        <p:spPr>
          <a:xfrm>
            <a:off x="1416842" y="2992377"/>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Learning Resource</a:t>
            </a:r>
          </a:p>
        </p:txBody>
      </p:sp>
      <p:sp>
        <p:nvSpPr>
          <p:cNvPr id="8" name="TextBox 8"/>
          <p:cNvSpPr txBox="1"/>
          <p:nvPr/>
        </p:nvSpPr>
        <p:spPr>
          <a:xfrm>
            <a:off x="9144000" y="3011427"/>
            <a:ext cx="7854413" cy="5253293"/>
          </a:xfrm>
          <a:prstGeom prst="rect">
            <a:avLst/>
          </a:prstGeom>
        </p:spPr>
        <p:txBody>
          <a:bodyPr lIns="0" tIns="0" rIns="0" bIns="0" rtlCol="0" anchor="t">
            <a:spAutoFit/>
          </a:bodyPr>
          <a:lstStyle/>
          <a:p>
            <a:pPr algn="l">
              <a:lnSpc>
                <a:spcPts val="5230"/>
              </a:lnSpc>
            </a:pPr>
            <a:r>
              <a:rPr lang="en-US" sz="3463" b="1">
                <a:solidFill>
                  <a:srgbClr val="000000"/>
                </a:solidFill>
                <a:latin typeface="Poppins Bold"/>
                <a:ea typeface="Poppins Bold"/>
                <a:cs typeface="Poppins Bold"/>
                <a:sym typeface="Poppins Bold"/>
              </a:rPr>
              <a:t>How to Escalate Professionally</a:t>
            </a:r>
          </a:p>
          <a:p>
            <a:pPr algn="l">
              <a:lnSpc>
                <a:spcPts val="5230"/>
              </a:lnSpc>
            </a:pPr>
            <a:r>
              <a:rPr lang="en-US" sz="3463">
                <a:solidFill>
                  <a:srgbClr val="000000"/>
                </a:solidFill>
                <a:latin typeface="Poppins"/>
                <a:ea typeface="Poppins"/>
                <a:cs typeface="Poppins"/>
                <a:sym typeface="Poppins"/>
              </a:rPr>
              <a:t>A good escalation email includes:</a:t>
            </a:r>
          </a:p>
          <a:p>
            <a:pPr marL="747811" lvl="1" indent="-373906" algn="l">
              <a:lnSpc>
                <a:spcPts val="5230"/>
              </a:lnSpc>
              <a:buFont typeface="Arial"/>
              <a:buChar char="•"/>
            </a:pPr>
            <a:r>
              <a:rPr lang="en-US" sz="3463">
                <a:solidFill>
                  <a:srgbClr val="000000"/>
                </a:solidFill>
                <a:latin typeface="Poppins"/>
                <a:ea typeface="Poppins"/>
                <a:cs typeface="Poppins"/>
                <a:sym typeface="Poppins"/>
              </a:rPr>
              <a:t>Clear subject line</a:t>
            </a:r>
          </a:p>
          <a:p>
            <a:pPr marL="747811" lvl="1" indent="-373906" algn="l">
              <a:lnSpc>
                <a:spcPts val="5230"/>
              </a:lnSpc>
              <a:buFont typeface="Arial"/>
              <a:buChar char="•"/>
            </a:pPr>
            <a:r>
              <a:rPr lang="en-US" sz="3463">
                <a:solidFill>
                  <a:srgbClr val="000000"/>
                </a:solidFill>
                <a:latin typeface="Poppins"/>
                <a:ea typeface="Poppins"/>
                <a:cs typeface="Poppins"/>
                <a:sym typeface="Poppins"/>
              </a:rPr>
              <a:t>Brief context</a:t>
            </a:r>
          </a:p>
          <a:p>
            <a:pPr marL="747811" lvl="1" indent="-373906" algn="l">
              <a:lnSpc>
                <a:spcPts val="5230"/>
              </a:lnSpc>
              <a:buFont typeface="Arial"/>
              <a:buChar char="•"/>
            </a:pPr>
            <a:r>
              <a:rPr lang="en-US" sz="3463">
                <a:solidFill>
                  <a:srgbClr val="000000"/>
                </a:solidFill>
                <a:latin typeface="Poppins"/>
                <a:ea typeface="Poppins"/>
                <a:cs typeface="Poppins"/>
                <a:sym typeface="Poppins"/>
              </a:rPr>
              <a:t>Business impact</a:t>
            </a:r>
          </a:p>
          <a:p>
            <a:pPr marL="747811" lvl="1" indent="-373906" algn="l">
              <a:lnSpc>
                <a:spcPts val="5230"/>
              </a:lnSpc>
              <a:buFont typeface="Arial"/>
              <a:buChar char="•"/>
            </a:pPr>
            <a:r>
              <a:rPr lang="en-US" sz="3463">
                <a:solidFill>
                  <a:srgbClr val="000000"/>
                </a:solidFill>
                <a:latin typeface="Poppins"/>
                <a:ea typeface="Poppins"/>
                <a:cs typeface="Poppins"/>
                <a:sym typeface="Poppins"/>
              </a:rPr>
              <a:t>Actions taken so far</a:t>
            </a:r>
          </a:p>
          <a:p>
            <a:pPr marL="747811" lvl="1" indent="-373906" algn="l">
              <a:lnSpc>
                <a:spcPts val="5230"/>
              </a:lnSpc>
              <a:buFont typeface="Arial"/>
              <a:buChar char="•"/>
            </a:pPr>
            <a:r>
              <a:rPr lang="en-US" sz="3463">
                <a:solidFill>
                  <a:srgbClr val="000000"/>
                </a:solidFill>
                <a:latin typeface="Poppins"/>
                <a:ea typeface="Poppins"/>
                <a:cs typeface="Poppins"/>
                <a:sym typeface="Poppins"/>
              </a:rPr>
              <a:t>Support or decision required</a:t>
            </a:r>
          </a:p>
          <a:p>
            <a:pPr marL="747811" lvl="1" indent="-373906" algn="l">
              <a:lnSpc>
                <a:spcPts val="5230"/>
              </a:lnSpc>
              <a:buFont typeface="Arial"/>
              <a:buChar char="•"/>
            </a:pPr>
            <a:r>
              <a:rPr lang="en-US" sz="3463">
                <a:solidFill>
                  <a:srgbClr val="000000"/>
                </a:solidFill>
                <a:latin typeface="Poppins"/>
                <a:ea typeface="Poppins"/>
                <a:cs typeface="Poppins"/>
                <a:sym typeface="Poppins"/>
              </a:rPr>
              <a:t>Professional tone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430210"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What Are Follow-up Emails?</a:t>
            </a:r>
          </a:p>
        </p:txBody>
      </p:sp>
      <p:sp>
        <p:nvSpPr>
          <p:cNvPr id="4" name="TextBox 4"/>
          <p:cNvSpPr txBox="1"/>
          <p:nvPr/>
        </p:nvSpPr>
        <p:spPr>
          <a:xfrm>
            <a:off x="1430210" y="2700161"/>
            <a:ext cx="14720388" cy="4597097"/>
          </a:xfrm>
          <a:prstGeom prst="rect">
            <a:avLst/>
          </a:prstGeom>
        </p:spPr>
        <p:txBody>
          <a:bodyPr lIns="0" tIns="0" rIns="0" bIns="0" rtlCol="0" anchor="t">
            <a:spAutoFit/>
          </a:bodyPr>
          <a:lstStyle/>
          <a:p>
            <a:pPr marL="747812" lvl="1" indent="-373906" algn="l">
              <a:lnSpc>
                <a:spcPts val="5230"/>
              </a:lnSpc>
              <a:buFont typeface="Arial"/>
              <a:buChar char="•"/>
            </a:pPr>
            <a:r>
              <a:rPr lang="en-US" sz="3463">
                <a:solidFill>
                  <a:srgbClr val="000000"/>
                </a:solidFill>
                <a:latin typeface="Poppins"/>
                <a:ea typeface="Poppins"/>
                <a:cs typeface="Poppins"/>
                <a:sym typeface="Poppins"/>
              </a:rPr>
              <a:t>A</a:t>
            </a:r>
            <a:r>
              <a:rPr lang="en-US" sz="3463" b="1">
                <a:solidFill>
                  <a:srgbClr val="000000"/>
                </a:solidFill>
                <a:latin typeface="Poppins Bold"/>
                <a:ea typeface="Poppins Bold"/>
                <a:cs typeface="Poppins Bold"/>
                <a:sym typeface="Poppins Bold"/>
              </a:rPr>
              <a:t> follow-up email</a:t>
            </a:r>
            <a:r>
              <a:rPr lang="en-US" sz="3463">
                <a:solidFill>
                  <a:srgbClr val="000000"/>
                </a:solidFill>
                <a:latin typeface="Poppins"/>
                <a:ea typeface="Poppins"/>
                <a:cs typeface="Poppins"/>
                <a:sym typeface="Poppins"/>
              </a:rPr>
              <a:t> is a brief, polite message sent after an initial contact (email, meeting, call) to remind someone, prompt a response, add value, or keep a conversation going, serving as a </a:t>
            </a:r>
            <a:r>
              <a:rPr lang="en-US" sz="3463" b="1">
                <a:solidFill>
                  <a:srgbClr val="000000"/>
                </a:solidFill>
                <a:latin typeface="Poppins Bold"/>
                <a:ea typeface="Poppins Bold"/>
                <a:cs typeface="Poppins Bold"/>
                <a:sym typeface="Poppins Bold"/>
              </a:rPr>
              <a:t>"friendly nudge"</a:t>
            </a:r>
            <a:r>
              <a:rPr lang="en-US" sz="3463">
                <a:solidFill>
                  <a:srgbClr val="000000"/>
                </a:solidFill>
                <a:latin typeface="Poppins"/>
                <a:ea typeface="Poppins"/>
                <a:cs typeface="Poppins"/>
                <a:sym typeface="Poppins"/>
              </a:rPr>
              <a:t> to move things forward in job applications, sales, networking, or customer service. </a:t>
            </a:r>
          </a:p>
          <a:p>
            <a:pPr marL="747812" lvl="1" indent="-373906" algn="l">
              <a:lnSpc>
                <a:spcPts val="5230"/>
              </a:lnSpc>
              <a:buFont typeface="Arial"/>
              <a:buChar char="•"/>
            </a:pPr>
            <a:r>
              <a:rPr lang="en-US" sz="3463">
                <a:solidFill>
                  <a:srgbClr val="000000"/>
                </a:solidFill>
                <a:latin typeface="Poppins"/>
                <a:ea typeface="Poppins"/>
                <a:cs typeface="Poppins"/>
                <a:sym typeface="Poppins"/>
              </a:rPr>
              <a:t>It's concise, personalized and aims to reignite interest or get clarity without being pushy.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430210" y="1575848"/>
            <a:ext cx="7713790"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Accountability emails</a:t>
            </a:r>
          </a:p>
        </p:txBody>
      </p:sp>
      <p:sp>
        <p:nvSpPr>
          <p:cNvPr id="4" name="TextBox 4"/>
          <p:cNvSpPr txBox="1"/>
          <p:nvPr/>
        </p:nvSpPr>
        <p:spPr>
          <a:xfrm>
            <a:off x="1430210" y="2700161"/>
            <a:ext cx="15294546" cy="5254255"/>
          </a:xfrm>
          <a:prstGeom prst="rect">
            <a:avLst/>
          </a:prstGeom>
        </p:spPr>
        <p:txBody>
          <a:bodyPr lIns="0" tIns="0" rIns="0" bIns="0" rtlCol="0" anchor="t">
            <a:spAutoFit/>
          </a:bodyPr>
          <a:lstStyle/>
          <a:p>
            <a:pPr marL="747812" lvl="1" indent="-373906" algn="l">
              <a:lnSpc>
                <a:spcPts val="5230"/>
              </a:lnSpc>
              <a:buFont typeface="Arial"/>
              <a:buChar char="•"/>
            </a:pPr>
            <a:r>
              <a:rPr lang="en-US" sz="3463">
                <a:solidFill>
                  <a:srgbClr val="000000"/>
                </a:solidFill>
                <a:latin typeface="Poppins"/>
                <a:ea typeface="Poppins"/>
                <a:cs typeface="Poppins"/>
                <a:sym typeface="Poppins"/>
              </a:rPr>
              <a:t>Accountability emails are structured communications for tracking progress, ensuring transparency, and fostering responsibility, often used in teams or coaching to align on goals, share updates (progress, challenges, next steps), and maintain momentum by documenting commitments and outcomes clearly, using formats like weekly check-ins or formal progress reports</a:t>
            </a:r>
          </a:p>
          <a:p>
            <a:pPr marL="747812" lvl="1" indent="-373906" algn="l">
              <a:lnSpc>
                <a:spcPts val="5230"/>
              </a:lnSpc>
              <a:buFont typeface="Arial"/>
              <a:buChar char="•"/>
            </a:pPr>
            <a:r>
              <a:rPr lang="en-US" sz="3463">
                <a:solidFill>
                  <a:srgbClr val="000000"/>
                </a:solidFill>
                <a:latin typeface="Poppins"/>
                <a:ea typeface="Poppins"/>
                <a:cs typeface="Poppins"/>
                <a:sym typeface="Poppins"/>
              </a:rPr>
              <a:t>Clarity, Commitment and Consequences - </a:t>
            </a:r>
            <a:r>
              <a:rPr lang="en-US" sz="3463" b="1">
                <a:solidFill>
                  <a:srgbClr val="000000"/>
                </a:solidFill>
                <a:latin typeface="Poppins Bold"/>
                <a:ea typeface="Poppins Bold"/>
                <a:cs typeface="Poppins Bold"/>
                <a:sym typeface="Poppins Bold"/>
              </a:rPr>
              <a:t>3C’s </a:t>
            </a:r>
            <a:r>
              <a:rPr lang="en-US" sz="3463">
                <a:solidFill>
                  <a:srgbClr val="000000"/>
                </a:solidFill>
                <a:latin typeface="Poppins"/>
                <a:ea typeface="Poppins"/>
                <a:cs typeface="Poppins"/>
                <a:sym typeface="Poppins"/>
              </a:rPr>
              <a:t>of Accountability Emails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773025" y="2663908"/>
            <a:ext cx="14741950" cy="5487279"/>
          </a:xfrm>
          <a:prstGeom prst="rect">
            <a:avLst/>
          </a:prstGeom>
        </p:spPr>
        <p:txBody>
          <a:bodyPr lIns="0" tIns="0" rIns="0" bIns="0" rtlCol="0" anchor="t">
            <a:spAutoFit/>
          </a:bodyPr>
          <a:lstStyle/>
          <a:p>
            <a:pPr algn="l">
              <a:lnSpc>
                <a:spcPts val="5435"/>
              </a:lnSpc>
            </a:pPr>
            <a:r>
              <a:rPr lang="en-US" sz="3599" b="1">
                <a:solidFill>
                  <a:srgbClr val="000000"/>
                </a:solidFill>
                <a:latin typeface="Poppins Bold"/>
                <a:ea typeface="Poppins Bold"/>
                <a:cs typeface="Poppins Bold"/>
                <a:sym typeface="Poppins Bold"/>
              </a:rPr>
              <a:t>If an issue:</a:t>
            </a:r>
          </a:p>
          <a:p>
            <a:pPr marL="777237" lvl="1" indent="-388618" algn="l">
              <a:lnSpc>
                <a:spcPts val="5435"/>
              </a:lnSpc>
              <a:buFont typeface="Arial"/>
              <a:buChar char="•"/>
            </a:pPr>
            <a:r>
              <a:rPr lang="en-US" sz="3599">
                <a:solidFill>
                  <a:srgbClr val="000000"/>
                </a:solidFill>
                <a:latin typeface="Poppins"/>
                <a:ea typeface="Poppins"/>
                <a:cs typeface="Poppins"/>
                <a:sym typeface="Poppins"/>
              </a:rPr>
              <a:t>Is not resolved within 3 email exchanges</a:t>
            </a:r>
          </a:p>
          <a:p>
            <a:pPr algn="l">
              <a:lnSpc>
                <a:spcPts val="5435"/>
              </a:lnSpc>
            </a:pPr>
            <a:r>
              <a:rPr lang="en-US" sz="3599" b="1">
                <a:solidFill>
                  <a:srgbClr val="000000"/>
                </a:solidFill>
                <a:latin typeface="Poppins Bold"/>
                <a:ea typeface="Poppins Bold"/>
                <a:cs typeface="Poppins Bold"/>
                <a:sym typeface="Poppins Bold"/>
              </a:rPr>
              <a:t>   </a:t>
            </a:r>
            <a:r>
              <a:rPr lang="en-US" sz="3599">
                <a:solidFill>
                  <a:srgbClr val="000000"/>
                </a:solidFill>
                <a:latin typeface="Poppins"/>
                <a:ea typeface="Poppins"/>
                <a:cs typeface="Poppins"/>
                <a:sym typeface="Poppins"/>
              </a:rPr>
              <a:t>➡ Switch to:</a:t>
            </a:r>
          </a:p>
          <a:p>
            <a:pPr marL="777237" lvl="1" indent="-388618" algn="l">
              <a:lnSpc>
                <a:spcPts val="5435"/>
              </a:lnSpc>
              <a:buFont typeface="Arial"/>
              <a:buChar char="•"/>
            </a:pPr>
            <a:r>
              <a:rPr lang="en-US" sz="3599">
                <a:solidFill>
                  <a:srgbClr val="000000"/>
                </a:solidFill>
                <a:latin typeface="Poppins"/>
                <a:ea typeface="Poppins"/>
                <a:cs typeface="Poppins"/>
                <a:sym typeface="Poppins"/>
              </a:rPr>
              <a:t>Call</a:t>
            </a:r>
          </a:p>
          <a:p>
            <a:pPr marL="777237" lvl="1" indent="-388618" algn="l">
              <a:lnSpc>
                <a:spcPts val="5435"/>
              </a:lnSpc>
              <a:buFont typeface="Arial"/>
              <a:buChar char="•"/>
            </a:pPr>
            <a:r>
              <a:rPr lang="en-US" sz="3599">
                <a:solidFill>
                  <a:srgbClr val="000000"/>
                </a:solidFill>
                <a:latin typeface="Poppins"/>
                <a:ea typeface="Poppins"/>
                <a:cs typeface="Poppins"/>
                <a:sym typeface="Poppins"/>
              </a:rPr>
              <a:t>Meeting</a:t>
            </a:r>
          </a:p>
          <a:p>
            <a:pPr marL="777237" lvl="1" indent="-388618" algn="l">
              <a:lnSpc>
                <a:spcPts val="5435"/>
              </a:lnSpc>
              <a:buFont typeface="Arial"/>
              <a:buChar char="•"/>
            </a:pPr>
            <a:r>
              <a:rPr lang="en-US" sz="3599">
                <a:solidFill>
                  <a:srgbClr val="000000"/>
                </a:solidFill>
                <a:latin typeface="Poppins"/>
                <a:ea typeface="Poppins"/>
                <a:cs typeface="Poppins"/>
                <a:sym typeface="Poppins"/>
              </a:rPr>
              <a:t>Direct discussion</a:t>
            </a:r>
          </a:p>
          <a:p>
            <a:pPr algn="l">
              <a:lnSpc>
                <a:spcPts val="5435"/>
              </a:lnSpc>
            </a:pPr>
            <a:endParaRPr lang="en-US" sz="3599">
              <a:solidFill>
                <a:srgbClr val="000000"/>
              </a:solidFill>
              <a:latin typeface="Poppins"/>
              <a:ea typeface="Poppins"/>
              <a:cs typeface="Poppins"/>
              <a:sym typeface="Poppins"/>
            </a:endParaRPr>
          </a:p>
          <a:p>
            <a:pPr algn="l">
              <a:lnSpc>
                <a:spcPts val="5435"/>
              </a:lnSpc>
            </a:pPr>
            <a:r>
              <a:rPr lang="en-US" sz="3599">
                <a:solidFill>
                  <a:srgbClr val="000000"/>
                </a:solidFill>
                <a:latin typeface="Poppins"/>
                <a:ea typeface="Poppins"/>
                <a:cs typeface="Poppins"/>
                <a:sym typeface="Poppins"/>
              </a:rPr>
              <a:t>📌 Emails should enable decisions, not delay them.</a:t>
            </a:r>
          </a:p>
        </p:txBody>
      </p:sp>
      <p:sp>
        <p:nvSpPr>
          <p:cNvPr id="4" name="Freeform 4"/>
          <p:cNvSpPr/>
          <p:nvPr/>
        </p:nvSpPr>
        <p:spPr>
          <a:xfrm>
            <a:off x="13679058" y="3623109"/>
            <a:ext cx="2991025" cy="3040783"/>
          </a:xfrm>
          <a:custGeom>
            <a:avLst/>
            <a:gdLst/>
            <a:ahLst/>
            <a:cxnLst/>
            <a:rect l="l" t="t" r="r" b="b"/>
            <a:pathLst>
              <a:path w="2991025" h="3040783">
                <a:moveTo>
                  <a:pt x="0" y="0"/>
                </a:moveTo>
                <a:lnTo>
                  <a:pt x="2991024" y="0"/>
                </a:lnTo>
                <a:lnTo>
                  <a:pt x="2991024" y="3040782"/>
                </a:lnTo>
                <a:lnTo>
                  <a:pt x="0" y="30407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1464688" y="1575848"/>
            <a:ext cx="4819076" cy="727640"/>
          </a:xfrm>
          <a:prstGeom prst="rect">
            <a:avLst/>
          </a:prstGeom>
        </p:spPr>
        <p:txBody>
          <a:bodyPr lIns="0" tIns="0" rIns="0" bIns="0" rtlCol="0" anchor="t">
            <a:spAutoFit/>
          </a:bodyPr>
          <a:lstStyle/>
          <a:p>
            <a:pPr algn="l">
              <a:lnSpc>
                <a:spcPts val="5704"/>
              </a:lnSpc>
            </a:pPr>
            <a:r>
              <a:rPr lang="en-US" sz="3777" b="1">
                <a:solidFill>
                  <a:srgbClr val="000000"/>
                </a:solidFill>
                <a:latin typeface="Poppins Bold"/>
                <a:ea typeface="Poppins Bold"/>
                <a:cs typeface="Poppins Bold"/>
                <a:sym typeface="Poppins Bold"/>
              </a:rPr>
              <a:t>The 3-Email Rule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flipH="1">
            <a:off x="400674" y="2978574"/>
            <a:ext cx="10598501" cy="6300507"/>
          </a:xfrm>
          <a:prstGeom prst="rect">
            <a:avLst/>
          </a:prstGeom>
        </p:spPr>
        <p:txBody>
          <a:bodyPr wrap="square" lIns="0" tIns="0" rIns="0" bIns="0" rtlCol="0" anchor="t">
            <a:spAutoFit/>
          </a:bodyPr>
          <a:lstStyle/>
          <a:p>
            <a:pPr algn="l">
              <a:lnSpc>
                <a:spcPts val="3833"/>
              </a:lnSpc>
            </a:pPr>
            <a:r>
              <a:rPr lang="en-US" sz="2538" b="1">
                <a:solidFill>
                  <a:srgbClr val="000000"/>
                </a:solidFill>
                <a:latin typeface="Poppins Bold"/>
                <a:ea typeface="Poppins Bold"/>
                <a:cs typeface="Poppins Bold"/>
                <a:sym typeface="Poppins Bold"/>
              </a:rPr>
              <a:t>📌 Task 1: Email Thread vs Email Chain</a:t>
            </a:r>
          </a:p>
          <a:p>
            <a:pPr marL="548047" lvl="1" indent="-274023" algn="l">
              <a:lnSpc>
                <a:spcPts val="3833"/>
              </a:lnSpc>
              <a:buFont typeface="Arial"/>
              <a:buChar char="•"/>
            </a:pPr>
            <a:r>
              <a:rPr lang="en-US" sz="2538">
                <a:solidFill>
                  <a:srgbClr val="000000"/>
                </a:solidFill>
                <a:latin typeface="Poppins"/>
                <a:ea typeface="Poppins"/>
                <a:cs typeface="Poppins"/>
                <a:sym typeface="Poppins"/>
              </a:rPr>
              <a:t>Explain the difference between an Email Thread and an Email Chain in 5–6 lines</a:t>
            </a:r>
          </a:p>
          <a:p>
            <a:pPr marL="548047" lvl="1" indent="-274023" algn="l">
              <a:lnSpc>
                <a:spcPts val="3833"/>
              </a:lnSpc>
              <a:buFont typeface="Arial"/>
              <a:buChar char="•"/>
            </a:pPr>
            <a:r>
              <a:rPr lang="en-US" sz="2538">
                <a:solidFill>
                  <a:srgbClr val="000000"/>
                </a:solidFill>
                <a:latin typeface="Poppins"/>
                <a:ea typeface="Poppins"/>
                <a:cs typeface="Poppins"/>
                <a:sym typeface="Poppins"/>
              </a:rPr>
              <a:t>Mention one best practice to avoid email chain confusion</a:t>
            </a:r>
          </a:p>
          <a:p>
            <a:pPr algn="l">
              <a:lnSpc>
                <a:spcPts val="3833"/>
              </a:lnSpc>
            </a:pPr>
            <a:r>
              <a:rPr lang="en-US" sz="2538">
                <a:solidFill>
                  <a:srgbClr val="000000"/>
                </a:solidFill>
                <a:latin typeface="Poppins"/>
                <a:ea typeface="Poppins"/>
                <a:cs typeface="Poppins"/>
                <a:sym typeface="Poppins"/>
              </a:rPr>
              <a:t>📌</a:t>
            </a:r>
            <a:r>
              <a:rPr lang="en-US" sz="2538" b="1">
                <a:solidFill>
                  <a:srgbClr val="000000"/>
                </a:solidFill>
                <a:latin typeface="Poppins Bold"/>
                <a:ea typeface="Poppins Bold"/>
                <a:cs typeface="Poppins Bold"/>
                <a:sym typeface="Poppins Bold"/>
              </a:rPr>
              <a:t> Task 2: Escalation Email</a:t>
            </a:r>
          </a:p>
          <a:p>
            <a:pPr marL="548047" lvl="1" indent="-274023" algn="l">
              <a:lnSpc>
                <a:spcPts val="3833"/>
              </a:lnSpc>
              <a:buFont typeface="Arial"/>
              <a:buChar char="•"/>
            </a:pPr>
            <a:r>
              <a:rPr lang="en-US" sz="2538">
                <a:solidFill>
                  <a:srgbClr val="000000"/>
                </a:solidFill>
                <a:latin typeface="Poppins"/>
                <a:ea typeface="Poppins"/>
                <a:cs typeface="Poppins"/>
                <a:sym typeface="Poppins"/>
              </a:rPr>
              <a:t>Write one escalation email for a work-related issue</a:t>
            </a:r>
          </a:p>
          <a:p>
            <a:pPr marL="548047" lvl="1" indent="-274023" algn="l">
              <a:lnSpc>
                <a:spcPts val="3833"/>
              </a:lnSpc>
              <a:buFont typeface="Arial"/>
              <a:buChar char="•"/>
            </a:pPr>
            <a:r>
              <a:rPr lang="en-US" sz="2538">
                <a:solidFill>
                  <a:srgbClr val="000000"/>
                </a:solidFill>
                <a:latin typeface="Poppins"/>
                <a:ea typeface="Poppins"/>
                <a:cs typeface="Poppins"/>
                <a:sym typeface="Poppins"/>
              </a:rPr>
              <a:t>Include:</a:t>
            </a:r>
          </a:p>
          <a:p>
            <a:pPr marL="1096094" lvl="2" indent="-365365" algn="l">
              <a:lnSpc>
                <a:spcPts val="3833"/>
              </a:lnSpc>
              <a:buFont typeface="Arial"/>
              <a:buChar char="⚬"/>
            </a:pPr>
            <a:r>
              <a:rPr lang="en-US" sz="2538">
                <a:solidFill>
                  <a:srgbClr val="000000"/>
                </a:solidFill>
                <a:latin typeface="Poppins"/>
                <a:ea typeface="Poppins"/>
                <a:cs typeface="Poppins"/>
                <a:sym typeface="Poppins"/>
              </a:rPr>
              <a:t>Clear subject line</a:t>
            </a:r>
          </a:p>
          <a:p>
            <a:pPr marL="1096094" lvl="2" indent="-365365" algn="l">
              <a:lnSpc>
                <a:spcPts val="3833"/>
              </a:lnSpc>
              <a:buFont typeface="Arial"/>
              <a:buChar char="⚬"/>
            </a:pPr>
            <a:r>
              <a:rPr lang="en-US" sz="2538">
                <a:solidFill>
                  <a:srgbClr val="000000"/>
                </a:solidFill>
                <a:latin typeface="Poppins"/>
                <a:ea typeface="Poppins"/>
                <a:cs typeface="Poppins"/>
                <a:sym typeface="Poppins"/>
              </a:rPr>
              <a:t>Brief context</a:t>
            </a:r>
          </a:p>
          <a:p>
            <a:pPr marL="1096094" lvl="2" indent="-365365" algn="l">
              <a:lnSpc>
                <a:spcPts val="3833"/>
              </a:lnSpc>
              <a:buFont typeface="Arial"/>
              <a:buChar char="⚬"/>
            </a:pPr>
            <a:r>
              <a:rPr lang="en-US" sz="2538">
                <a:solidFill>
                  <a:srgbClr val="000000"/>
                </a:solidFill>
                <a:latin typeface="Poppins"/>
                <a:ea typeface="Poppins"/>
                <a:cs typeface="Poppins"/>
                <a:sym typeface="Poppins"/>
              </a:rPr>
              <a:t>Business impact</a:t>
            </a:r>
          </a:p>
          <a:p>
            <a:pPr marL="1096094" lvl="2" indent="-365365" algn="l">
              <a:lnSpc>
                <a:spcPts val="3833"/>
              </a:lnSpc>
              <a:buFont typeface="Arial"/>
              <a:buChar char="⚬"/>
            </a:pPr>
            <a:r>
              <a:rPr lang="en-US" sz="2538">
                <a:solidFill>
                  <a:srgbClr val="000000"/>
                </a:solidFill>
                <a:latin typeface="Poppins"/>
                <a:ea typeface="Poppins"/>
                <a:cs typeface="Poppins"/>
                <a:sym typeface="Poppins"/>
              </a:rPr>
              <a:t>Action taken so far</a:t>
            </a:r>
          </a:p>
          <a:p>
            <a:pPr marL="1096094" lvl="2" indent="-365365" algn="l">
              <a:lnSpc>
                <a:spcPts val="3833"/>
              </a:lnSpc>
              <a:buFont typeface="Arial"/>
              <a:buChar char="⚬"/>
            </a:pPr>
            <a:r>
              <a:rPr lang="en-US" sz="2538">
                <a:solidFill>
                  <a:srgbClr val="000000"/>
                </a:solidFill>
                <a:latin typeface="Poppins"/>
                <a:ea typeface="Poppins"/>
                <a:cs typeface="Poppins"/>
                <a:sym typeface="Poppins"/>
              </a:rPr>
              <a:t>Support or decision required</a:t>
            </a:r>
          </a:p>
          <a:p>
            <a:pPr algn="l">
              <a:lnSpc>
                <a:spcPts val="3833"/>
              </a:lnSpc>
            </a:pPr>
            <a:r>
              <a:rPr lang="en-US" sz="2538">
                <a:solidFill>
                  <a:srgbClr val="000000"/>
                </a:solidFill>
                <a:latin typeface="Poppins"/>
                <a:ea typeface="Poppins"/>
                <a:cs typeface="Poppins"/>
                <a:sym typeface="Poppins"/>
              </a:rPr>
              <a:t>📌 Keep the tone professional and solution-oriented</a:t>
            </a:r>
          </a:p>
        </p:txBody>
      </p:sp>
      <p:sp>
        <p:nvSpPr>
          <p:cNvPr id="4" name="Freeform 4"/>
          <p:cNvSpPr/>
          <p:nvPr/>
        </p:nvSpPr>
        <p:spPr>
          <a:xfrm>
            <a:off x="663305" y="383965"/>
            <a:ext cx="2995998" cy="1730189"/>
          </a:xfrm>
          <a:custGeom>
            <a:avLst/>
            <a:gdLst/>
            <a:ahLst/>
            <a:cxnLst/>
            <a:rect l="l" t="t" r="r" b="b"/>
            <a:pathLst>
              <a:path w="2995998" h="1730189">
                <a:moveTo>
                  <a:pt x="0" y="0"/>
                </a:moveTo>
                <a:lnTo>
                  <a:pt x="2995998" y="0"/>
                </a:lnTo>
                <a:lnTo>
                  <a:pt x="2995998" y="1730189"/>
                </a:lnTo>
                <a:lnTo>
                  <a:pt x="0" y="17301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TextBox 5"/>
          <p:cNvSpPr txBox="1"/>
          <p:nvPr/>
        </p:nvSpPr>
        <p:spPr>
          <a:xfrm>
            <a:off x="3475229" y="1312151"/>
            <a:ext cx="8281792" cy="1451606"/>
          </a:xfrm>
          <a:prstGeom prst="rect">
            <a:avLst/>
          </a:prstGeom>
        </p:spPr>
        <p:txBody>
          <a:bodyPr lIns="0" tIns="0" rIns="0" bIns="0" rtlCol="0" anchor="t">
            <a:spAutoFit/>
          </a:bodyPr>
          <a:lstStyle/>
          <a:p>
            <a:pPr algn="ctr">
              <a:lnSpc>
                <a:spcPts val="5704"/>
              </a:lnSpc>
            </a:pPr>
            <a:r>
              <a:rPr lang="en-US" sz="3777" b="1">
                <a:solidFill>
                  <a:srgbClr val="0C3645"/>
                </a:solidFill>
                <a:latin typeface="Poppins Bold"/>
                <a:ea typeface="Poppins Bold"/>
                <a:cs typeface="Poppins Bold"/>
                <a:sym typeface="Poppins Bold"/>
              </a:rPr>
              <a:t>Assessment : Professional Email Communication</a:t>
            </a:r>
          </a:p>
        </p:txBody>
      </p:sp>
      <p:sp>
        <p:nvSpPr>
          <p:cNvPr id="6" name="TextBox 6"/>
          <p:cNvSpPr txBox="1"/>
          <p:nvPr/>
        </p:nvSpPr>
        <p:spPr>
          <a:xfrm>
            <a:off x="10989635" y="2730330"/>
            <a:ext cx="6904119" cy="4377408"/>
          </a:xfrm>
          <a:prstGeom prst="rect">
            <a:avLst/>
          </a:prstGeom>
        </p:spPr>
        <p:txBody>
          <a:bodyPr lIns="0" tIns="0" rIns="0" bIns="0" rtlCol="0" anchor="t">
            <a:spAutoFit/>
          </a:bodyPr>
          <a:lstStyle/>
          <a:p>
            <a:pPr algn="l">
              <a:lnSpc>
                <a:spcPts val="3833"/>
              </a:lnSpc>
            </a:pPr>
            <a:r>
              <a:rPr lang="en-US" sz="2538" b="1">
                <a:solidFill>
                  <a:srgbClr val="000000"/>
                </a:solidFill>
                <a:latin typeface="Poppins Bold"/>
                <a:ea typeface="Poppins Bold"/>
                <a:cs typeface="Poppins Bold"/>
                <a:sym typeface="Poppins Bold"/>
              </a:rPr>
              <a:t>📌 Task 3: Follow-up &amp; Accountability Email</a:t>
            </a:r>
          </a:p>
          <a:p>
            <a:pPr marL="548046" lvl="1" indent="-274023" algn="l">
              <a:lnSpc>
                <a:spcPts val="3833"/>
              </a:lnSpc>
              <a:buFont typeface="Arial"/>
              <a:buChar char="•"/>
            </a:pPr>
            <a:r>
              <a:rPr lang="en-US" sz="2538">
                <a:solidFill>
                  <a:srgbClr val="000000"/>
                </a:solidFill>
                <a:latin typeface="Poppins"/>
                <a:ea typeface="Poppins"/>
                <a:cs typeface="Poppins"/>
                <a:sym typeface="Poppins"/>
              </a:rPr>
              <a:t>Write one follow-up email for a pending action</a:t>
            </a:r>
          </a:p>
          <a:p>
            <a:pPr marL="548046" lvl="1" indent="-274023" algn="l">
              <a:lnSpc>
                <a:spcPts val="3833"/>
              </a:lnSpc>
              <a:buFont typeface="Arial"/>
              <a:buChar char="•"/>
            </a:pPr>
            <a:r>
              <a:rPr lang="en-US" sz="2538">
                <a:solidFill>
                  <a:srgbClr val="000000"/>
                </a:solidFill>
                <a:latin typeface="Poppins"/>
                <a:ea typeface="Poppins"/>
                <a:cs typeface="Poppins"/>
                <a:sym typeface="Poppins"/>
              </a:rPr>
              <a:t>Clearly mention:</a:t>
            </a:r>
          </a:p>
          <a:p>
            <a:pPr marL="1096093" lvl="2" indent="-365364" algn="l">
              <a:lnSpc>
                <a:spcPts val="3833"/>
              </a:lnSpc>
              <a:buFont typeface="Arial"/>
              <a:buChar char="⚬"/>
            </a:pPr>
            <a:r>
              <a:rPr lang="en-US" sz="2538">
                <a:solidFill>
                  <a:srgbClr val="000000"/>
                </a:solidFill>
                <a:latin typeface="Poppins"/>
                <a:ea typeface="Poppins"/>
                <a:cs typeface="Poppins"/>
                <a:sym typeface="Poppins"/>
              </a:rPr>
              <a:t>Previous reference</a:t>
            </a:r>
          </a:p>
          <a:p>
            <a:pPr marL="1096093" lvl="2" indent="-365364" algn="l">
              <a:lnSpc>
                <a:spcPts val="3833"/>
              </a:lnSpc>
              <a:buFont typeface="Arial"/>
              <a:buChar char="⚬"/>
            </a:pPr>
            <a:r>
              <a:rPr lang="en-US" sz="2538">
                <a:solidFill>
                  <a:srgbClr val="000000"/>
                </a:solidFill>
                <a:latin typeface="Poppins"/>
                <a:ea typeface="Poppins"/>
                <a:cs typeface="Poppins"/>
                <a:sym typeface="Poppins"/>
              </a:rPr>
              <a:t>Owner of the action</a:t>
            </a:r>
          </a:p>
          <a:p>
            <a:pPr marL="1096093" lvl="2" indent="-365364" algn="l">
              <a:lnSpc>
                <a:spcPts val="3833"/>
              </a:lnSpc>
              <a:buFont typeface="Arial"/>
              <a:buChar char="⚬"/>
            </a:pPr>
            <a:r>
              <a:rPr lang="en-US" sz="2538">
                <a:solidFill>
                  <a:srgbClr val="000000"/>
                </a:solidFill>
                <a:latin typeface="Poppins"/>
                <a:ea typeface="Poppins"/>
                <a:cs typeface="Poppins"/>
                <a:sym typeface="Poppins"/>
              </a:rPr>
              <a:t>Timeline or deadline</a:t>
            </a:r>
          </a:p>
          <a:p>
            <a:pPr marL="1096093" lvl="2" indent="-365364" algn="l">
              <a:lnSpc>
                <a:spcPts val="3833"/>
              </a:lnSpc>
              <a:buFont typeface="Arial"/>
              <a:buChar char="⚬"/>
            </a:pPr>
            <a:r>
              <a:rPr lang="en-US" sz="2538">
                <a:solidFill>
                  <a:srgbClr val="000000"/>
                </a:solidFill>
                <a:latin typeface="Poppins"/>
                <a:ea typeface="Poppins"/>
                <a:cs typeface="Poppins"/>
                <a:sym typeface="Poppins"/>
              </a:rPr>
              <a:t>Next steps</a:t>
            </a:r>
          </a:p>
        </p:txBody>
      </p:sp>
      <p:sp>
        <p:nvSpPr>
          <p:cNvPr id="7" name="TextBox 7"/>
          <p:cNvSpPr txBox="1"/>
          <p:nvPr/>
        </p:nvSpPr>
        <p:spPr>
          <a:xfrm>
            <a:off x="10989635" y="7343193"/>
            <a:ext cx="6904119" cy="2434043"/>
          </a:xfrm>
          <a:prstGeom prst="rect">
            <a:avLst/>
          </a:prstGeom>
        </p:spPr>
        <p:txBody>
          <a:bodyPr lIns="0" tIns="0" rIns="0" bIns="0" rtlCol="0" anchor="t">
            <a:spAutoFit/>
          </a:bodyPr>
          <a:lstStyle/>
          <a:p>
            <a:pPr algn="l">
              <a:lnSpc>
                <a:spcPts val="3833"/>
              </a:lnSpc>
            </a:pPr>
            <a:r>
              <a:rPr lang="en-US" sz="2538" b="1">
                <a:solidFill>
                  <a:srgbClr val="000000"/>
                </a:solidFill>
                <a:latin typeface="Poppins Bold"/>
                <a:ea typeface="Poppins Bold"/>
                <a:cs typeface="Poppins Bold"/>
                <a:sym typeface="Poppins Bold"/>
              </a:rPr>
              <a:t>📄 Submission Format</a:t>
            </a:r>
          </a:p>
          <a:p>
            <a:pPr marL="548046" lvl="1" indent="-274023" algn="l">
              <a:lnSpc>
                <a:spcPts val="3833"/>
              </a:lnSpc>
              <a:buFont typeface="Arial"/>
              <a:buChar char="•"/>
            </a:pPr>
            <a:r>
              <a:rPr lang="en-US" sz="2538">
                <a:solidFill>
                  <a:srgbClr val="000000"/>
                </a:solidFill>
                <a:latin typeface="Poppins"/>
                <a:ea typeface="Poppins"/>
                <a:cs typeface="Poppins"/>
                <a:sym typeface="Poppins"/>
              </a:rPr>
              <a:t>Submit all three tasks in one Word document</a:t>
            </a:r>
          </a:p>
          <a:p>
            <a:pPr marL="548046" lvl="1" indent="-274023" algn="l">
              <a:lnSpc>
                <a:spcPts val="3833"/>
              </a:lnSpc>
              <a:buFont typeface="Arial"/>
              <a:buChar char="•"/>
            </a:pPr>
            <a:r>
              <a:rPr lang="en-US" sz="2538">
                <a:solidFill>
                  <a:srgbClr val="000000"/>
                </a:solidFill>
                <a:latin typeface="Poppins"/>
                <a:ea typeface="Poppins"/>
                <a:cs typeface="Poppins"/>
                <a:sym typeface="Poppins"/>
              </a:rPr>
              <a:t>Use clear headings for each task</a:t>
            </a:r>
          </a:p>
          <a:p>
            <a:pPr marL="548046" lvl="1" indent="-274023" algn="l">
              <a:lnSpc>
                <a:spcPts val="3833"/>
              </a:lnSpc>
              <a:buFont typeface="Arial"/>
              <a:buChar char="•"/>
            </a:pPr>
            <a:r>
              <a:rPr lang="en-US" sz="2538">
                <a:solidFill>
                  <a:srgbClr val="000000"/>
                </a:solidFill>
                <a:latin typeface="Poppins"/>
                <a:ea typeface="Poppins"/>
                <a:cs typeface="Poppins"/>
                <a:sym typeface="Poppins"/>
              </a:rPr>
              <a:t>Use real or realistic scenarios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Freeform 3"/>
          <p:cNvSpPr/>
          <p:nvPr/>
        </p:nvSpPr>
        <p:spPr>
          <a:xfrm>
            <a:off x="12432631" y="3481982"/>
            <a:ext cx="4311021" cy="3788309"/>
          </a:xfrm>
          <a:custGeom>
            <a:avLst/>
            <a:gdLst/>
            <a:ahLst/>
            <a:cxnLst/>
            <a:rect l="l" t="t" r="r" b="b"/>
            <a:pathLst>
              <a:path w="4311021" h="3788309">
                <a:moveTo>
                  <a:pt x="0" y="0"/>
                </a:moveTo>
                <a:lnTo>
                  <a:pt x="4311020" y="0"/>
                </a:lnTo>
                <a:lnTo>
                  <a:pt x="4311020" y="3788310"/>
                </a:lnTo>
                <a:lnTo>
                  <a:pt x="0" y="378831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2561312"/>
            <a:ext cx="10888282" cy="5868129"/>
          </a:xfrm>
          <a:prstGeom prst="rect">
            <a:avLst/>
          </a:prstGeom>
        </p:spPr>
        <p:txBody>
          <a:bodyPr lIns="0" tIns="0" rIns="0" bIns="0" rtlCol="0" anchor="t">
            <a:spAutoFit/>
          </a:bodyPr>
          <a:lstStyle/>
          <a:p>
            <a:pPr algn="l">
              <a:lnSpc>
                <a:spcPts val="5817"/>
              </a:lnSpc>
            </a:pPr>
            <a:r>
              <a:rPr lang="en-US" sz="3852" b="1">
                <a:solidFill>
                  <a:srgbClr val="000000"/>
                </a:solidFill>
                <a:latin typeface="Poppins Bold"/>
                <a:ea typeface="Poppins Bold"/>
                <a:cs typeface="Poppins Bold"/>
                <a:sym typeface="Poppins Bold"/>
              </a:rPr>
              <a:t>Let’s Hear from Everyone - 1 min (per head)</a:t>
            </a:r>
          </a:p>
          <a:p>
            <a:pPr algn="l">
              <a:lnSpc>
                <a:spcPts val="5817"/>
              </a:lnSpc>
            </a:pPr>
            <a:r>
              <a:rPr lang="en-US" sz="3852">
                <a:solidFill>
                  <a:srgbClr val="000000"/>
                </a:solidFill>
                <a:latin typeface="Poppins"/>
                <a:ea typeface="Poppins"/>
                <a:cs typeface="Poppins"/>
                <a:sym typeface="Poppins"/>
              </a:rPr>
              <a:t>Each participant will briefly share:</a:t>
            </a:r>
          </a:p>
          <a:p>
            <a:pPr marL="831746" lvl="1" indent="-415873" algn="l">
              <a:lnSpc>
                <a:spcPts val="5817"/>
              </a:lnSpc>
              <a:buFont typeface="Arial"/>
              <a:buChar char="•"/>
            </a:pPr>
            <a:r>
              <a:rPr lang="en-US" sz="3852" b="1">
                <a:solidFill>
                  <a:srgbClr val="000000"/>
                </a:solidFill>
                <a:latin typeface="Poppins Bold"/>
                <a:ea typeface="Poppins Bold"/>
                <a:cs typeface="Poppins Bold"/>
                <a:sym typeface="Poppins Bold"/>
              </a:rPr>
              <a:t>1 key learning</a:t>
            </a:r>
            <a:r>
              <a:rPr lang="en-US" sz="3852">
                <a:solidFill>
                  <a:srgbClr val="000000"/>
                </a:solidFill>
                <a:latin typeface="Poppins"/>
                <a:ea typeface="Poppins"/>
                <a:cs typeface="Poppins"/>
                <a:sym typeface="Poppins"/>
              </a:rPr>
              <a:t> from today’s session</a:t>
            </a:r>
          </a:p>
          <a:p>
            <a:pPr marL="831746" lvl="1" indent="-415873" algn="l">
              <a:lnSpc>
                <a:spcPts val="5817"/>
              </a:lnSpc>
              <a:buFont typeface="Arial"/>
              <a:buChar char="•"/>
            </a:pPr>
            <a:r>
              <a:rPr lang="en-US" sz="3852" b="1">
                <a:solidFill>
                  <a:srgbClr val="000000"/>
                </a:solidFill>
                <a:latin typeface="Poppins Bold"/>
                <a:ea typeface="Poppins Bold"/>
                <a:cs typeface="Poppins Bold"/>
                <a:sym typeface="Poppins Bold"/>
              </a:rPr>
              <a:t>1 key learning</a:t>
            </a:r>
            <a:r>
              <a:rPr lang="en-US" sz="3852">
                <a:solidFill>
                  <a:srgbClr val="000000"/>
                </a:solidFill>
                <a:latin typeface="Poppins"/>
                <a:ea typeface="Poppins"/>
                <a:cs typeface="Poppins"/>
                <a:sym typeface="Poppins"/>
              </a:rPr>
              <a:t> from yesterday’s assignment</a:t>
            </a:r>
          </a:p>
          <a:p>
            <a:pPr marL="831746" lvl="1" indent="-415873" algn="l">
              <a:lnSpc>
                <a:spcPts val="5817"/>
              </a:lnSpc>
              <a:buFont typeface="Arial"/>
              <a:buChar char="•"/>
            </a:pPr>
            <a:r>
              <a:rPr lang="en-US" sz="3852" b="1">
                <a:solidFill>
                  <a:srgbClr val="000000"/>
                </a:solidFill>
                <a:latin typeface="Poppins Bold"/>
                <a:ea typeface="Poppins Bold"/>
                <a:cs typeface="Poppins Bold"/>
                <a:sym typeface="Poppins Bold"/>
              </a:rPr>
              <a:t>1 challenge </a:t>
            </a:r>
            <a:r>
              <a:rPr lang="en-US" sz="3852">
                <a:solidFill>
                  <a:srgbClr val="000000"/>
                </a:solidFill>
                <a:latin typeface="Poppins"/>
                <a:ea typeface="Poppins"/>
                <a:cs typeface="Poppins"/>
                <a:sym typeface="Poppins"/>
              </a:rPr>
              <a:t>faced</a:t>
            </a:r>
          </a:p>
          <a:p>
            <a:pPr marL="831746" lvl="1" indent="-415873" algn="l">
              <a:lnSpc>
                <a:spcPts val="5817"/>
              </a:lnSpc>
              <a:buFont typeface="Arial"/>
              <a:buChar char="•"/>
            </a:pPr>
            <a:r>
              <a:rPr lang="en-US" sz="3852" b="1">
                <a:solidFill>
                  <a:srgbClr val="000000"/>
                </a:solidFill>
                <a:latin typeface="Poppins Bold"/>
                <a:ea typeface="Poppins Bold"/>
                <a:cs typeface="Poppins Bold"/>
                <a:sym typeface="Poppins Bold"/>
              </a:rPr>
              <a:t>1 improvement </a:t>
            </a:r>
            <a:r>
              <a:rPr lang="en-US" sz="3852">
                <a:solidFill>
                  <a:srgbClr val="000000"/>
                </a:solidFill>
                <a:latin typeface="Poppins"/>
                <a:ea typeface="Poppins"/>
                <a:cs typeface="Poppins"/>
                <a:sym typeface="Poppins"/>
              </a:rPr>
              <a:t>or action you will apply next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916982" y="738837"/>
            <a:ext cx="5342318" cy="1564651"/>
          </a:xfrm>
          <a:custGeom>
            <a:avLst/>
            <a:gdLst/>
            <a:ahLst/>
            <a:cxnLst/>
            <a:rect l="l" t="t" r="r" b="b"/>
            <a:pathLst>
              <a:path w="5342318" h="1564651">
                <a:moveTo>
                  <a:pt x="0" y="0"/>
                </a:moveTo>
                <a:lnTo>
                  <a:pt x="5342318" y="0"/>
                </a:lnTo>
                <a:lnTo>
                  <a:pt x="5342318" y="1564651"/>
                </a:lnTo>
                <a:lnTo>
                  <a:pt x="0" y="1564651"/>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873589"/>
            <a:ext cx="9805980" cy="8539821"/>
          </a:xfrm>
          <a:prstGeom prst="rect">
            <a:avLst/>
          </a:prstGeom>
        </p:spPr>
        <p:txBody>
          <a:bodyPr lIns="0" tIns="0" rIns="0" bIns="0" rtlCol="0" anchor="t">
            <a:spAutoFit/>
          </a:bodyPr>
          <a:lstStyle/>
          <a:p>
            <a:pPr algn="l">
              <a:lnSpc>
                <a:spcPts val="5238"/>
              </a:lnSpc>
            </a:pPr>
            <a:r>
              <a:rPr lang="en-US" sz="3469" b="1">
                <a:solidFill>
                  <a:srgbClr val="000000"/>
                </a:solidFill>
                <a:latin typeface="Poppins Bold"/>
                <a:ea typeface="Poppins Bold"/>
                <a:cs typeface="Poppins Bold"/>
                <a:sym typeface="Poppins Bold"/>
              </a:rPr>
              <a:t>🙏 Thank You</a:t>
            </a:r>
          </a:p>
          <a:p>
            <a:pPr algn="l">
              <a:lnSpc>
                <a:spcPts val="5238"/>
              </a:lnSpc>
            </a:pPr>
            <a:r>
              <a:rPr lang="en-US" sz="3469">
                <a:solidFill>
                  <a:srgbClr val="000000"/>
                </a:solidFill>
                <a:latin typeface="Poppins"/>
                <a:ea typeface="Poppins"/>
                <a:cs typeface="Poppins"/>
                <a:sym typeface="Poppins"/>
              </a:rPr>
              <a:t>Great discussion today!</a:t>
            </a:r>
          </a:p>
          <a:p>
            <a:pPr algn="l">
              <a:lnSpc>
                <a:spcPts val="5238"/>
              </a:lnSpc>
            </a:pPr>
            <a:endParaRPr lang="en-US" sz="3469">
              <a:solidFill>
                <a:srgbClr val="000000"/>
              </a:solidFill>
              <a:latin typeface="Poppins"/>
              <a:ea typeface="Poppins"/>
              <a:cs typeface="Poppins"/>
              <a:sym typeface="Poppins"/>
            </a:endParaRPr>
          </a:p>
          <a:p>
            <a:pPr algn="l">
              <a:lnSpc>
                <a:spcPts val="5238"/>
              </a:lnSpc>
            </a:pPr>
            <a:r>
              <a:rPr lang="en-US" sz="3469">
                <a:solidFill>
                  <a:srgbClr val="000000"/>
                </a:solidFill>
                <a:latin typeface="Poppins"/>
                <a:ea typeface="Poppins"/>
                <a:cs typeface="Poppins"/>
                <a:sym typeface="Poppins"/>
              </a:rPr>
              <a:t> Your participation and reflections added real value to the session.</a:t>
            </a:r>
          </a:p>
          <a:p>
            <a:pPr algn="l">
              <a:lnSpc>
                <a:spcPts val="5238"/>
              </a:lnSpc>
            </a:pPr>
            <a:endParaRPr lang="en-US" sz="3469">
              <a:solidFill>
                <a:srgbClr val="000000"/>
              </a:solidFill>
              <a:latin typeface="Poppins"/>
              <a:ea typeface="Poppins"/>
              <a:cs typeface="Poppins"/>
              <a:sym typeface="Poppins"/>
            </a:endParaRPr>
          </a:p>
          <a:p>
            <a:pPr algn="l">
              <a:lnSpc>
                <a:spcPts val="5238"/>
              </a:lnSpc>
            </a:pPr>
            <a:r>
              <a:rPr lang="en-US" sz="3469">
                <a:solidFill>
                  <a:srgbClr val="000000"/>
                </a:solidFill>
                <a:latin typeface="Poppins"/>
                <a:ea typeface="Poppins"/>
                <a:cs typeface="Poppins"/>
                <a:sym typeface="Poppins"/>
              </a:rPr>
              <a:t>🔁 Keep applying today’s learnings in your daily communication and documentation.</a:t>
            </a:r>
          </a:p>
          <a:p>
            <a:pPr algn="l">
              <a:lnSpc>
                <a:spcPts val="5238"/>
              </a:lnSpc>
            </a:pPr>
            <a:endParaRPr lang="en-US" sz="3469">
              <a:solidFill>
                <a:srgbClr val="000000"/>
              </a:solidFill>
              <a:latin typeface="Poppins"/>
              <a:ea typeface="Poppins"/>
              <a:cs typeface="Poppins"/>
              <a:sym typeface="Poppins"/>
            </a:endParaRPr>
          </a:p>
          <a:p>
            <a:pPr algn="l">
              <a:lnSpc>
                <a:spcPts val="5238"/>
              </a:lnSpc>
            </a:pPr>
            <a:r>
              <a:rPr lang="en-US" sz="3469">
                <a:solidFill>
                  <a:srgbClr val="000000"/>
                </a:solidFill>
                <a:latin typeface="Poppins"/>
                <a:ea typeface="Poppins"/>
                <a:cs typeface="Poppins"/>
                <a:sym typeface="Poppins"/>
              </a:rPr>
              <a:t>📅 Tomorrow’s Focus:</a:t>
            </a:r>
          </a:p>
          <a:p>
            <a:pPr algn="l">
              <a:lnSpc>
                <a:spcPts val="5238"/>
              </a:lnSpc>
            </a:pPr>
            <a:r>
              <a:rPr lang="en-US" sz="3469">
                <a:solidFill>
                  <a:srgbClr val="000000"/>
                </a:solidFill>
                <a:latin typeface="Poppins"/>
                <a:ea typeface="Poppins"/>
                <a:cs typeface="Poppins"/>
                <a:sym typeface="Poppins"/>
              </a:rPr>
              <a:t>Email Portfolio Review &amp; Weekly Evaluation</a:t>
            </a:r>
          </a:p>
          <a:p>
            <a:pPr algn="l">
              <a:lnSpc>
                <a:spcPts val="5238"/>
              </a:lnSpc>
            </a:pPr>
            <a:endParaRPr lang="en-US" sz="3469">
              <a:solidFill>
                <a:srgbClr val="000000"/>
              </a:solidFill>
              <a:latin typeface="Poppins"/>
              <a:ea typeface="Poppins"/>
              <a:cs typeface="Poppins"/>
              <a:sym typeface="Poppins"/>
            </a:endParaRPr>
          </a:p>
          <a:p>
            <a:pPr algn="l">
              <a:lnSpc>
                <a:spcPts val="5238"/>
              </a:lnSpc>
            </a:pPr>
            <a:r>
              <a:rPr lang="en-US" sz="3469">
                <a:solidFill>
                  <a:srgbClr val="000000"/>
                </a:solidFill>
                <a:latin typeface="Poppins"/>
                <a:ea typeface="Poppins"/>
                <a:cs typeface="Poppins"/>
                <a:sym typeface="Poppins"/>
              </a:rPr>
              <a:t>See you tomorrow. Keep growing! 🚀</a:t>
            </a:r>
          </a:p>
        </p:txBody>
      </p:sp>
      <p:sp>
        <p:nvSpPr>
          <p:cNvPr id="4" name="Freeform 4"/>
          <p:cNvSpPr/>
          <p:nvPr/>
        </p:nvSpPr>
        <p:spPr>
          <a:xfrm>
            <a:off x="13273977" y="3433213"/>
            <a:ext cx="2628328" cy="4114800"/>
          </a:xfrm>
          <a:custGeom>
            <a:avLst/>
            <a:gdLst/>
            <a:ahLst/>
            <a:cxnLst/>
            <a:rect l="l" t="t" r="r" b="b"/>
            <a:pathLst>
              <a:path w="2628328" h="4114800">
                <a:moveTo>
                  <a:pt x="0" y="0"/>
                </a:moveTo>
                <a:lnTo>
                  <a:pt x="2628328" y="0"/>
                </a:lnTo>
                <a:lnTo>
                  <a:pt x="26283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10, 11 and 12  Email Writing Topics</dc:title>
  <cp:revision>1</cp:revision>
  <dcterms:created xsi:type="dcterms:W3CDTF">2006-08-16T00:00:00Z</dcterms:created>
  <dcterms:modified xsi:type="dcterms:W3CDTF">2025-12-27T12:49:34Z</dcterms:modified>
  <dc:identifier>DAG8l-uiVRQ</dc:identifier>
</cp:coreProperties>
</file>